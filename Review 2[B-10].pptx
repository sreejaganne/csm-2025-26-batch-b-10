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8" r:id="rId3"/>
    <p:sldId id="257" r:id="rId4"/>
    <p:sldId id="259" r:id="rId5"/>
    <p:sldId id="276" r:id="rId6"/>
    <p:sldId id="267" r:id="rId7"/>
    <p:sldId id="260" r:id="rId8"/>
    <p:sldId id="269" r:id="rId9"/>
    <p:sldId id="261" r:id="rId10"/>
    <p:sldId id="270" r:id="rId11"/>
    <p:sldId id="275" r:id="rId12"/>
    <p:sldId id="271" r:id="rId13"/>
    <p:sldId id="274" r:id="rId14"/>
    <p:sldId id="277" r:id="rId15"/>
    <p:sldId id="278" r:id="rId16"/>
    <p:sldId id="279" r:id="rId17"/>
    <p:sldId id="281" r:id="rId18"/>
    <p:sldId id="282" r:id="rId19"/>
    <p:sldId id="283" r:id="rId20"/>
    <p:sldId id="262" r:id="rId21"/>
    <p:sldId id="263" r:id="rId22"/>
    <p:sldId id="264" r:id="rId23"/>
    <p:sldId id="265" r:id="rId24"/>
  </p:sldIdLst>
  <p:sldSz cx="12192000" cy="6858000"/>
  <p:notesSz cx="12192000" cy="6858000"/>
  <p:defaultTextStyle>
    <a:defPPr>
      <a:defRPr kern="0"/>
    </a:defPPr>
  </p:defaultTextStyle>
  <p:extLst>
    <p:ext uri="{521415D9-36F7-43E2-AB2F-B90AF26B5E84}">
      <p14:sectionLst xmlns:p14="http://schemas.microsoft.com/office/powerpoint/2010/main" xmlns="">
        <p14:section name="Default Section" id="{A289E9F3-74E8-4CB1-A7E3-D4DEAB46E5B2}">
          <p14:sldIdLst>
            <p14:sldId id="256"/>
            <p14:sldId id="258"/>
            <p14:sldId id="257"/>
            <p14:sldId id="259"/>
            <p14:sldId id="276"/>
            <p14:sldId id="267"/>
            <p14:sldId id="260"/>
            <p14:sldId id="269"/>
            <p14:sldId id="261"/>
            <p14:sldId id="270"/>
            <p14:sldId id="275"/>
            <p14:sldId id="271"/>
            <p14:sldId id="274"/>
            <p14:sldId id="277"/>
            <p14:sldId id="278"/>
            <p14:sldId id="279"/>
            <p14:sldId id="281"/>
            <p14:sldId id="282"/>
            <p14:sldId id="262"/>
            <p14:sldId id="263"/>
            <p14:sldId id="264"/>
            <p14:sldId id="265"/>
          </p14:sldIdLst>
        </p14:section>
        <p14:section name="Untitled Section" id="{C6B00087-380B-4DEF-BDE3-E525EFBAC2FB}">
          <p14:sldIdLst/>
        </p14:section>
      </p14:sectionLst>
    </p:ex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4F81BD"/>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6201C3-A511-4166-A5EA-6D28C024D7B6}" v="46" dt="2026-01-30T03:22:24.00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5653" autoAdjust="0"/>
    <p:restoredTop sz="88604" autoAdjust="0"/>
  </p:normalViewPr>
  <p:slideViewPr>
    <p:cSldViewPr>
      <p:cViewPr varScale="1">
        <p:scale>
          <a:sx n="60" d="100"/>
          <a:sy n="60" d="100"/>
        </p:scale>
        <p:origin x="-582" y="-96"/>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E791910-4FED-4A69-9027-872062396EBD}" type="datetimeFigureOut">
              <a:rPr lang="en-IN" smtClean="0"/>
              <a:pPr/>
              <a:t>30-01-2026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23472F7-00EC-40F3-A111-228D446E4BD5}" type="slidenum">
              <a:rPr lang="en-IN" smtClean="0"/>
              <a:pPr/>
              <a:t>‹#›</a:t>
            </a:fld>
            <a:endParaRPr lang="en-IN"/>
          </a:p>
        </p:txBody>
      </p:sp>
    </p:spTree>
    <p:extLst>
      <p:ext uri="{BB962C8B-B14F-4D97-AF65-F5344CB8AC3E}">
        <p14:creationId xmlns:p14="http://schemas.microsoft.com/office/powerpoint/2010/main" xmlns="" val="1855936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2</a:t>
            </a:fld>
            <a:endParaRPr lang="en-IN"/>
          </a:p>
        </p:txBody>
      </p:sp>
    </p:spTree>
    <p:extLst>
      <p:ext uri="{BB962C8B-B14F-4D97-AF65-F5344CB8AC3E}">
        <p14:creationId xmlns:p14="http://schemas.microsoft.com/office/powerpoint/2010/main" xmlns="" val="292934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3</a:t>
            </a:fld>
            <a:endParaRPr lang="en-IN"/>
          </a:p>
        </p:txBody>
      </p:sp>
    </p:spTree>
    <p:extLst>
      <p:ext uri="{BB962C8B-B14F-4D97-AF65-F5344CB8AC3E}">
        <p14:creationId xmlns:p14="http://schemas.microsoft.com/office/powerpoint/2010/main" xmlns="" val="1924932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58D635-A96C-BAE6-CE74-26160F097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9ECE9739-2EB2-B507-39FF-9609A659561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C16A283D-1F89-3B3D-18FE-DA3228D616E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F6C3B33B-8296-1550-FF38-02DB2D092164}"/>
              </a:ext>
            </a:extLst>
          </p:cNvPr>
          <p:cNvSpPr>
            <a:spLocks noGrp="1"/>
          </p:cNvSpPr>
          <p:nvPr>
            <p:ph type="sldNum" sz="quarter" idx="5"/>
          </p:nvPr>
        </p:nvSpPr>
        <p:spPr/>
        <p:txBody>
          <a:bodyPr/>
          <a:lstStyle/>
          <a:p>
            <a:fld id="{623472F7-00EC-40F3-A111-228D446E4BD5}" type="slidenum">
              <a:rPr lang="en-IN" smtClean="0"/>
              <a:pPr/>
              <a:t>6</a:t>
            </a:fld>
            <a:endParaRPr lang="en-IN"/>
          </a:p>
        </p:txBody>
      </p:sp>
    </p:spTree>
    <p:extLst>
      <p:ext uri="{BB962C8B-B14F-4D97-AF65-F5344CB8AC3E}">
        <p14:creationId xmlns:p14="http://schemas.microsoft.com/office/powerpoint/2010/main" xmlns="" val="1120643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7</a:t>
            </a:fld>
            <a:endParaRPr lang="en-IN"/>
          </a:p>
        </p:txBody>
      </p:sp>
    </p:spTree>
    <p:extLst>
      <p:ext uri="{BB962C8B-B14F-4D97-AF65-F5344CB8AC3E}">
        <p14:creationId xmlns:p14="http://schemas.microsoft.com/office/powerpoint/2010/main" xmlns="" val="2350675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694E565-AD43-1278-9517-8C0476160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FE76C30B-5F2F-95B2-DE81-F3CE232EE64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83524EDD-B1C0-DA73-2CFA-E3E9BC8241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6A5B7884-73C6-05E5-1212-9B18803104F6}"/>
              </a:ext>
            </a:extLst>
          </p:cNvPr>
          <p:cNvSpPr>
            <a:spLocks noGrp="1"/>
          </p:cNvSpPr>
          <p:nvPr>
            <p:ph type="sldNum" sz="quarter" idx="5"/>
          </p:nvPr>
        </p:nvSpPr>
        <p:spPr/>
        <p:txBody>
          <a:bodyPr/>
          <a:lstStyle/>
          <a:p>
            <a:fld id="{623472F7-00EC-40F3-A111-228D446E4BD5}" type="slidenum">
              <a:rPr lang="en-IN" smtClean="0"/>
              <a:pPr/>
              <a:t>8</a:t>
            </a:fld>
            <a:endParaRPr lang="en-IN"/>
          </a:p>
        </p:txBody>
      </p:sp>
    </p:spTree>
    <p:extLst>
      <p:ext uri="{BB962C8B-B14F-4D97-AF65-F5344CB8AC3E}">
        <p14:creationId xmlns:p14="http://schemas.microsoft.com/office/powerpoint/2010/main" xmlns="" val="2048284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9</a:t>
            </a:fld>
            <a:endParaRPr lang="en-IN"/>
          </a:p>
        </p:txBody>
      </p:sp>
    </p:spTree>
    <p:extLst>
      <p:ext uri="{BB962C8B-B14F-4D97-AF65-F5344CB8AC3E}">
        <p14:creationId xmlns:p14="http://schemas.microsoft.com/office/powerpoint/2010/main" xmlns="" val="3112281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F895C7D-8089-3950-CC57-8FD06EBB1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950D2808-40BE-889D-B39E-741353B2EEC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698C2AE4-78B9-072F-68D1-34E31FEDEB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2F0DE719-3D56-9CB5-3F3E-360884A1B0A4}"/>
              </a:ext>
            </a:extLst>
          </p:cNvPr>
          <p:cNvSpPr>
            <a:spLocks noGrp="1"/>
          </p:cNvSpPr>
          <p:nvPr>
            <p:ph type="sldNum" sz="quarter" idx="5"/>
          </p:nvPr>
        </p:nvSpPr>
        <p:spPr/>
        <p:txBody>
          <a:bodyPr/>
          <a:lstStyle/>
          <a:p>
            <a:fld id="{623472F7-00EC-40F3-A111-228D446E4BD5}" type="slidenum">
              <a:rPr lang="en-IN" smtClean="0"/>
              <a:pPr/>
              <a:t>10</a:t>
            </a:fld>
            <a:endParaRPr lang="en-IN"/>
          </a:p>
        </p:txBody>
      </p:sp>
    </p:spTree>
    <p:extLst>
      <p:ext uri="{BB962C8B-B14F-4D97-AF65-F5344CB8AC3E}">
        <p14:creationId xmlns:p14="http://schemas.microsoft.com/office/powerpoint/2010/main" xmlns="" val="2499860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E39DB46-5517-9347-2D0C-9C71009F1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BA89987A-3215-97D9-6A91-2BE1C14FDEA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C2C99CED-0AA4-0527-03BC-277722CC20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373DBBC1-0BEC-D5EB-7858-514DD2384F96}"/>
              </a:ext>
            </a:extLst>
          </p:cNvPr>
          <p:cNvSpPr>
            <a:spLocks noGrp="1"/>
          </p:cNvSpPr>
          <p:nvPr>
            <p:ph type="sldNum" sz="quarter" idx="5"/>
          </p:nvPr>
        </p:nvSpPr>
        <p:spPr/>
        <p:txBody>
          <a:bodyPr/>
          <a:lstStyle/>
          <a:p>
            <a:fld id="{623472F7-00EC-40F3-A111-228D446E4BD5}" type="slidenum">
              <a:rPr lang="en-IN" smtClean="0"/>
              <a:pPr/>
              <a:t>11</a:t>
            </a:fld>
            <a:endParaRPr lang="en-IN"/>
          </a:p>
        </p:txBody>
      </p:sp>
    </p:spTree>
    <p:extLst>
      <p:ext uri="{BB962C8B-B14F-4D97-AF65-F5344CB8AC3E}">
        <p14:creationId xmlns:p14="http://schemas.microsoft.com/office/powerpoint/2010/main" xmlns="" val="2175133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3C3BBDE-145B-051A-5C31-6289C7FE8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298973A6-1F41-08CD-EB40-1F38002B97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156886FC-4EB9-C83B-7A2E-917EE63499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C97FAEC8-30ED-53D4-C23D-5EFAF7CE6EB4}"/>
              </a:ext>
            </a:extLst>
          </p:cNvPr>
          <p:cNvSpPr>
            <a:spLocks noGrp="1"/>
          </p:cNvSpPr>
          <p:nvPr>
            <p:ph type="sldNum" sz="quarter" idx="5"/>
          </p:nvPr>
        </p:nvSpPr>
        <p:spPr/>
        <p:txBody>
          <a:bodyPr/>
          <a:lstStyle/>
          <a:p>
            <a:fld id="{623472F7-00EC-40F3-A111-228D446E4BD5}" type="slidenum">
              <a:rPr lang="en-IN" smtClean="0"/>
              <a:pPr/>
              <a:t>12</a:t>
            </a:fld>
            <a:endParaRPr lang="en-IN"/>
          </a:p>
        </p:txBody>
      </p:sp>
    </p:spTree>
    <p:extLst>
      <p:ext uri="{BB962C8B-B14F-4D97-AF65-F5344CB8AC3E}">
        <p14:creationId xmlns:p14="http://schemas.microsoft.com/office/powerpoint/2010/main" xmlns="" val="988091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3C3BBDE-145B-051A-5C31-6289C7FE8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298973A6-1F41-08CD-EB40-1F38002B97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156886FC-4EB9-C83B-7A2E-917EE63499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C97FAEC8-30ED-53D4-C23D-5EFAF7CE6EB4}"/>
              </a:ext>
            </a:extLst>
          </p:cNvPr>
          <p:cNvSpPr>
            <a:spLocks noGrp="1"/>
          </p:cNvSpPr>
          <p:nvPr>
            <p:ph type="sldNum" sz="quarter" idx="5"/>
          </p:nvPr>
        </p:nvSpPr>
        <p:spPr/>
        <p:txBody>
          <a:bodyPr/>
          <a:lstStyle/>
          <a:p>
            <a:fld id="{623472F7-00EC-40F3-A111-228D446E4BD5}" type="slidenum">
              <a:rPr lang="en-IN" smtClean="0"/>
              <a:pPr/>
              <a:t>13</a:t>
            </a:fld>
            <a:endParaRPr lang="en-IN"/>
          </a:p>
        </p:txBody>
      </p:sp>
    </p:spTree>
    <p:extLst>
      <p:ext uri="{BB962C8B-B14F-4D97-AF65-F5344CB8AC3E}">
        <p14:creationId xmlns:p14="http://schemas.microsoft.com/office/powerpoint/2010/main" xmlns="" val="988091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399C0C62-B39E-E5A8-D712-F94B944B08F0}"/>
              </a:ext>
            </a:extLst>
          </p:cNvPr>
          <p:cNvSpPr>
            <a:spLocks noGrp="1"/>
          </p:cNvSpPr>
          <p:nvPr>
            <p:ph type="sldNum" sz="quarter" idx="5"/>
          </p:nvPr>
        </p:nvSpPr>
        <p:spPr/>
        <p:txBody>
          <a:bodyPr/>
          <a:lstStyle/>
          <a:p>
            <a:fld id="{623472F7-00EC-40F3-A111-228D446E4BD5}" type="slidenum">
              <a:rPr lang="en-IN" smtClean="0"/>
              <a:pPr/>
              <a:t>14</a:t>
            </a:fld>
            <a:endParaRPr lang="en-IN"/>
          </a:p>
        </p:txBody>
      </p:sp>
    </p:spTree>
    <p:extLst>
      <p:ext uri="{BB962C8B-B14F-4D97-AF65-F5344CB8AC3E}">
        <p14:creationId xmlns:p14="http://schemas.microsoft.com/office/powerpoint/2010/main" xmlns="" val="1602154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FE6CF2-60E7-DDCF-A24B-D9EE18832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9842E35-E573-29E9-663F-47F290FCC1E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8AFFA037-5B49-5B53-961F-FBBA904E723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8CBE926E-2A4F-F922-E6AB-F7F8495A75B6}"/>
              </a:ext>
            </a:extLst>
          </p:cNvPr>
          <p:cNvSpPr>
            <a:spLocks noGrp="1"/>
          </p:cNvSpPr>
          <p:nvPr>
            <p:ph type="sldNum" sz="quarter" idx="5"/>
          </p:nvPr>
        </p:nvSpPr>
        <p:spPr/>
        <p:txBody>
          <a:bodyPr/>
          <a:lstStyle/>
          <a:p>
            <a:fld id="{623472F7-00EC-40F3-A111-228D446E4BD5}" type="slidenum">
              <a:rPr lang="en-IN" smtClean="0"/>
              <a:pPr/>
              <a:t>15</a:t>
            </a:fld>
            <a:endParaRPr lang="en-IN"/>
          </a:p>
        </p:txBody>
      </p:sp>
    </p:spTree>
    <p:extLst>
      <p:ext uri="{BB962C8B-B14F-4D97-AF65-F5344CB8AC3E}">
        <p14:creationId xmlns:p14="http://schemas.microsoft.com/office/powerpoint/2010/main" xmlns="" val="3557866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9801842-ED65-A7CB-A3BC-6233EF8ED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C1489F1-166E-F9A1-96F4-23B39083053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0189F16C-AA5C-C083-ED30-47EEDB534D6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FBD2A979-0367-E176-3C81-4295592FF289}"/>
              </a:ext>
            </a:extLst>
          </p:cNvPr>
          <p:cNvSpPr>
            <a:spLocks noGrp="1"/>
          </p:cNvSpPr>
          <p:nvPr>
            <p:ph type="sldNum" sz="quarter" idx="5"/>
          </p:nvPr>
        </p:nvSpPr>
        <p:spPr/>
        <p:txBody>
          <a:bodyPr/>
          <a:lstStyle/>
          <a:p>
            <a:fld id="{623472F7-00EC-40F3-A111-228D446E4BD5}" type="slidenum">
              <a:rPr lang="en-IN" smtClean="0"/>
              <a:pPr/>
              <a:t>16</a:t>
            </a:fld>
            <a:endParaRPr lang="en-IN"/>
          </a:p>
        </p:txBody>
      </p:sp>
    </p:spTree>
    <p:extLst>
      <p:ext uri="{BB962C8B-B14F-4D97-AF65-F5344CB8AC3E}">
        <p14:creationId xmlns:p14="http://schemas.microsoft.com/office/powerpoint/2010/main" xmlns="" val="2008992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C23E7D9-DB30-2E43-313A-318A189F2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30169506-DC0D-FAAA-28C6-2C490BF440F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DD091984-8DAB-2C1E-F252-CB8D6EE1C1F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F53DFFBB-12F8-47FE-EBC2-B1F9156C0442}"/>
              </a:ext>
            </a:extLst>
          </p:cNvPr>
          <p:cNvSpPr>
            <a:spLocks noGrp="1"/>
          </p:cNvSpPr>
          <p:nvPr>
            <p:ph type="sldNum" sz="quarter" idx="5"/>
          </p:nvPr>
        </p:nvSpPr>
        <p:spPr/>
        <p:txBody>
          <a:bodyPr/>
          <a:lstStyle/>
          <a:p>
            <a:fld id="{623472F7-00EC-40F3-A111-228D446E4BD5}" type="slidenum">
              <a:rPr lang="en-IN" smtClean="0"/>
              <a:pPr/>
              <a:t>17</a:t>
            </a:fld>
            <a:endParaRPr lang="en-IN"/>
          </a:p>
        </p:txBody>
      </p:sp>
    </p:spTree>
    <p:extLst>
      <p:ext uri="{BB962C8B-B14F-4D97-AF65-F5344CB8AC3E}">
        <p14:creationId xmlns:p14="http://schemas.microsoft.com/office/powerpoint/2010/main" xmlns="" val="42803273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AE6D213-5319-BF37-4CB0-6A5AA12EF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CA89C9FD-DF83-B14E-3E6B-F61824E8FA5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C877FE99-5DCF-B2DC-B567-C0A2F5FE64A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92244823-D600-CBD5-F7CA-243EE8F19F73}"/>
              </a:ext>
            </a:extLst>
          </p:cNvPr>
          <p:cNvSpPr>
            <a:spLocks noGrp="1"/>
          </p:cNvSpPr>
          <p:nvPr>
            <p:ph type="sldNum" sz="quarter" idx="5"/>
          </p:nvPr>
        </p:nvSpPr>
        <p:spPr/>
        <p:txBody>
          <a:bodyPr/>
          <a:lstStyle/>
          <a:p>
            <a:fld id="{623472F7-00EC-40F3-A111-228D446E4BD5}" type="slidenum">
              <a:rPr lang="en-IN" smtClean="0"/>
              <a:pPr/>
              <a:t>18</a:t>
            </a:fld>
            <a:endParaRPr lang="en-IN"/>
          </a:p>
        </p:txBody>
      </p:sp>
    </p:spTree>
    <p:extLst>
      <p:ext uri="{BB962C8B-B14F-4D97-AF65-F5344CB8AC3E}">
        <p14:creationId xmlns:p14="http://schemas.microsoft.com/office/powerpoint/2010/main" xmlns="" val="42663142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AE6D213-5319-BF37-4CB0-6A5AA12EF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CA89C9FD-DF83-B14E-3E6B-F61824E8FA5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C877FE99-5DCF-B2DC-B567-C0A2F5FE64A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92244823-D600-CBD5-F7CA-243EE8F19F73}"/>
              </a:ext>
            </a:extLst>
          </p:cNvPr>
          <p:cNvSpPr>
            <a:spLocks noGrp="1"/>
          </p:cNvSpPr>
          <p:nvPr>
            <p:ph type="sldNum" sz="quarter" idx="5"/>
          </p:nvPr>
        </p:nvSpPr>
        <p:spPr/>
        <p:txBody>
          <a:bodyPr/>
          <a:lstStyle/>
          <a:p>
            <a:fld id="{623472F7-00EC-40F3-A111-228D446E4BD5}" type="slidenum">
              <a:rPr lang="en-IN" smtClean="0"/>
              <a:pPr/>
              <a:t>19</a:t>
            </a:fld>
            <a:endParaRPr lang="en-IN"/>
          </a:p>
        </p:txBody>
      </p:sp>
    </p:spTree>
    <p:extLst>
      <p:ext uri="{BB962C8B-B14F-4D97-AF65-F5344CB8AC3E}">
        <p14:creationId xmlns:p14="http://schemas.microsoft.com/office/powerpoint/2010/main" xmlns="" val="42663142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22</a:t>
            </a:fld>
            <a:endParaRPr lang="en-IN"/>
          </a:p>
        </p:txBody>
      </p:sp>
    </p:spTree>
    <p:extLst>
      <p:ext uri="{BB962C8B-B14F-4D97-AF65-F5344CB8AC3E}">
        <p14:creationId xmlns:p14="http://schemas.microsoft.com/office/powerpoint/2010/main" xmlns="" val="824020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77238" y="6642827"/>
            <a:ext cx="5654040" cy="215265"/>
          </a:xfrm>
          <a:custGeom>
            <a:avLst/>
            <a:gdLst/>
            <a:ahLst/>
            <a:cxnLst/>
            <a:rect l="l" t="t" r="r" b="b"/>
            <a:pathLst>
              <a:path w="5654040" h="215265">
                <a:moveTo>
                  <a:pt x="5654038" y="215171"/>
                </a:moveTo>
                <a:lnTo>
                  <a:pt x="0" y="215171"/>
                </a:lnTo>
                <a:lnTo>
                  <a:pt x="0" y="0"/>
                </a:lnTo>
                <a:lnTo>
                  <a:pt x="5654038" y="0"/>
                </a:lnTo>
                <a:lnTo>
                  <a:pt x="5654038" y="215171"/>
                </a:lnTo>
                <a:close/>
              </a:path>
            </a:pathLst>
          </a:custGeom>
          <a:solidFill>
            <a:srgbClr val="002060"/>
          </a:solidFill>
        </p:spPr>
        <p:txBody>
          <a:bodyPr wrap="square" lIns="0" tIns="0" rIns="0" bIns="0" rtlCol="0"/>
          <a:lstStyle/>
          <a:p>
            <a:endParaRPr/>
          </a:p>
        </p:txBody>
      </p:sp>
      <p:sp>
        <p:nvSpPr>
          <p:cNvPr id="17" name="bg object 17"/>
          <p:cNvSpPr/>
          <p:nvPr/>
        </p:nvSpPr>
        <p:spPr>
          <a:xfrm>
            <a:off x="6431277" y="6641865"/>
            <a:ext cx="5323205" cy="216535"/>
          </a:xfrm>
          <a:custGeom>
            <a:avLst/>
            <a:gdLst/>
            <a:ahLst/>
            <a:cxnLst/>
            <a:rect l="l" t="t" r="r" b="b"/>
            <a:pathLst>
              <a:path w="5323205" h="216534">
                <a:moveTo>
                  <a:pt x="5322916" y="216133"/>
                </a:moveTo>
                <a:lnTo>
                  <a:pt x="0" y="216133"/>
                </a:lnTo>
                <a:lnTo>
                  <a:pt x="0" y="0"/>
                </a:lnTo>
                <a:lnTo>
                  <a:pt x="5322916" y="0"/>
                </a:lnTo>
                <a:lnTo>
                  <a:pt x="5322916" y="216133"/>
                </a:lnTo>
                <a:close/>
              </a:path>
            </a:pathLst>
          </a:custGeom>
          <a:solidFill>
            <a:srgbClr val="008080"/>
          </a:solidFill>
        </p:spPr>
        <p:txBody>
          <a:bodyPr wrap="square" lIns="0" tIns="0" rIns="0" bIns="0" rtlCol="0"/>
          <a:lstStyle/>
          <a:p>
            <a:endParaRPr/>
          </a:p>
        </p:txBody>
      </p:sp>
      <p:sp>
        <p:nvSpPr>
          <p:cNvPr id="18" name="bg object 18"/>
          <p:cNvSpPr/>
          <p:nvPr/>
        </p:nvSpPr>
        <p:spPr>
          <a:xfrm>
            <a:off x="11754195" y="6641864"/>
            <a:ext cx="438150" cy="216535"/>
          </a:xfrm>
          <a:custGeom>
            <a:avLst/>
            <a:gdLst/>
            <a:ahLst/>
            <a:cxnLst/>
            <a:rect l="l" t="t" r="r" b="b"/>
            <a:pathLst>
              <a:path w="438150" h="216534">
                <a:moveTo>
                  <a:pt x="437803" y="216132"/>
                </a:moveTo>
                <a:lnTo>
                  <a:pt x="0" y="216132"/>
                </a:lnTo>
                <a:lnTo>
                  <a:pt x="0" y="0"/>
                </a:lnTo>
                <a:lnTo>
                  <a:pt x="437803" y="0"/>
                </a:lnTo>
                <a:lnTo>
                  <a:pt x="437803" y="216132"/>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200" y="5956065"/>
            <a:ext cx="685799" cy="681643"/>
          </a:xfrm>
          <a:prstGeom prst="rect">
            <a:avLst/>
          </a:prstGeom>
        </p:spPr>
      </p:pic>
      <p:sp>
        <p:nvSpPr>
          <p:cNvPr id="20" name="bg object 20"/>
          <p:cNvSpPr/>
          <p:nvPr/>
        </p:nvSpPr>
        <p:spPr>
          <a:xfrm>
            <a:off x="0" y="6642827"/>
            <a:ext cx="777240" cy="215265"/>
          </a:xfrm>
          <a:custGeom>
            <a:avLst/>
            <a:gdLst/>
            <a:ahLst/>
            <a:cxnLst/>
            <a:rect l="l" t="t" r="r" b="b"/>
            <a:pathLst>
              <a:path w="777240" h="215265">
                <a:moveTo>
                  <a:pt x="777238" y="215171"/>
                </a:moveTo>
                <a:lnTo>
                  <a:pt x="0" y="215171"/>
                </a:lnTo>
                <a:lnTo>
                  <a:pt x="0" y="0"/>
                </a:lnTo>
                <a:lnTo>
                  <a:pt x="777238" y="0"/>
                </a:lnTo>
                <a:lnTo>
                  <a:pt x="777238" y="215171"/>
                </a:lnTo>
                <a:close/>
              </a:path>
            </a:pathLst>
          </a:custGeom>
          <a:solidFill>
            <a:srgbClr val="C55A11"/>
          </a:solidFill>
        </p:spPr>
        <p:txBody>
          <a:bodyPr wrap="square" lIns="0" tIns="0" rIns="0" bIns="0" rtlCol="0"/>
          <a:lstStyle/>
          <a:p>
            <a:endParaRPr/>
          </a:p>
        </p:txBody>
      </p:sp>
      <p:sp>
        <p:nvSpPr>
          <p:cNvPr id="21" name="bg object 21"/>
          <p:cNvSpPr/>
          <p:nvPr/>
        </p:nvSpPr>
        <p:spPr>
          <a:xfrm>
            <a:off x="-1" y="0"/>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a:xfrm>
            <a:off x="73025" y="-50596"/>
            <a:ext cx="3888104"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1783" y="6629792"/>
            <a:ext cx="54483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a:xfrm>
            <a:off x="1123125" y="6629792"/>
            <a:ext cx="4962525"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a:xfrm>
            <a:off x="11858823" y="6629309"/>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38" y="6634572"/>
            <a:ext cx="11414760" cy="223520"/>
            <a:chOff x="777238" y="6634572"/>
            <a:chExt cx="11414760" cy="223520"/>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54196"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a:p>
          </p:txBody>
        </p:sp>
      </p:grpSp>
      <p:sp>
        <p:nvSpPr>
          <p:cNvPr id="6" name="object 6"/>
          <p:cNvSpPr/>
          <p:nvPr/>
        </p:nvSpPr>
        <p:spPr>
          <a:xfrm>
            <a:off x="35564" y="-12787"/>
            <a:ext cx="12192000" cy="308246"/>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pPr algn="ctr"/>
            <a:r>
              <a:rPr lang="en-US" dirty="0">
                <a:solidFill>
                  <a:schemeClr val="bg1"/>
                </a:solidFill>
              </a:rPr>
              <a:t>Smart Fertilizer Spraying System Using Plant Disease Severity Analysis</a:t>
            </a:r>
            <a:endParaRPr dirty="0">
              <a:solidFill>
                <a:schemeClr val="bg1"/>
              </a:solidFill>
            </a:endParaRPr>
          </a:p>
        </p:txBody>
      </p:sp>
      <p:sp>
        <p:nvSpPr>
          <p:cNvPr id="7" name="object 7"/>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US" dirty="0">
                <a:solidFill>
                  <a:schemeClr val="bg1"/>
                </a:solidFill>
              </a:rPr>
              <a:t>B-10</a:t>
            </a:r>
            <a:endParaRPr dirty="0">
              <a:solidFill>
                <a:schemeClr val="bg1"/>
              </a:solidFill>
            </a:endParaRPr>
          </a:p>
        </p:txBody>
      </p:sp>
      <p:sp>
        <p:nvSpPr>
          <p:cNvPr id="8" name="object 8"/>
          <p:cNvSpPr txBox="1"/>
          <p:nvPr/>
        </p:nvSpPr>
        <p:spPr>
          <a:xfrm>
            <a:off x="8821037" y="1686288"/>
            <a:ext cx="1990725" cy="564515"/>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Y Sravani</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24G1A33A4</a:t>
            </a:r>
            <a:endParaRPr sz="1100" dirty="0">
              <a:latin typeface="Times New Roman"/>
              <a:cs typeface="Times New Roman"/>
            </a:endParaRPr>
          </a:p>
        </p:txBody>
      </p:sp>
      <p:sp>
        <p:nvSpPr>
          <p:cNvPr id="9" name="object 9"/>
          <p:cNvSpPr txBox="1"/>
          <p:nvPr/>
        </p:nvSpPr>
        <p:spPr>
          <a:xfrm>
            <a:off x="2362200" y="2512042"/>
            <a:ext cx="6629400" cy="744435"/>
          </a:xfrm>
          <a:prstGeom prst="rect">
            <a:avLst/>
          </a:prstGeom>
        </p:spPr>
        <p:txBody>
          <a:bodyPr vert="horz" wrap="square" lIns="0" tIns="71755" rIns="0" bIns="0" rtlCol="0">
            <a:spAutoFit/>
          </a:bodyPr>
          <a:lstStyle/>
          <a:p>
            <a:pPr>
              <a:spcBef>
                <a:spcPts val="300"/>
              </a:spcBef>
            </a:pPr>
            <a:r>
              <a:rPr lang="en-US" sz="1400" b="0" i="1" dirty="0"/>
              <a:t>                              		Under the guidance of</a:t>
            </a:r>
          </a:p>
          <a:p>
            <a:pPr algn="ctr">
              <a:spcBef>
                <a:spcPts val="200"/>
              </a:spcBef>
            </a:pPr>
            <a:r>
              <a:rPr lang="en-US" sz="2400" b="0" dirty="0">
                <a:effectLst>
                  <a:outerShdw blurRad="38100" dist="38100" dir="2700000" algn="tl">
                    <a:srgbClr val="000000">
                      <a:alpha val="43137"/>
                    </a:srgbClr>
                  </a:outerShdw>
                </a:effectLst>
              </a:rPr>
              <a:t>          </a:t>
            </a:r>
            <a:r>
              <a:rPr lang="en-US" sz="1600" b="0" dirty="0">
                <a:effectLst>
                  <a:outerShdw blurRad="38100" dist="38100" dir="2700000" algn="tl">
                    <a:srgbClr val="000000">
                      <a:alpha val="43137"/>
                    </a:srgbClr>
                  </a:outerShdw>
                </a:effectLst>
              </a:rPr>
              <a:t> </a:t>
            </a:r>
            <a:r>
              <a:rPr lang="en-US" sz="2800" dirty="0"/>
              <a:t>Dr. C. Sasikala </a:t>
            </a:r>
            <a:r>
              <a:rPr lang="en-US" sz="1600" dirty="0" err="1"/>
              <a:t>M.Tech</a:t>
            </a:r>
            <a:r>
              <a:rPr lang="en-US" sz="1600" dirty="0"/>
              <a:t>., Ph.D.  </a:t>
            </a:r>
            <a:endParaRPr lang="en-IN" sz="1600" b="0" baseline="-25000" dirty="0">
              <a:effectLst>
                <a:outerShdw blurRad="38100" dist="38100" dir="2700000" algn="tl">
                  <a:srgbClr val="000000">
                    <a:alpha val="43137"/>
                  </a:srgbClr>
                </a:outerShdw>
              </a:effectLst>
            </a:endParaRPr>
          </a:p>
        </p:txBody>
      </p:sp>
      <p:sp>
        <p:nvSpPr>
          <p:cNvPr id="11" name="object 11"/>
          <p:cNvSpPr txBox="1"/>
          <p:nvPr/>
        </p:nvSpPr>
        <p:spPr>
          <a:xfrm>
            <a:off x="2709823" y="5109203"/>
            <a:ext cx="6767195" cy="1220470"/>
          </a:xfrm>
          <a:prstGeom prst="rect">
            <a:avLst/>
          </a:prstGeom>
        </p:spPr>
        <p:txBody>
          <a:bodyPr vert="horz" wrap="square" lIns="0" tIns="17780" rIns="0" bIns="0" rtlCol="0">
            <a:spAutoFit/>
          </a:bodyPr>
          <a:lstStyle/>
          <a:p>
            <a:pPr marL="4445" algn="ctr">
              <a:lnSpc>
                <a:spcPts val="1975"/>
              </a:lnSpc>
              <a:spcBef>
                <a:spcPts val="140"/>
              </a:spcBef>
            </a:pPr>
            <a:r>
              <a:rPr sz="1850" dirty="0">
                <a:latin typeface="Times New Roman"/>
                <a:cs typeface="Times New Roman"/>
              </a:rPr>
              <a:t>Department</a:t>
            </a:r>
            <a:r>
              <a:rPr sz="1850" spc="85" dirty="0">
                <a:latin typeface="Times New Roman"/>
                <a:cs typeface="Times New Roman"/>
              </a:rPr>
              <a:t> </a:t>
            </a:r>
            <a:r>
              <a:rPr sz="1850" dirty="0">
                <a:latin typeface="Times New Roman"/>
                <a:cs typeface="Times New Roman"/>
              </a:rPr>
              <a:t>of</a:t>
            </a:r>
            <a:r>
              <a:rPr sz="1850" spc="90" dirty="0">
                <a:latin typeface="Times New Roman"/>
                <a:cs typeface="Times New Roman"/>
              </a:rPr>
              <a:t> </a:t>
            </a:r>
            <a:r>
              <a:rPr sz="1850" dirty="0">
                <a:latin typeface="Times New Roman"/>
                <a:cs typeface="Times New Roman"/>
              </a:rPr>
              <a:t>Computer</a:t>
            </a:r>
            <a:r>
              <a:rPr sz="1850" spc="90" dirty="0">
                <a:latin typeface="Times New Roman"/>
                <a:cs typeface="Times New Roman"/>
              </a:rPr>
              <a:t> </a:t>
            </a:r>
            <a:r>
              <a:rPr sz="1850" dirty="0">
                <a:latin typeface="Times New Roman"/>
                <a:cs typeface="Times New Roman"/>
              </a:rPr>
              <a:t>Science</a:t>
            </a:r>
            <a:r>
              <a:rPr sz="1850" spc="85" dirty="0">
                <a:latin typeface="Times New Roman"/>
                <a:cs typeface="Times New Roman"/>
              </a:rPr>
              <a:t> </a:t>
            </a:r>
            <a:r>
              <a:rPr sz="1850" dirty="0">
                <a:latin typeface="Times New Roman"/>
                <a:cs typeface="Times New Roman"/>
              </a:rPr>
              <a:t>and</a:t>
            </a:r>
            <a:r>
              <a:rPr sz="1850" spc="95" dirty="0">
                <a:latin typeface="Times New Roman"/>
                <a:cs typeface="Times New Roman"/>
              </a:rPr>
              <a:t> </a:t>
            </a:r>
            <a:r>
              <a:rPr sz="1850" dirty="0">
                <a:latin typeface="Times New Roman"/>
                <a:cs typeface="Times New Roman"/>
              </a:rPr>
              <a:t>Engineering</a:t>
            </a:r>
            <a:r>
              <a:rPr sz="1850" spc="90" dirty="0">
                <a:latin typeface="Times New Roman"/>
                <a:cs typeface="Times New Roman"/>
              </a:rPr>
              <a:t> </a:t>
            </a:r>
            <a:r>
              <a:rPr sz="1850" dirty="0">
                <a:latin typeface="Times New Roman"/>
                <a:cs typeface="Times New Roman"/>
              </a:rPr>
              <a:t>(AI</a:t>
            </a:r>
            <a:r>
              <a:rPr sz="1850" spc="90" dirty="0">
                <a:latin typeface="Times New Roman"/>
                <a:cs typeface="Times New Roman"/>
              </a:rPr>
              <a:t> </a:t>
            </a:r>
            <a:r>
              <a:rPr sz="1850" dirty="0">
                <a:latin typeface="Times New Roman"/>
                <a:cs typeface="Times New Roman"/>
              </a:rPr>
              <a:t>&amp;</a:t>
            </a:r>
            <a:r>
              <a:rPr sz="1850" spc="90" dirty="0">
                <a:latin typeface="Times New Roman"/>
                <a:cs typeface="Times New Roman"/>
              </a:rPr>
              <a:t> </a:t>
            </a:r>
            <a:r>
              <a:rPr sz="1850" spc="-25" dirty="0">
                <a:latin typeface="Times New Roman"/>
                <a:cs typeface="Times New Roman"/>
              </a:rPr>
              <a:t>ML)</a:t>
            </a:r>
            <a:endParaRPr sz="1850" dirty="0">
              <a:latin typeface="Times New Roman"/>
              <a:cs typeface="Times New Roman"/>
            </a:endParaRPr>
          </a:p>
          <a:p>
            <a:pPr algn="ctr">
              <a:lnSpc>
                <a:spcPts val="3185"/>
              </a:lnSpc>
            </a:pPr>
            <a:r>
              <a:rPr sz="2900" dirty="0">
                <a:solidFill>
                  <a:srgbClr val="FF0000"/>
                </a:solidFill>
                <a:latin typeface="Times New Roman"/>
                <a:cs typeface="Times New Roman"/>
              </a:rPr>
              <a:t>Srinivasa</a:t>
            </a:r>
            <a:r>
              <a:rPr sz="2900" spc="30" dirty="0">
                <a:solidFill>
                  <a:srgbClr val="FF0000"/>
                </a:solidFill>
                <a:latin typeface="Times New Roman"/>
                <a:cs typeface="Times New Roman"/>
              </a:rPr>
              <a:t> </a:t>
            </a:r>
            <a:r>
              <a:rPr sz="2900" dirty="0">
                <a:solidFill>
                  <a:srgbClr val="FF0000"/>
                </a:solidFill>
                <a:latin typeface="Times New Roman"/>
                <a:cs typeface="Times New Roman"/>
              </a:rPr>
              <a:t>Ramanujan</a:t>
            </a:r>
            <a:r>
              <a:rPr sz="2900" spc="35" dirty="0">
                <a:solidFill>
                  <a:srgbClr val="FF0000"/>
                </a:solidFill>
                <a:latin typeface="Times New Roman"/>
                <a:cs typeface="Times New Roman"/>
              </a:rPr>
              <a:t> </a:t>
            </a:r>
            <a:r>
              <a:rPr sz="2900" dirty="0">
                <a:solidFill>
                  <a:srgbClr val="FF0000"/>
                </a:solidFill>
                <a:latin typeface="Times New Roman"/>
                <a:cs typeface="Times New Roman"/>
              </a:rPr>
              <a:t>Institute</a:t>
            </a:r>
            <a:r>
              <a:rPr sz="2900" spc="30" dirty="0">
                <a:solidFill>
                  <a:srgbClr val="FF0000"/>
                </a:solidFill>
                <a:latin typeface="Times New Roman"/>
                <a:cs typeface="Times New Roman"/>
              </a:rPr>
              <a:t> </a:t>
            </a:r>
            <a:r>
              <a:rPr sz="2900" dirty="0">
                <a:solidFill>
                  <a:srgbClr val="FF0000"/>
                </a:solidFill>
                <a:latin typeface="Times New Roman"/>
                <a:cs typeface="Times New Roman"/>
              </a:rPr>
              <a:t>of</a:t>
            </a:r>
            <a:r>
              <a:rPr sz="2900" spc="35" dirty="0">
                <a:solidFill>
                  <a:srgbClr val="FF0000"/>
                </a:solidFill>
                <a:latin typeface="Times New Roman"/>
                <a:cs typeface="Times New Roman"/>
              </a:rPr>
              <a:t> </a:t>
            </a:r>
            <a:r>
              <a:rPr sz="2900" spc="-10" dirty="0">
                <a:solidFill>
                  <a:srgbClr val="FF0000"/>
                </a:solidFill>
                <a:latin typeface="Times New Roman"/>
                <a:cs typeface="Times New Roman"/>
              </a:rPr>
              <a:t>Technology</a:t>
            </a:r>
            <a:endParaRPr sz="2900" dirty="0">
              <a:latin typeface="Times New Roman"/>
              <a:cs typeface="Times New Roman"/>
            </a:endParaRPr>
          </a:p>
          <a:p>
            <a:pPr marL="6985" algn="ctr">
              <a:lnSpc>
                <a:spcPts val="1070"/>
              </a:lnSpc>
            </a:pPr>
            <a:r>
              <a:rPr sz="950" b="1" spc="-10" dirty="0">
                <a:latin typeface="Times New Roman"/>
                <a:cs typeface="Times New Roman"/>
              </a:rPr>
              <a:t>(Affiliated</a:t>
            </a:r>
            <a:r>
              <a:rPr sz="950" b="1" spc="-25" dirty="0">
                <a:latin typeface="Times New Roman"/>
                <a:cs typeface="Times New Roman"/>
              </a:rPr>
              <a:t> </a:t>
            </a:r>
            <a:r>
              <a:rPr sz="950" b="1" dirty="0">
                <a:latin typeface="Times New Roman"/>
                <a:cs typeface="Times New Roman"/>
              </a:rPr>
              <a:t>to</a:t>
            </a:r>
            <a:r>
              <a:rPr sz="950" b="1" spc="-20" dirty="0">
                <a:latin typeface="Times New Roman"/>
                <a:cs typeface="Times New Roman"/>
              </a:rPr>
              <a:t> </a:t>
            </a:r>
            <a:r>
              <a:rPr sz="950" b="1" dirty="0">
                <a:latin typeface="Times New Roman"/>
                <a:cs typeface="Times New Roman"/>
              </a:rPr>
              <a:t>JNTUA</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Approved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AICTE)</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0" dirty="0">
                <a:latin typeface="Times New Roman"/>
                <a:cs typeface="Times New Roman"/>
              </a:rPr>
              <a:t> </a:t>
            </a:r>
            <a:r>
              <a:rPr sz="950" b="1" dirty="0">
                <a:latin typeface="Times New Roman"/>
                <a:cs typeface="Times New Roman"/>
              </a:rPr>
              <a:t>NAAC</a:t>
            </a:r>
            <a:r>
              <a:rPr sz="950" b="1" spc="-20" dirty="0">
                <a:latin typeface="Times New Roman"/>
                <a:cs typeface="Times New Roman"/>
              </a:rPr>
              <a:t> </a:t>
            </a:r>
            <a:r>
              <a:rPr sz="950" b="1" dirty="0">
                <a:latin typeface="Times New Roman"/>
                <a:cs typeface="Times New Roman"/>
              </a:rPr>
              <a:t>with</a:t>
            </a:r>
            <a:r>
              <a:rPr sz="950" b="1" spc="-25" dirty="0">
                <a:latin typeface="Times New Roman"/>
                <a:cs typeface="Times New Roman"/>
              </a:rPr>
              <a:t> </a:t>
            </a:r>
            <a:r>
              <a:rPr sz="950" b="1" dirty="0">
                <a:latin typeface="Times New Roman"/>
                <a:cs typeface="Times New Roman"/>
              </a:rPr>
              <a:t>‘A’</a:t>
            </a:r>
            <a:r>
              <a:rPr sz="950" b="1" spc="-20" dirty="0">
                <a:latin typeface="Times New Roman"/>
                <a:cs typeface="Times New Roman"/>
              </a:rPr>
              <a:t> </a:t>
            </a:r>
            <a:r>
              <a:rPr sz="950" b="1" dirty="0">
                <a:latin typeface="Times New Roman"/>
                <a:cs typeface="Times New Roman"/>
              </a:rPr>
              <a:t>Grade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NBA</a:t>
            </a:r>
            <a:r>
              <a:rPr sz="950" b="1" spc="-20" dirty="0">
                <a:latin typeface="Times New Roman"/>
                <a:cs typeface="Times New Roman"/>
              </a:rPr>
              <a:t> </a:t>
            </a:r>
            <a:r>
              <a:rPr sz="950" b="1" dirty="0">
                <a:latin typeface="Times New Roman"/>
                <a:cs typeface="Times New Roman"/>
              </a:rPr>
              <a:t>(EEE,</a:t>
            </a:r>
            <a:r>
              <a:rPr sz="950" b="1" spc="-20" dirty="0">
                <a:latin typeface="Times New Roman"/>
                <a:cs typeface="Times New Roman"/>
              </a:rPr>
              <a:t> </a:t>
            </a:r>
            <a:r>
              <a:rPr sz="950" b="1" dirty="0">
                <a:latin typeface="Times New Roman"/>
                <a:cs typeface="Times New Roman"/>
              </a:rPr>
              <a:t>ECE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CSE)</a:t>
            </a:r>
            <a:endParaRPr sz="950" dirty="0">
              <a:latin typeface="Times New Roman"/>
              <a:cs typeface="Times New Roman"/>
            </a:endParaRPr>
          </a:p>
          <a:p>
            <a:pPr marL="5715" algn="ctr">
              <a:lnSpc>
                <a:spcPts val="1180"/>
              </a:lnSpc>
            </a:pPr>
            <a:r>
              <a:rPr sz="1000" b="1" dirty="0">
                <a:latin typeface="Times New Roman"/>
                <a:cs typeface="Times New Roman"/>
              </a:rPr>
              <a:t>Rotarypuram</a:t>
            </a:r>
            <a:r>
              <a:rPr sz="1000" b="1" spc="95" dirty="0">
                <a:latin typeface="Times New Roman"/>
                <a:cs typeface="Times New Roman"/>
              </a:rPr>
              <a:t> </a:t>
            </a:r>
            <a:r>
              <a:rPr sz="1000" b="1" dirty="0">
                <a:latin typeface="Times New Roman"/>
                <a:cs typeface="Times New Roman"/>
              </a:rPr>
              <a:t>Village,</a:t>
            </a:r>
            <a:r>
              <a:rPr sz="1000" b="1" spc="100" dirty="0">
                <a:latin typeface="Times New Roman"/>
                <a:cs typeface="Times New Roman"/>
              </a:rPr>
              <a:t> </a:t>
            </a:r>
            <a:r>
              <a:rPr sz="1000" b="1" dirty="0">
                <a:latin typeface="Times New Roman"/>
                <a:cs typeface="Times New Roman"/>
              </a:rPr>
              <a:t>B</a:t>
            </a:r>
            <a:r>
              <a:rPr sz="1000" b="1" spc="95" dirty="0">
                <a:latin typeface="Times New Roman"/>
                <a:cs typeface="Times New Roman"/>
              </a:rPr>
              <a:t> </a:t>
            </a:r>
            <a:r>
              <a:rPr sz="1000" b="1" dirty="0">
                <a:latin typeface="Times New Roman"/>
                <a:cs typeface="Times New Roman"/>
              </a:rPr>
              <a:t>K</a:t>
            </a:r>
            <a:r>
              <a:rPr sz="1000" b="1" spc="100" dirty="0">
                <a:latin typeface="Times New Roman"/>
                <a:cs typeface="Times New Roman"/>
              </a:rPr>
              <a:t> </a:t>
            </a:r>
            <a:r>
              <a:rPr sz="1000" b="1" dirty="0">
                <a:latin typeface="Times New Roman"/>
                <a:cs typeface="Times New Roman"/>
              </a:rPr>
              <a:t>Samudram</a:t>
            </a:r>
            <a:r>
              <a:rPr sz="1000" b="1" spc="100" dirty="0">
                <a:latin typeface="Times New Roman"/>
                <a:cs typeface="Times New Roman"/>
              </a:rPr>
              <a:t> </a:t>
            </a:r>
            <a:r>
              <a:rPr sz="1000" b="1" dirty="0">
                <a:latin typeface="Times New Roman"/>
                <a:cs typeface="Times New Roman"/>
              </a:rPr>
              <a:t>Mandal,</a:t>
            </a:r>
            <a:r>
              <a:rPr sz="1000" b="1" spc="95" dirty="0">
                <a:latin typeface="Times New Roman"/>
                <a:cs typeface="Times New Roman"/>
              </a:rPr>
              <a:t> </a:t>
            </a:r>
            <a:r>
              <a:rPr sz="1000" b="1" dirty="0">
                <a:latin typeface="Times New Roman"/>
                <a:cs typeface="Times New Roman"/>
              </a:rPr>
              <a:t>Ananthapuramu</a:t>
            </a:r>
            <a:r>
              <a:rPr sz="1000" b="1" spc="100" dirty="0">
                <a:latin typeface="Times New Roman"/>
                <a:cs typeface="Times New Roman"/>
              </a:rPr>
              <a:t> </a:t>
            </a:r>
            <a:r>
              <a:rPr sz="1000" b="1" dirty="0">
                <a:latin typeface="Times New Roman"/>
                <a:cs typeface="Times New Roman"/>
              </a:rPr>
              <a:t>–</a:t>
            </a:r>
            <a:r>
              <a:rPr sz="1000" b="1" spc="95" dirty="0">
                <a:latin typeface="Times New Roman"/>
                <a:cs typeface="Times New Roman"/>
              </a:rPr>
              <a:t> </a:t>
            </a:r>
            <a:r>
              <a:rPr sz="1000" b="1" spc="-10" dirty="0">
                <a:latin typeface="Times New Roman"/>
                <a:cs typeface="Times New Roman"/>
              </a:rPr>
              <a:t>515701.</a:t>
            </a:r>
            <a:endParaRPr sz="1000" dirty="0">
              <a:latin typeface="Times New Roman"/>
              <a:cs typeface="Times New Roman"/>
            </a:endParaRPr>
          </a:p>
          <a:p>
            <a:pPr marL="5080" algn="ctr">
              <a:lnSpc>
                <a:spcPct val="100000"/>
              </a:lnSpc>
              <a:spcBef>
                <a:spcPts val="630"/>
              </a:spcBef>
            </a:pPr>
            <a:r>
              <a:rPr sz="1100" b="1" dirty="0">
                <a:solidFill>
                  <a:srgbClr val="1E4E78"/>
                </a:solidFill>
                <a:latin typeface="Times New Roman"/>
                <a:cs typeface="Times New Roman"/>
              </a:rPr>
              <a:t>202</a:t>
            </a:r>
            <a:r>
              <a:rPr lang="en-IN" sz="1100" b="1" dirty="0">
                <a:solidFill>
                  <a:srgbClr val="1E4E78"/>
                </a:solidFill>
                <a:latin typeface="Times New Roman"/>
                <a:cs typeface="Times New Roman"/>
              </a:rPr>
              <a:t>5</a:t>
            </a:r>
            <a:r>
              <a:rPr sz="1100" b="1" spc="30" dirty="0">
                <a:solidFill>
                  <a:srgbClr val="1E4E78"/>
                </a:solidFill>
                <a:latin typeface="Times New Roman"/>
                <a:cs typeface="Times New Roman"/>
              </a:rPr>
              <a:t> </a:t>
            </a:r>
            <a:r>
              <a:rPr sz="1100" b="1" dirty="0">
                <a:solidFill>
                  <a:srgbClr val="1E4E78"/>
                </a:solidFill>
                <a:latin typeface="Times New Roman"/>
                <a:cs typeface="Times New Roman"/>
              </a:rPr>
              <a:t>-</a:t>
            </a:r>
            <a:r>
              <a:rPr sz="1100" b="1" spc="30" dirty="0">
                <a:solidFill>
                  <a:srgbClr val="1E4E78"/>
                </a:solidFill>
                <a:latin typeface="Times New Roman"/>
                <a:cs typeface="Times New Roman"/>
              </a:rPr>
              <a:t> </a:t>
            </a:r>
            <a:r>
              <a:rPr sz="1100" b="1" spc="-20" dirty="0">
                <a:solidFill>
                  <a:srgbClr val="1E4E78"/>
                </a:solidFill>
                <a:latin typeface="Times New Roman"/>
                <a:cs typeface="Times New Roman"/>
              </a:rPr>
              <a:t>202</a:t>
            </a:r>
            <a:r>
              <a:rPr lang="en-IN" sz="1100" b="1" spc="-20" dirty="0">
                <a:solidFill>
                  <a:srgbClr val="1E4E78"/>
                </a:solidFill>
                <a:latin typeface="Times New Roman"/>
                <a:cs typeface="Times New Roman"/>
              </a:rPr>
              <a:t>6</a:t>
            </a:r>
            <a:endParaRPr sz="1100" dirty="0">
              <a:latin typeface="Times New Roman"/>
              <a:cs typeface="Times New Roman"/>
            </a:endParaRPr>
          </a:p>
        </p:txBody>
      </p:sp>
      <p:sp>
        <p:nvSpPr>
          <p:cNvPr id="12" name="object 12"/>
          <p:cNvSpPr txBox="1"/>
          <p:nvPr/>
        </p:nvSpPr>
        <p:spPr>
          <a:xfrm>
            <a:off x="4140839" y="1704327"/>
            <a:ext cx="1990725"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G Sreeja</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24G1A33A9</a:t>
            </a:r>
            <a:endParaRPr sz="1100" dirty="0">
              <a:latin typeface="Times New Roman"/>
              <a:cs typeface="Times New Roman"/>
            </a:endParaRPr>
          </a:p>
        </p:txBody>
      </p:sp>
      <p:sp>
        <p:nvSpPr>
          <p:cNvPr id="13" name="object 13"/>
          <p:cNvSpPr txBox="1"/>
          <p:nvPr/>
        </p:nvSpPr>
        <p:spPr>
          <a:xfrm>
            <a:off x="1399594" y="1704327"/>
            <a:ext cx="2268799"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Y  Trinesh Reddy</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34G5A3311</a:t>
            </a:r>
            <a:endParaRPr sz="1100" dirty="0">
              <a:latin typeface="Times New Roman"/>
              <a:cs typeface="Times New Roman"/>
            </a:endParaRPr>
          </a:p>
        </p:txBody>
      </p:sp>
      <p:sp>
        <p:nvSpPr>
          <p:cNvPr id="14" name="object 14"/>
          <p:cNvSpPr txBox="1"/>
          <p:nvPr/>
        </p:nvSpPr>
        <p:spPr>
          <a:xfrm>
            <a:off x="6604010" y="1674584"/>
            <a:ext cx="1990725"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B Revathi</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24G1A3380</a:t>
            </a:r>
            <a:endParaRPr sz="1100" dirty="0">
              <a:latin typeface="Times New Roman"/>
              <a:cs typeface="Times New Roman"/>
            </a:endParaRPr>
          </a:p>
        </p:txBody>
      </p:sp>
      <p:grpSp>
        <p:nvGrpSpPr>
          <p:cNvPr id="15" name="object 15"/>
          <p:cNvGrpSpPr/>
          <p:nvPr/>
        </p:nvGrpSpPr>
        <p:grpSpPr>
          <a:xfrm>
            <a:off x="262722" y="253730"/>
            <a:ext cx="11449396" cy="1125770"/>
            <a:chOff x="697859" y="297171"/>
            <a:chExt cx="10642600" cy="972185"/>
          </a:xfrm>
        </p:grpSpPr>
        <p:pic>
          <p:nvPicPr>
            <p:cNvPr id="16" name="object 16"/>
            <p:cNvPicPr/>
            <p:nvPr/>
          </p:nvPicPr>
          <p:blipFill>
            <a:blip r:embed="rId2" cstate="print"/>
            <a:stretch>
              <a:fillRect/>
            </a:stretch>
          </p:blipFill>
          <p:spPr>
            <a:xfrm>
              <a:off x="697859" y="297171"/>
              <a:ext cx="10642482" cy="972164"/>
            </a:xfrm>
            <a:prstGeom prst="rect">
              <a:avLst/>
            </a:prstGeom>
          </p:spPr>
        </p:pic>
        <p:sp>
          <p:nvSpPr>
            <p:cNvPr id="17" name="object 17"/>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8" name="object 18"/>
          <p:cNvSpPr txBox="1">
            <a:spLocks noGrp="1"/>
          </p:cNvSpPr>
          <p:nvPr>
            <p:ph type="title"/>
          </p:nvPr>
        </p:nvSpPr>
        <p:spPr>
          <a:xfrm>
            <a:off x="777238" y="524621"/>
            <a:ext cx="11951340" cy="443711"/>
          </a:xfrm>
          <a:prstGeom prst="rect">
            <a:avLst/>
          </a:prstGeom>
        </p:spPr>
        <p:txBody>
          <a:bodyPr vert="horz" wrap="square" lIns="0" tIns="12700" rIns="0" bIns="0" rtlCol="0">
            <a:spAutoFit/>
          </a:bodyPr>
          <a:lstStyle/>
          <a:p>
            <a:pPr marL="12700">
              <a:lnSpc>
                <a:spcPct val="100000"/>
              </a:lnSpc>
              <a:spcBef>
                <a:spcPts val="100"/>
              </a:spcBef>
            </a:pPr>
            <a:r>
              <a:rPr lang="en-US" sz="2800" dirty="0"/>
              <a:t>  Smart Fertilizer Spraying System Using Plant Disease Severity Analysis</a:t>
            </a:r>
            <a:endParaRPr sz="2800" dirty="0"/>
          </a:p>
        </p:txBody>
      </p:sp>
      <p:sp>
        <p:nvSpPr>
          <p:cNvPr id="19" name="object 19"/>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20" name="object 20"/>
          <p:cNvPicPr/>
          <p:nvPr/>
        </p:nvPicPr>
        <p:blipFill>
          <a:blip r:embed="rId3" cstate="print"/>
          <a:stretch>
            <a:fillRect/>
          </a:stretch>
        </p:blipFill>
        <p:spPr>
          <a:xfrm>
            <a:off x="5342105" y="3477045"/>
            <a:ext cx="1843672" cy="1685486"/>
          </a:xfrm>
          <a:prstGeom prst="rect">
            <a:avLst/>
          </a:prstGeom>
        </p:spPr>
      </p:pic>
      <p:sp>
        <p:nvSpPr>
          <p:cNvPr id="25" name="object 9">
            <a:extLst>
              <a:ext uri="{FF2B5EF4-FFF2-40B4-BE49-F238E27FC236}">
                <a16:creationId xmlns:a16="http://schemas.microsoft.com/office/drawing/2014/main" xmlns="" id="{D4A2D25B-33EC-CC7B-AF2F-5309C2997632}"/>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7" name="TextBox 26">
            <a:extLst>
              <a:ext uri="{FF2B5EF4-FFF2-40B4-BE49-F238E27FC236}">
                <a16:creationId xmlns:a16="http://schemas.microsoft.com/office/drawing/2014/main" xmlns="" id="{359CF6B6-5F8C-ABC8-2607-C8A5865035DA}"/>
              </a:ext>
            </a:extLst>
          </p:cNvPr>
          <p:cNvSpPr txBox="1"/>
          <p:nvPr/>
        </p:nvSpPr>
        <p:spPr>
          <a:xfrm>
            <a:off x="6183186" y="6581001"/>
            <a:ext cx="6190180" cy="323165"/>
          </a:xfrm>
          <a:prstGeom prst="rect">
            <a:avLst/>
          </a:prstGeom>
          <a:noFill/>
        </p:spPr>
        <p:txBody>
          <a:bodyPr wrap="square">
            <a:spAutoFit/>
          </a:bodyPr>
          <a:lstStyle/>
          <a:p>
            <a:pPr marL="12700">
              <a:lnSpc>
                <a:spcPts val="1845"/>
              </a:lnSpc>
            </a:pPr>
            <a:r>
              <a:rPr lang="en-US" sz="1800" cap="small" spc="-105" dirty="0">
                <a:solidFill>
                  <a:srgbClr val="FFFFFF"/>
                </a:solidFill>
                <a:latin typeface="Times New Roman"/>
                <a:cs typeface="Times New Roman"/>
              </a:rPr>
              <a:t>Srinivasa</a:t>
            </a:r>
            <a:r>
              <a:rPr lang="en-US" sz="1800" cap="small" spc="70" dirty="0">
                <a:solidFill>
                  <a:srgbClr val="FFFFFF"/>
                </a:solidFill>
                <a:latin typeface="Times New Roman"/>
                <a:cs typeface="Times New Roman"/>
              </a:rPr>
              <a:t> </a:t>
            </a:r>
            <a:r>
              <a:rPr lang="en-US" sz="1800" cap="small" spc="-120" dirty="0">
                <a:solidFill>
                  <a:srgbClr val="FFFFFF"/>
                </a:solidFill>
                <a:latin typeface="Times New Roman"/>
                <a:cs typeface="Times New Roman"/>
              </a:rPr>
              <a:t>Ramanujan</a:t>
            </a:r>
            <a:r>
              <a:rPr lang="en-US" sz="1800" cap="small" spc="75" dirty="0">
                <a:solidFill>
                  <a:srgbClr val="FFFFFF"/>
                </a:solidFill>
                <a:latin typeface="Times New Roman"/>
                <a:cs typeface="Times New Roman"/>
              </a:rPr>
              <a:t> </a:t>
            </a:r>
            <a:r>
              <a:rPr lang="en-US" sz="1800" cap="small" spc="-110" dirty="0">
                <a:solidFill>
                  <a:srgbClr val="FFFFFF"/>
                </a:solidFill>
                <a:latin typeface="Times New Roman"/>
                <a:cs typeface="Times New Roman"/>
              </a:rPr>
              <a:t>Institute</a:t>
            </a:r>
            <a:r>
              <a:rPr lang="en-US" sz="1800" cap="small" spc="75" dirty="0">
                <a:solidFill>
                  <a:srgbClr val="FFFFFF"/>
                </a:solidFill>
                <a:latin typeface="Times New Roman"/>
                <a:cs typeface="Times New Roman"/>
              </a:rPr>
              <a:t> </a:t>
            </a:r>
            <a:r>
              <a:rPr lang="en-US" sz="1800" cap="small" spc="-100" dirty="0">
                <a:solidFill>
                  <a:srgbClr val="FFFFFF"/>
                </a:solidFill>
                <a:latin typeface="Times New Roman"/>
                <a:cs typeface="Times New Roman"/>
              </a:rPr>
              <a:t>of</a:t>
            </a:r>
            <a:r>
              <a:rPr lang="en-US" sz="1800" cap="small" spc="75" dirty="0">
                <a:solidFill>
                  <a:srgbClr val="FFFFFF"/>
                </a:solidFill>
                <a:latin typeface="Times New Roman"/>
                <a:cs typeface="Times New Roman"/>
              </a:rPr>
              <a:t> </a:t>
            </a:r>
            <a:r>
              <a:rPr lang="en-US" sz="1800" cap="small" spc="-140" dirty="0">
                <a:solidFill>
                  <a:srgbClr val="FFFFFF"/>
                </a:solidFill>
                <a:latin typeface="Times New Roman"/>
                <a:cs typeface="Times New Roman"/>
              </a:rPr>
              <a:t>Technology                              1</a:t>
            </a:r>
            <a:endParaRPr lang="en-US" sz="1800" dirty="0">
              <a:latin typeface="Times New Roman"/>
              <a:cs typeface="Times New Roman"/>
            </a:endParaRPr>
          </a:p>
        </p:txBody>
      </p:sp>
      <p:sp>
        <p:nvSpPr>
          <p:cNvPr id="21" name="TextBox 20">
            <a:extLst>
              <a:ext uri="{FF2B5EF4-FFF2-40B4-BE49-F238E27FC236}">
                <a16:creationId xmlns:a16="http://schemas.microsoft.com/office/drawing/2014/main" xmlns="" id="{00D44161-CDDD-7E98-7A6C-7DBBFAF7BAA2}"/>
              </a:ext>
            </a:extLst>
          </p:cNvPr>
          <p:cNvSpPr txBox="1"/>
          <p:nvPr/>
        </p:nvSpPr>
        <p:spPr>
          <a:xfrm>
            <a:off x="2913036" y="3221871"/>
            <a:ext cx="6365240" cy="369332"/>
          </a:xfrm>
          <a:prstGeom prst="rect">
            <a:avLst/>
          </a:prstGeom>
          <a:noFill/>
        </p:spPr>
        <p:txBody>
          <a:bodyPr wrap="square">
            <a:spAutoFit/>
          </a:bodyPr>
          <a:lstStyle/>
          <a:p>
            <a:pPr algn="ctr"/>
            <a:r>
              <a:rPr lang="en-US" dirty="0"/>
              <a:t>Associate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60071" y="209470"/>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9" name="object 9"/>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2</a:t>
            </a:r>
            <a:endParaRPr sz="1600" dirty="0">
              <a:latin typeface="Times New Roman"/>
              <a:cs typeface="Times New Roman"/>
            </a:endParaRPr>
          </a:p>
        </p:txBody>
      </p:sp>
      <p:sp>
        <p:nvSpPr>
          <p:cNvPr id="12" name="TextBox 11">
            <a:extLst>
              <a:ext uri="{FF2B5EF4-FFF2-40B4-BE49-F238E27FC236}">
                <a16:creationId xmlns:a16="http://schemas.microsoft.com/office/drawing/2014/main" xmlns="" id="{F9701E11-DBAB-CE68-E741-A3B1A4F51729}"/>
              </a:ext>
            </a:extLst>
          </p:cNvPr>
          <p:cNvSpPr txBox="1"/>
          <p:nvPr/>
        </p:nvSpPr>
        <p:spPr>
          <a:xfrm>
            <a:off x="33448" y="6560059"/>
            <a:ext cx="914400" cy="369332"/>
          </a:xfrm>
          <a:prstGeom prst="rect">
            <a:avLst/>
          </a:prstGeom>
          <a:noFill/>
        </p:spPr>
        <p:txBody>
          <a:bodyPr wrap="square" rtlCol="0">
            <a:spAutoFit/>
          </a:bodyPr>
          <a:lstStyle/>
          <a:p>
            <a:r>
              <a:rPr lang="en-US" dirty="0">
                <a:solidFill>
                  <a:schemeClr val="bg1"/>
                </a:solidFill>
              </a:rPr>
              <a:t>B-10</a:t>
            </a:r>
          </a:p>
        </p:txBody>
      </p:sp>
      <p:sp>
        <p:nvSpPr>
          <p:cNvPr id="8" name="TextBox 7">
            <a:extLst>
              <a:ext uri="{FF2B5EF4-FFF2-40B4-BE49-F238E27FC236}">
                <a16:creationId xmlns:a16="http://schemas.microsoft.com/office/drawing/2014/main" xmlns="" id="{2A898996-AB5B-BD2B-A3CD-6B3AD4153972}"/>
              </a:ext>
            </a:extLst>
          </p:cNvPr>
          <p:cNvSpPr txBox="1"/>
          <p:nvPr/>
        </p:nvSpPr>
        <p:spPr>
          <a:xfrm>
            <a:off x="160071" y="1051624"/>
            <a:ext cx="6240729" cy="6001643"/>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Abstract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Introduction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Objectives of Project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Literature survey for objectives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Existing System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Proposed System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Planning</a:t>
            </a:r>
          </a:p>
          <a:p>
            <a:pPr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Requirements</a:t>
            </a:r>
          </a:p>
          <a:p>
            <a:pPr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UML Diagrams</a:t>
            </a:r>
          </a:p>
          <a:p>
            <a:pPr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Flow Diagram</a:t>
            </a:r>
          </a:p>
          <a:p>
            <a:pPr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Preprocessing Techniques</a:t>
            </a:r>
          </a:p>
          <a:p>
            <a:pPr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Sample Code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Screenshots (Project Output)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References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GitHub Link</a:t>
            </a:r>
          </a:p>
          <a:p>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38" y="6624956"/>
            <a:ext cx="11395712" cy="233039"/>
            <a:chOff x="777238" y="6634572"/>
            <a:chExt cx="11395710" cy="223427"/>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34798"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r>
                <a:rPr lang="en-US" dirty="0"/>
                <a:t>  </a:t>
              </a:r>
              <a:r>
                <a:rPr lang="en-US" sz="1600" dirty="0"/>
                <a:t> 4</a:t>
              </a:r>
              <a:endParaRPr sz="1600" dirty="0"/>
            </a:p>
          </p:txBody>
        </p:sp>
      </p:grpSp>
      <p:sp>
        <p:nvSpPr>
          <p:cNvPr id="6" name="object 6"/>
          <p:cNvSpPr/>
          <p:nvPr/>
        </p:nvSpPr>
        <p:spPr>
          <a:xfrm>
            <a:off x="0" y="-5183"/>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r>
              <a:rPr lang="en-US" sz="1800" b="1" i="1" dirty="0">
                <a:solidFill>
                  <a:srgbClr val="FFFFFF"/>
                </a:solidFill>
                <a:latin typeface="Times New Roman"/>
                <a:cs typeface="Times New Roman"/>
              </a:rPr>
              <a:t>                                                                   </a:t>
            </a:r>
            <a:endParaRPr lang="en-US" sz="1500" b="1" dirty="0">
              <a:latin typeface="Times New Roman"/>
              <a:cs typeface="Times New Roman"/>
            </a:endParaRPr>
          </a:p>
          <a:p>
            <a:endParaRPr dirty="0"/>
          </a:p>
        </p:txBody>
      </p:sp>
      <p:sp>
        <p:nvSpPr>
          <p:cNvPr id="7" name="object 7"/>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marL="12700">
              <a:lnSpc>
                <a:spcPts val="1845"/>
              </a:lnSpc>
            </a:pPr>
            <a:r>
              <a:rPr lang="en-US" sz="1600" spc="-25" dirty="0">
                <a:solidFill>
                  <a:schemeClr val="bg1"/>
                </a:solidFill>
              </a:rPr>
              <a:t>  B - 10</a:t>
            </a:r>
          </a:p>
        </p:txBody>
      </p:sp>
      <p:sp>
        <p:nvSpPr>
          <p:cNvPr id="10" name="object 9">
            <a:extLst>
              <a:ext uri="{FF2B5EF4-FFF2-40B4-BE49-F238E27FC236}">
                <a16:creationId xmlns:a16="http://schemas.microsoft.com/office/drawing/2014/main" xmlns="" id="{541F5DB9-DC70-842B-1465-3F4E1CFFEA66}"/>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3" name="object 5">
            <a:extLst>
              <a:ext uri="{FF2B5EF4-FFF2-40B4-BE49-F238E27FC236}">
                <a16:creationId xmlns:a16="http://schemas.microsoft.com/office/drawing/2014/main" xmlns="" id="{1F8162E0-03D8-FFC9-68AC-DDFC70A7433A}"/>
              </a:ext>
            </a:extLst>
          </p:cNvPr>
          <p:cNvSpPr/>
          <p:nvPr/>
        </p:nvSpPr>
        <p:spPr>
          <a:xfrm>
            <a:off x="-10350" y="233044"/>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sp>
        <p:nvSpPr>
          <p:cNvPr id="12" name="TextBox 11">
            <a:extLst>
              <a:ext uri="{FF2B5EF4-FFF2-40B4-BE49-F238E27FC236}">
                <a16:creationId xmlns:a16="http://schemas.microsoft.com/office/drawing/2014/main" xmlns="" id="{5CF40C25-388B-8BFE-A772-519ED202E660}"/>
              </a:ext>
            </a:extLst>
          </p:cNvPr>
          <p:cNvSpPr txBox="1"/>
          <p:nvPr/>
        </p:nvSpPr>
        <p:spPr>
          <a:xfrm>
            <a:off x="6559061" y="6629793"/>
            <a:ext cx="5195135" cy="553998"/>
          </a:xfrm>
          <a:prstGeom prst="rect">
            <a:avLst/>
          </a:prstGeom>
          <a:noFill/>
        </p:spPr>
        <p:txBody>
          <a:bodyPr wrap="square">
            <a:spAutoFit/>
          </a:bodyPr>
          <a:lstStyle/>
          <a:p>
            <a:pPr marL="12700">
              <a:lnSpc>
                <a:spcPts val="1845"/>
              </a:lnSpc>
            </a:pPr>
            <a:r>
              <a:rPr lang="en-US" sz="1800" cap="small" spc="-105" dirty="0">
                <a:solidFill>
                  <a:srgbClr val="FFFFFF"/>
                </a:solidFill>
                <a:latin typeface="Times New Roman"/>
                <a:cs typeface="Times New Roman"/>
              </a:rPr>
              <a:t>Srinivasa</a:t>
            </a:r>
            <a:r>
              <a:rPr lang="en-US" sz="1800" cap="small" spc="70" dirty="0">
                <a:solidFill>
                  <a:srgbClr val="FFFFFF"/>
                </a:solidFill>
                <a:latin typeface="Times New Roman"/>
                <a:cs typeface="Times New Roman"/>
              </a:rPr>
              <a:t> </a:t>
            </a:r>
            <a:r>
              <a:rPr lang="en-US" sz="1800" cap="small" spc="-120" dirty="0">
                <a:solidFill>
                  <a:srgbClr val="FFFFFF"/>
                </a:solidFill>
                <a:latin typeface="Times New Roman"/>
                <a:cs typeface="Times New Roman"/>
              </a:rPr>
              <a:t>Ramanujan</a:t>
            </a:r>
            <a:r>
              <a:rPr lang="en-US" sz="1800" cap="small" spc="75" dirty="0">
                <a:solidFill>
                  <a:srgbClr val="FFFFFF"/>
                </a:solidFill>
                <a:latin typeface="Times New Roman"/>
                <a:cs typeface="Times New Roman"/>
              </a:rPr>
              <a:t> </a:t>
            </a:r>
            <a:r>
              <a:rPr lang="en-US" sz="1800" cap="small" spc="-110" dirty="0">
                <a:solidFill>
                  <a:srgbClr val="FFFFFF"/>
                </a:solidFill>
                <a:latin typeface="Times New Roman"/>
                <a:cs typeface="Times New Roman"/>
              </a:rPr>
              <a:t>Institute</a:t>
            </a:r>
            <a:r>
              <a:rPr lang="en-US" sz="1800" cap="small" spc="75" dirty="0">
                <a:solidFill>
                  <a:srgbClr val="FFFFFF"/>
                </a:solidFill>
                <a:latin typeface="Times New Roman"/>
                <a:cs typeface="Times New Roman"/>
              </a:rPr>
              <a:t> </a:t>
            </a:r>
            <a:r>
              <a:rPr lang="en-US" sz="1800" cap="small" spc="-100" dirty="0">
                <a:solidFill>
                  <a:srgbClr val="FFFFFF"/>
                </a:solidFill>
                <a:latin typeface="Times New Roman"/>
                <a:cs typeface="Times New Roman"/>
              </a:rPr>
              <a:t>of</a:t>
            </a:r>
            <a:r>
              <a:rPr lang="en-US" sz="1800" cap="small" spc="75" dirty="0">
                <a:solidFill>
                  <a:srgbClr val="FFFFFF"/>
                </a:solidFill>
                <a:latin typeface="Times New Roman"/>
                <a:cs typeface="Times New Roman"/>
              </a:rPr>
              <a:t> </a:t>
            </a:r>
            <a:r>
              <a:rPr lang="en-US" sz="1800" cap="small" spc="-140" dirty="0">
                <a:solidFill>
                  <a:srgbClr val="FFFFFF"/>
                </a:solidFill>
                <a:latin typeface="Times New Roman"/>
                <a:cs typeface="Times New Roman"/>
              </a:rPr>
              <a:t>Technology</a:t>
            </a:r>
            <a:endParaRPr lang="en-US" sz="1800" dirty="0">
              <a:latin typeface="Times New Roman"/>
              <a:cs typeface="Times New Roman"/>
            </a:endParaRPr>
          </a:p>
          <a:p>
            <a:pPr marL="12700">
              <a:lnSpc>
                <a:spcPts val="1845"/>
              </a:lnSpc>
            </a:pPr>
            <a:endParaRPr lang="en-US" sz="1800" dirty="0">
              <a:latin typeface="Times New Roman"/>
              <a:cs typeface="Times New Roman"/>
            </a:endParaRPr>
          </a:p>
        </p:txBody>
      </p:sp>
      <p:sp>
        <p:nvSpPr>
          <p:cNvPr id="8" name="object 8"/>
          <p:cNvSpPr txBox="1">
            <a:spLocks noGrp="1"/>
          </p:cNvSpPr>
          <p:nvPr>
            <p:ph type="title"/>
          </p:nvPr>
        </p:nvSpPr>
        <p:spPr>
          <a:xfrm>
            <a:off x="379193" y="176499"/>
            <a:ext cx="1915160" cy="695960"/>
          </a:xfrm>
          <a:prstGeom prst="rect">
            <a:avLst/>
          </a:prstGeom>
        </p:spPr>
        <p:txBody>
          <a:bodyPr vert="horz" wrap="square" lIns="0" tIns="12700" rIns="0" bIns="0" rtlCol="0">
            <a:spAutoFit/>
          </a:bodyPr>
          <a:lstStyle/>
          <a:p>
            <a:pPr marL="12700">
              <a:lnSpc>
                <a:spcPct val="100000"/>
              </a:lnSpc>
              <a:spcBef>
                <a:spcPts val="100"/>
              </a:spcBef>
            </a:pPr>
            <a:r>
              <a:rPr lang="en-IN" spc="-10" dirty="0"/>
              <a:t>Abstract</a:t>
            </a:r>
            <a:endParaRPr spc="-10" dirty="0"/>
          </a:p>
        </p:txBody>
      </p:sp>
      <p:sp>
        <p:nvSpPr>
          <p:cNvPr id="14" name="TextBox 13">
            <a:extLst>
              <a:ext uri="{FF2B5EF4-FFF2-40B4-BE49-F238E27FC236}">
                <a16:creationId xmlns:a16="http://schemas.microsoft.com/office/drawing/2014/main" xmlns="" id="{29A68E3C-6099-B180-7254-EAAF8399ED3B}"/>
              </a:ext>
            </a:extLst>
          </p:cNvPr>
          <p:cNvSpPr txBox="1"/>
          <p:nvPr/>
        </p:nvSpPr>
        <p:spPr>
          <a:xfrm>
            <a:off x="203010" y="1448752"/>
            <a:ext cx="11963400" cy="489364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The Smart Fertilizer Spraying System with Plant Disease Severity Analysis is an automated agricultural robot designed to enhance crop management through precision farming. The system employs a Raspberry Pi equipped with a USB camera to capture plant images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disease severity using advanced image processing techniques. Based on the detected severity levels, the system dynamically regulates fertilizer spraying duration through three dedicated nozzles, ensuring precise application and minimizing wastage.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An Arduino microcontroller manages the operation of DC motors, water pumps, relays, and the robot chassis for efficient movement. Powered by a 12V battery and supported by a 9V solar panel, the system offers sustainable and energy-efficient operation. Bluetooth connectivity facilitates wireless monitoring and control. By combining disease severity detection with intelligent fertilizer management, this system reduces human intervention, optimizes resource utilization, and promotes eco-friendly farming practices</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4111" y="78755"/>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04577" y="201000"/>
            <a:ext cx="3856552" cy="689932"/>
          </a:xfrm>
          <a:prstGeom prst="rect">
            <a:avLst/>
          </a:prstGeom>
        </p:spPr>
        <p:txBody>
          <a:bodyPr vert="horz" wrap="square" lIns="0" tIns="12700" rIns="0" bIns="0" rtlCol="0">
            <a:spAutoFit/>
          </a:bodyPr>
          <a:lstStyle/>
          <a:p>
            <a:pPr marL="12700">
              <a:lnSpc>
                <a:spcPct val="100000"/>
              </a:lnSpc>
              <a:spcBef>
                <a:spcPts val="100"/>
              </a:spcBef>
            </a:pPr>
            <a:r>
              <a:rPr spc="-10" dirty="0"/>
              <a:t>Introduction</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r>
              <a:rPr cap="small" spc="-95" dirty="0"/>
              <a:t>Science)</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4</a:t>
            </a:fld>
            <a:endParaRPr spc="-25" dirty="0"/>
          </a:p>
        </p:txBody>
      </p:sp>
      <p:sp>
        <p:nvSpPr>
          <p:cNvPr id="10" name="object 10"/>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4" name="TextBox 13">
            <a:extLst>
              <a:ext uri="{FF2B5EF4-FFF2-40B4-BE49-F238E27FC236}">
                <a16:creationId xmlns:a16="http://schemas.microsoft.com/office/drawing/2014/main" xmlns="" id="{4C1451A4-759F-E2B2-5571-50D7B7C9E59F}"/>
              </a:ext>
            </a:extLst>
          </p:cNvPr>
          <p:cNvSpPr txBox="1"/>
          <p:nvPr/>
        </p:nvSpPr>
        <p:spPr>
          <a:xfrm>
            <a:off x="-28224" y="904312"/>
            <a:ext cx="12206113" cy="5632311"/>
          </a:xfrm>
          <a:prstGeom prst="rect">
            <a:avLst/>
          </a:prstGeom>
          <a:noFill/>
        </p:spPr>
        <p:txBody>
          <a:bodyPr wrap="square">
            <a:spAutoFit/>
          </a:bodyPr>
          <a:lstStyle/>
          <a:p>
            <a:pPr marL="0" lvl="0" indent="0" algn="just" defTabSz="914400" eaLnBrk="0" fontAlgn="base" hangingPunct="0">
              <a:spcBef>
                <a:spcPct val="0"/>
              </a:spcBef>
              <a:spcAft>
                <a:spcPct val="0"/>
              </a:spcAft>
              <a:buClrTx/>
              <a:buSzTx/>
              <a:buNone/>
            </a:pPr>
            <a:r>
              <a:rPr lang="en-US" sz="2400" dirty="0">
                <a:latin typeface="Times New Roman" panose="02020603050405020304" pitchFamily="18" charset="0"/>
                <a:cs typeface="Times New Roman" panose="02020603050405020304" pitchFamily="18" charset="0"/>
              </a:rPr>
              <a:t>The Smart Fertilizer Spraying System with Plant Disease Severity Analysis is an automated agricultural robot developed to improve crop management through precision farming. The system uses a Raspberry Pi integrated with a USB camera to capture plant images and analyze disease severity using advanced image processing techniques. Based on the detected severity levels, the system automatically controls the fertilizer spraying process by adjusting the spray duration through three dedicated nozzles, ensuring accurate application while minimizing fertilizer wastage. </a:t>
            </a:r>
          </a:p>
          <a:p>
            <a:pPr marL="0" lvl="0" indent="0" algn="just" defTabSz="914400" eaLnBrk="0" fontAlgn="base" hangingPunct="0">
              <a:spcBef>
                <a:spcPct val="0"/>
              </a:spcBef>
              <a:spcAft>
                <a:spcPct val="0"/>
              </a:spcAft>
              <a:buClrTx/>
              <a:buSzTx/>
              <a:buNone/>
            </a:pPr>
            <a:endParaRPr lang="en-US" sz="2400" dirty="0">
              <a:latin typeface="Times New Roman" panose="02020603050405020304" pitchFamily="18" charset="0"/>
              <a:cs typeface="Times New Roman" panose="02020603050405020304" pitchFamily="18" charset="0"/>
            </a:endParaRPr>
          </a:p>
          <a:p>
            <a:pPr marL="0" lvl="0" indent="0" algn="just" defTabSz="914400" eaLnBrk="0" fontAlgn="base" hangingPunct="0">
              <a:spcBef>
                <a:spcPct val="0"/>
              </a:spcBef>
              <a:spcAft>
                <a:spcPct val="0"/>
              </a:spcAft>
              <a:buClrTx/>
              <a:buSzTx/>
              <a:buNone/>
            </a:pPr>
            <a:r>
              <a:rPr lang="en-US" sz="2400" dirty="0">
                <a:latin typeface="Times New Roman" panose="02020603050405020304" pitchFamily="18" charset="0"/>
                <a:cs typeface="Times New Roman" panose="02020603050405020304" pitchFamily="18" charset="0"/>
              </a:rPr>
              <a:t>An Arduino microcontroller manages the robot’s movement and controls hardware components such as DC motors, water pumps, relays, and the chassis to enable efficient field navigation. The system is powered by a 12V battery supported by a 9V solar panel, providing sustainable and energy-efficient operation. Bluetooth connectivity allows wireless monitoring and control of the system. By integrating plant disease severity detection with intelligent fertilizer management, the proposed system reduces human intervention, optimizes resource utilization, and promotes eco-friendly and sustainable agricultural practices.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F603640-8082-4B57-E585-62087834913D}"/>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xmlns="" id="{6E9640A7-3647-25D9-31BB-9280B8ECFFF6}"/>
              </a:ext>
            </a:extLst>
          </p:cNvPr>
          <p:cNvGrpSpPr/>
          <p:nvPr/>
        </p:nvGrpSpPr>
        <p:grpSpPr>
          <a:xfrm>
            <a:off x="-14111" y="78755"/>
            <a:ext cx="12192000" cy="803910"/>
            <a:chOff x="-2" y="216249"/>
            <a:chExt cx="12192000" cy="803910"/>
          </a:xfrm>
        </p:grpSpPr>
        <p:pic>
          <p:nvPicPr>
            <p:cNvPr id="4" name="object 4">
              <a:extLst>
                <a:ext uri="{FF2B5EF4-FFF2-40B4-BE49-F238E27FC236}">
                  <a16:creationId xmlns:a16="http://schemas.microsoft.com/office/drawing/2014/main" xmlns="" id="{E7F9B45C-7AEE-B4A1-1106-4CE45B88FE7C}"/>
                </a:ext>
              </a:extLst>
            </p:cNvPr>
            <p:cNvPicPr/>
            <p:nvPr/>
          </p:nvPicPr>
          <p:blipFill>
            <a:blip r:embed="rId2"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702A45AA-FF3F-592C-4B26-80078D53FD8C}"/>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xmlns="" id="{38F8DCF9-43CD-09DA-7CA2-284777F953E7}"/>
              </a:ext>
            </a:extLst>
          </p:cNvPr>
          <p:cNvSpPr txBox="1">
            <a:spLocks noGrp="1"/>
          </p:cNvSpPr>
          <p:nvPr>
            <p:ph type="title"/>
          </p:nvPr>
        </p:nvSpPr>
        <p:spPr>
          <a:xfrm>
            <a:off x="104576" y="201000"/>
            <a:ext cx="6143823" cy="689932"/>
          </a:xfrm>
          <a:prstGeom prst="rect">
            <a:avLst/>
          </a:prstGeom>
        </p:spPr>
        <p:txBody>
          <a:bodyPr vert="horz" wrap="square" lIns="0" tIns="12700" rIns="0" bIns="0" rtlCol="0">
            <a:spAutoFit/>
          </a:bodyPr>
          <a:lstStyle/>
          <a:p>
            <a:pPr marL="12700">
              <a:lnSpc>
                <a:spcPct val="100000"/>
              </a:lnSpc>
              <a:spcBef>
                <a:spcPts val="100"/>
              </a:spcBef>
            </a:pPr>
            <a:r>
              <a:rPr lang="en-IN" spc="-10" dirty="0"/>
              <a:t>Objectives Of Project</a:t>
            </a:r>
            <a:endParaRPr spc="-10" dirty="0"/>
          </a:p>
        </p:txBody>
      </p:sp>
      <p:sp>
        <p:nvSpPr>
          <p:cNvPr id="8" name="object 8">
            <a:extLst>
              <a:ext uri="{FF2B5EF4-FFF2-40B4-BE49-F238E27FC236}">
                <a16:creationId xmlns:a16="http://schemas.microsoft.com/office/drawing/2014/main" xmlns="" id="{61B3BC52-706C-4E4F-55A1-8744DEF3404F}"/>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a16="http://schemas.microsoft.com/office/drawing/2014/main" xmlns="" id="{CC71CEDC-2945-E7CC-D988-3F3097DDB8C2}"/>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r>
              <a:rPr cap="small" spc="-95" dirty="0"/>
              <a:t>Science)</a:t>
            </a:r>
          </a:p>
        </p:txBody>
      </p:sp>
      <p:sp>
        <p:nvSpPr>
          <p:cNvPr id="11" name="object 11">
            <a:extLst>
              <a:ext uri="{FF2B5EF4-FFF2-40B4-BE49-F238E27FC236}">
                <a16:creationId xmlns:a16="http://schemas.microsoft.com/office/drawing/2014/main" xmlns="" id="{989FB7AB-F4C3-1293-30FD-2BBE9E7940E4}"/>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5</a:t>
            </a:fld>
            <a:endParaRPr spc="-25" dirty="0"/>
          </a:p>
        </p:txBody>
      </p:sp>
      <p:sp>
        <p:nvSpPr>
          <p:cNvPr id="10" name="object 10">
            <a:extLst>
              <a:ext uri="{FF2B5EF4-FFF2-40B4-BE49-F238E27FC236}">
                <a16:creationId xmlns:a16="http://schemas.microsoft.com/office/drawing/2014/main" xmlns="" id="{86106A82-0EA6-1E8D-709E-0E4799987545}"/>
              </a:ext>
            </a:extLst>
          </p:cNvPr>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TextBox 11">
            <a:extLst>
              <a:ext uri="{FF2B5EF4-FFF2-40B4-BE49-F238E27FC236}">
                <a16:creationId xmlns:a16="http://schemas.microsoft.com/office/drawing/2014/main" xmlns="" id="{4BAD7648-1607-1773-1EC4-0BC7A0453780}"/>
              </a:ext>
            </a:extLst>
          </p:cNvPr>
          <p:cNvSpPr txBox="1"/>
          <p:nvPr/>
        </p:nvSpPr>
        <p:spPr>
          <a:xfrm>
            <a:off x="304800" y="996667"/>
            <a:ext cx="10363200" cy="5262979"/>
          </a:xfrm>
          <a:prstGeom prst="rect">
            <a:avLst/>
          </a:prstGeom>
          <a:noFill/>
        </p:spPr>
        <p:txBody>
          <a:bodyPr wrap="square" rtlCol="0">
            <a:spAutoFit/>
          </a:bodyPr>
          <a:lstStyle/>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implement </a:t>
            </a:r>
            <a:r>
              <a:rPr lang="en-US" sz="2400" b="1" dirty="0">
                <a:latin typeface="Times New Roman" panose="02020603050405020304" pitchFamily="18" charset="0"/>
                <a:cs typeface="Times New Roman" panose="02020603050405020304" pitchFamily="18" charset="0"/>
              </a:rPr>
              <a:t>plant disease severity analysis</a:t>
            </a:r>
            <a:r>
              <a:rPr lang="en-US" sz="2400" dirty="0">
                <a:latin typeface="Times New Roman" panose="02020603050405020304" pitchFamily="18" charset="0"/>
                <a:cs typeface="Times New Roman" panose="02020603050405020304" pitchFamily="18" charset="0"/>
              </a:rPr>
              <a:t> using image processing techniques.</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capture real-time crop images using a </a:t>
            </a:r>
            <a:r>
              <a:rPr lang="en-US" sz="2400" b="1" dirty="0">
                <a:latin typeface="Times New Roman" panose="02020603050405020304" pitchFamily="18" charset="0"/>
                <a:cs typeface="Times New Roman" panose="02020603050405020304" pitchFamily="18" charset="0"/>
              </a:rPr>
              <a:t>Raspberry Pi with USB camera</a:t>
            </a:r>
            <a:r>
              <a:rPr lang="en-US" sz="2400" dirty="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classify disease severity levels accurately for effective treatment.</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automatically control </a:t>
            </a:r>
            <a:r>
              <a:rPr lang="en-US" sz="2400" b="1" dirty="0">
                <a:latin typeface="Times New Roman" panose="02020603050405020304" pitchFamily="18" charset="0"/>
                <a:cs typeface="Times New Roman" panose="02020603050405020304" pitchFamily="18" charset="0"/>
              </a:rPr>
              <a:t>fertilizer spraying duration</a:t>
            </a:r>
            <a:r>
              <a:rPr lang="en-US" sz="2400" dirty="0">
                <a:latin typeface="Times New Roman" panose="02020603050405020304" pitchFamily="18" charset="0"/>
                <a:cs typeface="Times New Roman" panose="02020603050405020304" pitchFamily="18" charset="0"/>
              </a:rPr>
              <a:t> based on detected severity.</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ensure </a:t>
            </a:r>
            <a:r>
              <a:rPr lang="en-US" sz="2400" b="1" dirty="0">
                <a:latin typeface="Times New Roman" panose="02020603050405020304" pitchFamily="18" charset="0"/>
                <a:cs typeface="Times New Roman" panose="02020603050405020304" pitchFamily="18" charset="0"/>
              </a:rPr>
              <a:t>precise fertilizer application</a:t>
            </a:r>
            <a:r>
              <a:rPr lang="en-US" sz="2400" dirty="0">
                <a:latin typeface="Times New Roman" panose="02020603050405020304" pitchFamily="18" charset="0"/>
                <a:cs typeface="Times New Roman" panose="02020603050405020304" pitchFamily="18" charset="0"/>
              </a:rPr>
              <a:t> using multiple dedicated nozzles.</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reduce </a:t>
            </a:r>
            <a:r>
              <a:rPr lang="en-US" sz="2400" b="1" dirty="0">
                <a:latin typeface="Times New Roman" panose="02020603050405020304" pitchFamily="18" charset="0"/>
                <a:cs typeface="Times New Roman" panose="02020603050405020304" pitchFamily="18" charset="0"/>
              </a:rPr>
              <a:t>fertilizer wastage</a:t>
            </a:r>
            <a:r>
              <a:rPr lang="en-US" sz="2400" dirty="0">
                <a:latin typeface="Times New Roman" panose="02020603050405020304" pitchFamily="18" charset="0"/>
                <a:cs typeface="Times New Roman" panose="02020603050405020304" pitchFamily="18" charset="0"/>
              </a:rPr>
              <a:t> and prevent environmental damage.</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integrate </a:t>
            </a:r>
            <a:r>
              <a:rPr lang="en-US" sz="2400" b="1" dirty="0">
                <a:latin typeface="Times New Roman" panose="02020603050405020304" pitchFamily="18" charset="0"/>
                <a:cs typeface="Times New Roman" panose="02020603050405020304" pitchFamily="18" charset="0"/>
              </a:rPr>
              <a:t>Arduino-based control</a:t>
            </a:r>
            <a:r>
              <a:rPr lang="en-US" sz="2400" dirty="0">
                <a:latin typeface="Times New Roman" panose="02020603050405020304" pitchFamily="18" charset="0"/>
                <a:cs typeface="Times New Roman" panose="02020603050405020304" pitchFamily="18" charset="0"/>
              </a:rPr>
              <a:t> for robot movement and hardware operations.</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provide </a:t>
            </a:r>
            <a:r>
              <a:rPr lang="en-US" sz="2400" b="1" dirty="0">
                <a:latin typeface="Times New Roman" panose="02020603050405020304" pitchFamily="18" charset="0"/>
                <a:cs typeface="Times New Roman" panose="02020603050405020304" pitchFamily="18" charset="0"/>
              </a:rPr>
              <a:t>wireless monitoring and control</a:t>
            </a:r>
            <a:r>
              <a:rPr lang="en-US" sz="2400" dirty="0">
                <a:latin typeface="Times New Roman" panose="02020603050405020304" pitchFamily="18" charset="0"/>
                <a:cs typeface="Times New Roman" panose="02020603050405020304" pitchFamily="18" charset="0"/>
              </a:rPr>
              <a:t> using Bluetooth technology.</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promote </a:t>
            </a:r>
            <a:r>
              <a:rPr lang="en-US" sz="2400" b="1" dirty="0">
                <a:latin typeface="Times New Roman" panose="02020603050405020304" pitchFamily="18" charset="0"/>
                <a:cs typeface="Times New Roman" panose="02020603050405020304" pitchFamily="18" charset="0"/>
              </a:rPr>
              <a:t>eco-friendly, energy-efficient, and sustainable farming practices</a:t>
            </a:r>
            <a:r>
              <a:rPr lang="en-US" sz="2400" dirty="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minimize </a:t>
            </a:r>
            <a:r>
              <a:rPr lang="en-US" sz="2400" b="1" dirty="0">
                <a:latin typeface="Times New Roman" panose="02020603050405020304" pitchFamily="18" charset="0"/>
                <a:cs typeface="Times New Roman" panose="02020603050405020304" pitchFamily="18" charset="0"/>
              </a:rPr>
              <a:t>human intervention</a:t>
            </a:r>
            <a:r>
              <a:rPr lang="en-US" sz="2400" dirty="0">
                <a:latin typeface="Times New Roman" panose="02020603050405020304" pitchFamily="18" charset="0"/>
                <a:cs typeface="Times New Roman" panose="02020603050405020304" pitchFamily="18" charset="0"/>
              </a:rPr>
              <a:t> in fertilizer spraying operations.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073166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A5AF4F7-60A0-8052-A532-FAAF8F770F3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xmlns="" id="{BF17AB8C-28FD-416E-B7EA-F84C0D321917}"/>
              </a:ext>
            </a:extLst>
          </p:cNvPr>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a:extLst>
              <a:ext uri="{FF2B5EF4-FFF2-40B4-BE49-F238E27FC236}">
                <a16:creationId xmlns:a16="http://schemas.microsoft.com/office/drawing/2014/main" xmlns="" id="{9FD2D5D8-2FFC-F7C0-1C82-C95AE79F97A3}"/>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xmlns="" id="{51E6B5A9-CE76-F315-F1C8-B29B33219D72}"/>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955BC3F1-7437-0EC6-2797-23AE2C4A7772}"/>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xmlns="" id="{0093C833-898A-E91C-40A3-1287C9945E2B}"/>
              </a:ext>
            </a:extLst>
          </p:cNvPr>
          <p:cNvSpPr txBox="1">
            <a:spLocks noGrp="1"/>
          </p:cNvSpPr>
          <p:nvPr>
            <p:ph type="title"/>
          </p:nvPr>
        </p:nvSpPr>
        <p:spPr>
          <a:xfrm>
            <a:off x="160070" y="209470"/>
            <a:ext cx="6088329" cy="689932"/>
          </a:xfrm>
          <a:prstGeom prst="rect">
            <a:avLst/>
          </a:prstGeom>
        </p:spPr>
        <p:txBody>
          <a:bodyPr vert="horz" wrap="square" lIns="0" tIns="12700" rIns="0" bIns="0" rtlCol="0">
            <a:spAutoFit/>
          </a:bodyPr>
          <a:lstStyle/>
          <a:p>
            <a:pPr marL="12700">
              <a:lnSpc>
                <a:spcPct val="100000"/>
              </a:lnSpc>
              <a:spcBef>
                <a:spcPts val="100"/>
              </a:spcBef>
            </a:pPr>
            <a:r>
              <a:rPr lang="en-IN" spc="-10" dirty="0"/>
              <a:t>Literature Survey</a:t>
            </a:r>
            <a:endParaRPr spc="-10" dirty="0"/>
          </a:p>
        </p:txBody>
      </p:sp>
      <p:sp>
        <p:nvSpPr>
          <p:cNvPr id="8" name="object 8">
            <a:extLst>
              <a:ext uri="{FF2B5EF4-FFF2-40B4-BE49-F238E27FC236}">
                <a16:creationId xmlns:a16="http://schemas.microsoft.com/office/drawing/2014/main" xmlns="" id="{79BCD00C-EDB6-66A6-2B75-89EE125278C8}"/>
              </a:ext>
            </a:extLst>
          </p:cNvPr>
          <p:cNvSpPr txBox="1">
            <a:spLocks noGrp="1"/>
          </p:cNvSpPr>
          <p:nvPr>
            <p:ph type="ftr" sz="quarter" idx="5"/>
          </p:nvPr>
        </p:nvSpPr>
        <p:spPr>
          <a:xfrm>
            <a:off x="127031" y="6639305"/>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a16="http://schemas.microsoft.com/office/drawing/2014/main" xmlns="" id="{04894AD3-71EB-A970-E129-2F92F63A2D90}"/>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a:extLst>
              <a:ext uri="{FF2B5EF4-FFF2-40B4-BE49-F238E27FC236}">
                <a16:creationId xmlns:a16="http://schemas.microsoft.com/office/drawing/2014/main" xmlns="" id="{45C498E2-E5A9-DB32-EF6E-1ED81B24E968}"/>
              </a:ext>
            </a:extLst>
          </p:cNvPr>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xmlns="" id="{1EBDED12-5E0F-9CCF-19AE-FA6DE7F2CC52}"/>
              </a:ext>
            </a:extLst>
          </p:cNvPr>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6</a:t>
            </a:r>
            <a:endParaRPr sz="1600" dirty="0">
              <a:latin typeface="Times New Roman"/>
              <a:cs typeface="Times New Roman"/>
            </a:endParaRPr>
          </a:p>
        </p:txBody>
      </p:sp>
      <p:sp>
        <p:nvSpPr>
          <p:cNvPr id="15" name="TextBox 14">
            <a:extLst>
              <a:ext uri="{FF2B5EF4-FFF2-40B4-BE49-F238E27FC236}">
                <a16:creationId xmlns:a16="http://schemas.microsoft.com/office/drawing/2014/main" xmlns="" id="{06C27353-C81E-6D02-EDD9-9B798985605C}"/>
              </a:ext>
            </a:extLst>
          </p:cNvPr>
          <p:cNvSpPr txBox="1"/>
          <p:nvPr/>
        </p:nvSpPr>
        <p:spPr>
          <a:xfrm>
            <a:off x="155388" y="1108871"/>
            <a:ext cx="12036611" cy="5139869"/>
          </a:xfrm>
          <a:prstGeom prst="rect">
            <a:avLst/>
          </a:prstGeom>
          <a:noFill/>
        </p:spPr>
        <p:txBody>
          <a:bodyPr wrap="square">
            <a:spAutoFit/>
          </a:bodyPr>
          <a:lstStyle/>
          <a:p>
            <a:pPr marL="457200" indent="-457200">
              <a:buAutoNum type="arabicPeriod"/>
            </a:pPr>
            <a:r>
              <a:rPr lang="en-US" sz="2400" b="1" dirty="0"/>
              <a:t>Plant Disease Detection System for Smart Agriculture:</a:t>
            </a:r>
          </a:p>
          <a:p>
            <a:r>
              <a:rPr lang="en-US" sz="2000" dirty="0">
                <a:latin typeface="Times New Roman" panose="02020603050405020304" pitchFamily="18" charset="0"/>
                <a:cs typeface="Times New Roman" panose="02020603050405020304" pitchFamily="18" charset="0"/>
              </a:rPr>
              <a:t>The Indian economy relies on agriculture to a great extent. In traditional agricultural practices, farmers identify crop diseases either through direct visual inspection or by consulting experts, sometimes by sharing diseased crop images through online services. However, continuous monitoring and assessment of disease severity cannot be performed manually, often leading to delayed treatment and increased crop loss.</a:t>
            </a:r>
          </a:p>
          <a:p>
            <a:r>
              <a:rPr lang="en-US" sz="2000" dirty="0">
                <a:latin typeface="Times New Roman" panose="02020603050405020304" pitchFamily="18" charset="0"/>
                <a:cs typeface="Times New Roman" panose="02020603050405020304" pitchFamily="18" charset="0"/>
              </a:rPr>
              <a:t>In the plant disease detection system, the image to be tested is acquired, pre-processed, segmented, and analyzed to determine both the type of disease and its severity level. The classification and severity estimation are performed using a probabilistic linear classifier, namely the Naive Bayes algorithm. The system is developed using Android</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Studio, and python is used as the programming language.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application identifies plant diseases based on pixel intensity analysis and evaluates the extent of disease spread </a:t>
            </a:r>
            <a:r>
              <a:rPr lang="en-US" sz="2000" b="1" dirty="0">
                <a:latin typeface="Times New Roman" panose="02020603050405020304" pitchFamily="18" charset="0"/>
                <a:cs typeface="Times New Roman" panose="02020603050405020304" pitchFamily="18" charset="0"/>
              </a:rPr>
              <a:t>(severity)</a:t>
            </a:r>
            <a:r>
              <a:rPr lang="en-US" sz="2000" dirty="0">
                <a:latin typeface="Times New Roman" panose="02020603050405020304" pitchFamily="18" charset="0"/>
                <a:cs typeface="Times New Roman" panose="02020603050405020304" pitchFamily="18" charset="0"/>
              </a:rPr>
              <a:t> on the affected leaves. Based on the detected severity level, the system predicts plant growth conditions and provides recommendations for appropriate fertilizers and pesticides. The developed system achieves an accuracy and its implementation reduces manpower requirements while improving productivity through timely and severity-based intervention.</a:t>
            </a:r>
          </a:p>
          <a:p>
            <a:pPr marL="0" indent="0">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868900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p:cNvSpPr txBox="1">
            <a:spLocks noGrp="1"/>
          </p:cNvSpPr>
          <p:nvPr>
            <p:ph type="title"/>
          </p:nvPr>
        </p:nvSpPr>
        <p:spPr>
          <a:xfrm>
            <a:off x="228600" y="216249"/>
            <a:ext cx="3946525" cy="695960"/>
          </a:xfrm>
          <a:prstGeom prst="rect">
            <a:avLst/>
          </a:prstGeom>
        </p:spPr>
        <p:txBody>
          <a:bodyPr vert="horz" wrap="square" lIns="0" tIns="12700" rIns="0" bIns="0" rtlCol="0">
            <a:spAutoFit/>
          </a:bodyPr>
          <a:lstStyle/>
          <a:p>
            <a:pPr marL="12700">
              <a:lnSpc>
                <a:spcPct val="100000"/>
              </a:lnSpc>
              <a:spcBef>
                <a:spcPts val="100"/>
              </a:spcBef>
            </a:pPr>
            <a:r>
              <a:rPr dirty="0"/>
              <a:t>Literature</a:t>
            </a:r>
            <a:r>
              <a:rPr spc="-50" dirty="0"/>
              <a:t> </a:t>
            </a:r>
            <a:r>
              <a:rPr spc="-10" dirty="0"/>
              <a:t>Survey</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endParaRPr cap="small" spc="-95" dirty="0"/>
          </a:p>
        </p:txBody>
      </p:sp>
      <p:sp>
        <p:nvSpPr>
          <p:cNvPr id="10" name="object 10"/>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7</a:t>
            </a:fld>
            <a:endParaRPr spc="-25" dirty="0"/>
          </a:p>
        </p:txBody>
      </p:sp>
      <p:sp>
        <p:nvSpPr>
          <p:cNvPr id="13" name="Rectangle 12">
            <a:extLst>
              <a:ext uri="{FF2B5EF4-FFF2-40B4-BE49-F238E27FC236}">
                <a16:creationId xmlns:a16="http://schemas.microsoft.com/office/drawing/2014/main" xmlns="" id="{D1C4E9E8-EE25-1745-B030-5644C2327CEE}"/>
              </a:ext>
            </a:extLst>
          </p:cNvPr>
          <p:cNvSpPr/>
          <p:nvPr/>
        </p:nvSpPr>
        <p:spPr>
          <a:xfrm>
            <a:off x="11460148" y="5939532"/>
            <a:ext cx="685800" cy="6857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1"/>
                </a:solidFill>
              </a:ln>
            </a:endParaRPr>
          </a:p>
        </p:txBody>
      </p:sp>
      <p:sp>
        <p:nvSpPr>
          <p:cNvPr id="12" name="TextBox 11">
            <a:extLst>
              <a:ext uri="{FF2B5EF4-FFF2-40B4-BE49-F238E27FC236}">
                <a16:creationId xmlns:a16="http://schemas.microsoft.com/office/drawing/2014/main" xmlns="" id="{54DC6A21-A96F-02AA-6030-BED8C9E2DB5C}"/>
              </a:ext>
            </a:extLst>
          </p:cNvPr>
          <p:cNvSpPr txBox="1"/>
          <p:nvPr/>
        </p:nvSpPr>
        <p:spPr>
          <a:xfrm>
            <a:off x="35560" y="989150"/>
            <a:ext cx="11477823" cy="5940088"/>
          </a:xfrm>
          <a:prstGeom prst="rect">
            <a:avLst/>
          </a:prstGeom>
          <a:noFill/>
        </p:spPr>
        <p:txBody>
          <a:bodyPr wrap="square" rtlCol="0">
            <a:spAutoFit/>
          </a:bodyPr>
          <a:lstStyle/>
          <a:p>
            <a:pPr marL="0" indent="0" algn="just">
              <a:buNone/>
            </a:pPr>
            <a:r>
              <a:rPr lang="en-US" sz="2000" b="1" dirty="0">
                <a:latin typeface="Times New Roman" panose="02020603050405020304" pitchFamily="18" charset="0"/>
                <a:cs typeface="Times New Roman" panose="02020603050405020304" pitchFamily="18" charset="0"/>
              </a:rPr>
              <a:t>2. Crop Care – An AI-Integrated System for Smart Crop Protection and Disease Detection: </a:t>
            </a:r>
          </a:p>
          <a:p>
            <a:r>
              <a:rPr lang="en-US" sz="2000" dirty="0">
                <a:latin typeface="Times New Roman" panose="02020603050405020304" pitchFamily="18" charset="0"/>
                <a:cs typeface="Times New Roman" panose="02020603050405020304" pitchFamily="18" charset="0"/>
              </a:rPr>
              <a:t>Agriculture plays a vital role in sustaining human life by ensuring food security for a growing population. However, plant diseases and improper fertilizer application often lead to reduced crop yield, economic losses, and environmental damage. To overcome these challenges, Crop Care proposes an AI-integrated automated agricultural robot designed to detect plant disease severity and perform precision fertilizer spraying without direct human intervention.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system utilizes a Raspberry Pi integrated with a USB camera to capture real-time images of crops and analyze disease severity using advanced image processing and machine learning techniques. Based on the identified severity level, the system automatically regulates fertilizer spraying duration through three dedicated nozzles, ensuring accurate application while minimizing fertilizer wastage.</a:t>
            </a:r>
          </a:p>
          <a:p>
            <a:r>
              <a:rPr lang="en-US" sz="2000" dirty="0">
                <a:latin typeface="Times New Roman" panose="02020603050405020304" pitchFamily="18" charset="0"/>
                <a:cs typeface="Times New Roman" panose="02020603050405020304" pitchFamily="18" charset="0"/>
              </a:rPr>
              <a:t>An Arduino microcontroller is employed to control the robot’s movement and manage hardware components such as DC motors, water pumps, relays, and the chassis, enabling efficient navigation across the field. The system is powered by a 12V battery supported by a 9V solar panel, ensuring energy-efficient and sustainable operation. Additionally, Bluetooth connectivity enables wireless monitoring and control of the robot.</a:t>
            </a:r>
          </a:p>
          <a:p>
            <a:r>
              <a:rPr lang="en-US" sz="2000" dirty="0">
                <a:latin typeface="Times New Roman" panose="02020603050405020304" pitchFamily="18" charset="0"/>
                <a:cs typeface="Times New Roman" panose="02020603050405020304" pitchFamily="18" charset="0"/>
              </a:rPr>
              <a:t>By combining plant disease severity detection with intelligent and automated fertilizer management, the proposed system significantly reduces human effort, optimizes resource utilization, prevents overuse of fertilizers, and supports eco-friendly and sustainable farming practices.</a:t>
            </a:r>
          </a:p>
          <a:p>
            <a:pPr marL="0" indent="0" algn="just">
              <a:buNone/>
            </a:pP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62A56A8-D484-B9B9-F523-A3B65DE55474}"/>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xmlns="" id="{326A738C-0EFB-0579-2A81-A608F050D368}"/>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BE0A08C1-D240-BE32-CCB5-558BB67B84C0}"/>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E7F9EA04-6273-62C0-073F-04779AE503CE}"/>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xmlns="" id="{AE89D641-3A81-7688-7651-67DC9DA0577F}"/>
              </a:ext>
            </a:extLst>
          </p:cNvPr>
          <p:cNvSpPr txBox="1">
            <a:spLocks noGrp="1"/>
          </p:cNvSpPr>
          <p:nvPr>
            <p:ph type="title"/>
          </p:nvPr>
        </p:nvSpPr>
        <p:spPr>
          <a:xfrm>
            <a:off x="236964" y="160487"/>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Existing System</a:t>
            </a:r>
            <a:endParaRPr spc="-10" dirty="0"/>
          </a:p>
        </p:txBody>
      </p:sp>
      <p:sp>
        <p:nvSpPr>
          <p:cNvPr id="8" name="object 8">
            <a:extLst>
              <a:ext uri="{FF2B5EF4-FFF2-40B4-BE49-F238E27FC236}">
                <a16:creationId xmlns:a16="http://schemas.microsoft.com/office/drawing/2014/main" xmlns="" id="{D8FF0DD2-CF2B-DB03-4799-FA92DC7ED7C5}"/>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xmlns="" id="{2488AF73-9DEF-D4EA-7543-59F4CBD8C923}"/>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FA9AE410-5E6A-330A-665C-4231BB3444AE}"/>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8</a:t>
            </a:fld>
            <a:endParaRPr spc="-25" dirty="0"/>
          </a:p>
        </p:txBody>
      </p:sp>
      <p:sp>
        <p:nvSpPr>
          <p:cNvPr id="12" name="object 9">
            <a:extLst>
              <a:ext uri="{FF2B5EF4-FFF2-40B4-BE49-F238E27FC236}">
                <a16:creationId xmlns:a16="http://schemas.microsoft.com/office/drawing/2014/main" xmlns="" id="{24A3AE38-89BA-16A0-15B7-BD5A6F78CD8A}"/>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a16="http://schemas.microsoft.com/office/drawing/2014/main" xmlns="" id="{7F0DE90C-D6D3-08AE-9D5A-1A0DE666DCB6}"/>
              </a:ext>
            </a:extLst>
          </p:cNvPr>
          <p:cNvSpPr txBox="1"/>
          <p:nvPr/>
        </p:nvSpPr>
        <p:spPr>
          <a:xfrm>
            <a:off x="-1" y="1056571"/>
            <a:ext cx="12165957" cy="4832092"/>
          </a:xfrm>
          <a:prstGeom prst="rect">
            <a:avLst/>
          </a:prstGeom>
          <a:noFill/>
        </p:spPr>
        <p:txBody>
          <a:bodyPr wrap="square">
            <a:spAutoFit/>
          </a:bodyPr>
          <a:lstStyle/>
          <a:p>
            <a:pPr algn="just"/>
            <a:r>
              <a:rPr lang="en-IN" sz="2800" dirty="0">
                <a:latin typeface="Times New Roman" panose="02020603050405020304" pitchFamily="18" charset="0"/>
                <a:cs typeface="Times New Roman" panose="02020603050405020304" pitchFamily="18" charset="0"/>
              </a:rPr>
              <a:t>Traditionally, crop health monitoring and fertilizer application rely on manual inspection, where farmers visually examine plants to identify diseases, pests, or nutrient deficiencies and then apply fertilizer or pesticides using hand-operated or tractor-mounted sprayers. </a:t>
            </a:r>
          </a:p>
          <a:p>
            <a:pPr algn="just"/>
            <a:endParaRPr lang="en-IN" sz="2800" dirty="0">
              <a:latin typeface="Times New Roman" panose="02020603050405020304" pitchFamily="18" charset="0"/>
              <a:cs typeface="Times New Roman" panose="02020603050405020304" pitchFamily="18" charset="0"/>
            </a:endParaRPr>
          </a:p>
          <a:p>
            <a:pPr algn="just"/>
            <a:r>
              <a:rPr lang="en-IN" sz="2800" dirty="0">
                <a:latin typeface="Times New Roman" panose="02020603050405020304" pitchFamily="18" charset="0"/>
                <a:cs typeface="Times New Roman" panose="02020603050405020304" pitchFamily="18" charset="0"/>
              </a:rPr>
              <a:t>This approach is </a:t>
            </a:r>
            <a:r>
              <a:rPr lang="en-IN" sz="2800" dirty="0" err="1">
                <a:latin typeface="Times New Roman" panose="02020603050405020304" pitchFamily="18" charset="0"/>
                <a:cs typeface="Times New Roman" panose="02020603050405020304" pitchFamily="18" charset="0"/>
              </a:rPr>
              <a:t>labor-intensive</a:t>
            </a:r>
            <a:r>
              <a:rPr lang="en-IN" sz="2800" dirty="0">
                <a:latin typeface="Times New Roman" panose="02020603050405020304" pitchFamily="18" charset="0"/>
                <a:cs typeface="Times New Roman" panose="02020603050405020304" pitchFamily="18" charset="0"/>
              </a:rPr>
              <a:t>, time-consuming, and prone to human error, often resulting in under- or over-application of chemicals. Additionally, uniform spraying without considering disease severity leads to wastage of resources and potential environmental harm. Compared to this traditional method, automated systems that integrate disease severity detection with targeted fertilizer application offer greater efficiency, accuracy, and sustainability.</a:t>
            </a:r>
          </a:p>
        </p:txBody>
      </p:sp>
    </p:spTree>
    <p:extLst>
      <p:ext uri="{BB962C8B-B14F-4D97-AF65-F5344CB8AC3E}">
        <p14:creationId xmlns:p14="http://schemas.microsoft.com/office/powerpoint/2010/main" xmlns="" val="1902439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6043" y="23626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6964" y="160487"/>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9</a:t>
            </a:fld>
            <a:endParaRPr spc="-25" dirty="0"/>
          </a:p>
        </p:txBody>
      </p:sp>
      <p:sp>
        <p:nvSpPr>
          <p:cNvPr id="12" name="object 9">
            <a:extLst>
              <a:ext uri="{FF2B5EF4-FFF2-40B4-BE49-F238E27FC236}">
                <a16:creationId xmlns:a16="http://schemas.microsoft.com/office/drawing/2014/main" xmlns="" id="{B1B108D8-7176-DFD3-DD76-56EF66D0F76D}"/>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a16="http://schemas.microsoft.com/office/drawing/2014/main" xmlns="" id="{7288F165-7028-955D-D6CC-432D2AE064DE}"/>
              </a:ext>
            </a:extLst>
          </p:cNvPr>
          <p:cNvSpPr txBox="1"/>
          <p:nvPr/>
        </p:nvSpPr>
        <p:spPr>
          <a:xfrm>
            <a:off x="0" y="1094897"/>
            <a:ext cx="12191999" cy="4893647"/>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proposed Smart Fertilizer Spraying System integrates plant disease severity detection with precision fertilizer application to optimize crop management. The system uses a Raspberry Pi equipped with a USB camera to capture real-time images of plants. Image processing techniques are applied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these images and determine the severity of detected diseases. Based on the severity level, the system intelligently adjusts the spraying duration of three separate nozzles, ensuring precise fertilizer application and minimizing waste.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An Arduino microcontroller controls the movement of the robot chassis, DC motors, water pumps, and relays to execute spraying operations efficiently. The system is powered by a 12V battery and supported by a 9V solar panel for sustainable operation. Bluetooth communication enables wireless monitoring and control, allowing farmers to track system performance and adjust settings remotely. This approach reduces human intervention, improves crop health, and promotes eco-friendly farming practices.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5EB3A63-8396-ED2F-3CD9-A1072F422C78}"/>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xmlns="" id="{981F7BDF-4C8A-7955-4BA1-CE016E88645C}"/>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AF5F28A8-2C54-6EEB-C12C-7F6EC2E9761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C6481701-C883-1054-6589-3DBCEBD5825C}"/>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xmlns="" id="{86C995E1-22B1-7E29-9C45-39FC942CF8A0}"/>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Planning</a:t>
            </a:r>
            <a:endParaRPr spc="-10" dirty="0"/>
          </a:p>
        </p:txBody>
      </p:sp>
      <p:sp>
        <p:nvSpPr>
          <p:cNvPr id="10" name="object 10">
            <a:extLst>
              <a:ext uri="{FF2B5EF4-FFF2-40B4-BE49-F238E27FC236}">
                <a16:creationId xmlns:a16="http://schemas.microsoft.com/office/drawing/2014/main" xmlns="" id="{7AD41838-7DF3-4062-9FDE-010B8FE121E9}"/>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069C1D68-81B2-5232-455E-AFC5349FB38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10</a:t>
            </a:fld>
            <a:endParaRPr spc="-25" dirty="0"/>
          </a:p>
        </p:txBody>
      </p:sp>
      <p:sp>
        <p:nvSpPr>
          <p:cNvPr id="7" name="object 7">
            <a:extLst>
              <a:ext uri="{FF2B5EF4-FFF2-40B4-BE49-F238E27FC236}">
                <a16:creationId xmlns:a16="http://schemas.microsoft.com/office/drawing/2014/main" xmlns="" id="{6A6B85BB-B8C4-F7A9-7E28-493B24BCADCF}"/>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xmlns="" id="{A3C6434D-A982-D362-BB7A-2465AFDDEABE}"/>
              </a:ext>
            </a:extLst>
          </p:cNvPr>
          <p:cNvSpPr txBox="1">
            <a:spLocks noGrp="1"/>
          </p:cNvSpPr>
          <p:nvPr>
            <p:ph type="dt" sz="half" idx="6"/>
          </p:nvPr>
        </p:nvSpPr>
        <p:spPr>
          <a:xfrm>
            <a:off x="1179017" y="6648359"/>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3" name="TextBox 12">
            <a:extLst>
              <a:ext uri="{FF2B5EF4-FFF2-40B4-BE49-F238E27FC236}">
                <a16:creationId xmlns:a16="http://schemas.microsoft.com/office/drawing/2014/main" xmlns="" id="{D89B072C-28A9-0686-A994-4865CC0B849E}"/>
              </a:ext>
            </a:extLst>
          </p:cNvPr>
          <p:cNvSpPr txBox="1"/>
          <p:nvPr/>
        </p:nvSpPr>
        <p:spPr>
          <a:xfrm>
            <a:off x="104577" y="6558990"/>
            <a:ext cx="6140450" cy="369332"/>
          </a:xfrm>
          <a:prstGeom prst="rect">
            <a:avLst/>
          </a:prstGeom>
          <a:noFill/>
        </p:spPr>
        <p:txBody>
          <a:bodyPr wrap="square">
            <a:spAutoFit/>
          </a:bodyPr>
          <a:lstStyle/>
          <a:p>
            <a:r>
              <a:rPr lang="en-US" dirty="0">
                <a:solidFill>
                  <a:schemeClr val="bg1"/>
                </a:solidFill>
              </a:rPr>
              <a:t>B-10</a:t>
            </a:r>
            <a:endParaRPr lang="en-US" dirty="0"/>
          </a:p>
        </p:txBody>
      </p:sp>
      <p:sp>
        <p:nvSpPr>
          <p:cNvPr id="8" name="TextBox 7">
            <a:extLst>
              <a:ext uri="{FF2B5EF4-FFF2-40B4-BE49-F238E27FC236}">
                <a16:creationId xmlns:a16="http://schemas.microsoft.com/office/drawing/2014/main" xmlns="" id="{FD1BB238-7B52-5AFF-0AA4-4D4A4CB4D17B}"/>
              </a:ext>
            </a:extLst>
          </p:cNvPr>
          <p:cNvSpPr txBox="1"/>
          <p:nvPr/>
        </p:nvSpPr>
        <p:spPr>
          <a:xfrm>
            <a:off x="221198" y="1115843"/>
            <a:ext cx="9684802" cy="4678204"/>
          </a:xfrm>
          <a:prstGeom prst="rect">
            <a:avLst/>
          </a:prstGeom>
          <a:noFill/>
        </p:spPr>
        <p:txBody>
          <a:bodyPr wrap="square" rtlCol="0">
            <a:spAutoFit/>
          </a:bodyPr>
          <a:lstStyle/>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Study of plant diseases and the importance of </a:t>
            </a:r>
            <a:r>
              <a:rPr lang="en-US" sz="2000" b="1" dirty="0">
                <a:latin typeface="Times New Roman" panose="02020603050405020304" pitchFamily="18" charset="0"/>
                <a:cs typeface="Times New Roman" panose="02020603050405020304" pitchFamily="18" charset="0"/>
              </a:rPr>
              <a:t>severity-based fertilizer application</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Design of an </a:t>
            </a:r>
            <a:r>
              <a:rPr lang="en-US" sz="2000" b="1" dirty="0">
                <a:latin typeface="Times New Roman" panose="02020603050405020304" pitchFamily="18" charset="0"/>
                <a:cs typeface="Times New Roman" panose="02020603050405020304" pitchFamily="18" charset="0"/>
              </a:rPr>
              <a:t>automated agricultural robot</a:t>
            </a:r>
            <a:r>
              <a:rPr lang="en-US" sz="2000" dirty="0">
                <a:latin typeface="Times New Roman" panose="02020603050405020304" pitchFamily="18" charset="0"/>
                <a:cs typeface="Times New Roman" panose="02020603050405020304" pitchFamily="18" charset="0"/>
              </a:rPr>
              <a:t> to eliminate direct human intervention.</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Selection of </a:t>
            </a:r>
            <a:r>
              <a:rPr lang="en-US" sz="2000" b="1" dirty="0">
                <a:latin typeface="Times New Roman" panose="02020603050405020304" pitchFamily="18" charset="0"/>
                <a:cs typeface="Times New Roman" panose="02020603050405020304" pitchFamily="18" charset="0"/>
              </a:rPr>
              <a:t>Raspberry Pi with USB camera</a:t>
            </a:r>
            <a:r>
              <a:rPr lang="en-US" sz="2000" dirty="0">
                <a:latin typeface="Times New Roman" panose="02020603050405020304" pitchFamily="18" charset="0"/>
                <a:cs typeface="Times New Roman" panose="02020603050405020304" pitchFamily="18" charset="0"/>
              </a:rPr>
              <a:t> for image acquisition and disease severity analysis.</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Implementation of </a:t>
            </a:r>
            <a:r>
              <a:rPr lang="en-US" sz="2000" b="1" dirty="0">
                <a:latin typeface="Times New Roman" panose="02020603050405020304" pitchFamily="18" charset="0"/>
                <a:cs typeface="Times New Roman" panose="02020603050405020304" pitchFamily="18" charset="0"/>
              </a:rPr>
              <a:t>image processing techniques</a:t>
            </a:r>
            <a:r>
              <a:rPr lang="en-US" sz="2000" dirty="0">
                <a:latin typeface="Times New Roman" panose="02020603050405020304" pitchFamily="18" charset="0"/>
                <a:cs typeface="Times New Roman" panose="02020603050405020304" pitchFamily="18" charset="0"/>
              </a:rPr>
              <a:t> to classify disease severity levels.</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Integration of </a:t>
            </a:r>
            <a:r>
              <a:rPr lang="en-US" sz="2000" b="1" dirty="0">
                <a:latin typeface="Times New Roman" panose="02020603050405020304" pitchFamily="18" charset="0"/>
                <a:cs typeface="Times New Roman" panose="02020603050405020304" pitchFamily="18" charset="0"/>
              </a:rPr>
              <a:t>Arduino</a:t>
            </a:r>
            <a:r>
              <a:rPr lang="en-US" sz="2000" dirty="0">
                <a:latin typeface="Times New Roman" panose="02020603050405020304" pitchFamily="18" charset="0"/>
                <a:cs typeface="Times New Roman" panose="02020603050405020304" pitchFamily="18" charset="0"/>
              </a:rPr>
              <a:t> for controlling DC motors, pumps, relays, and robot movement.</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Development of a </a:t>
            </a:r>
            <a:r>
              <a:rPr lang="en-US" sz="2000" b="1" dirty="0">
                <a:latin typeface="Times New Roman" panose="02020603050405020304" pitchFamily="18" charset="0"/>
                <a:cs typeface="Times New Roman" panose="02020603050405020304" pitchFamily="18" charset="0"/>
              </a:rPr>
              <a:t>severity-based fertilizer spraying mechanism</a:t>
            </a:r>
            <a:r>
              <a:rPr lang="en-US" sz="2000" dirty="0">
                <a:latin typeface="Times New Roman" panose="02020603050405020304" pitchFamily="18" charset="0"/>
                <a:cs typeface="Times New Roman" panose="02020603050405020304" pitchFamily="18" charset="0"/>
              </a:rPr>
              <a:t> using three dedicated nozzles.</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Integration of </a:t>
            </a:r>
            <a:r>
              <a:rPr lang="en-US" sz="2000" b="1" dirty="0">
                <a:latin typeface="Times New Roman" panose="02020603050405020304" pitchFamily="18" charset="0"/>
                <a:cs typeface="Times New Roman" panose="02020603050405020304" pitchFamily="18" charset="0"/>
              </a:rPr>
              <a:t>Bluetooth communication</a:t>
            </a:r>
            <a:r>
              <a:rPr lang="en-US" sz="2000" dirty="0">
                <a:latin typeface="Times New Roman" panose="02020603050405020304" pitchFamily="18" charset="0"/>
                <a:cs typeface="Times New Roman" panose="02020603050405020304" pitchFamily="18" charset="0"/>
              </a:rPr>
              <a:t> for wireless monitoring and control.</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Design of a </a:t>
            </a:r>
            <a:r>
              <a:rPr lang="en-US" sz="2000" b="1" dirty="0">
                <a:latin typeface="Times New Roman" panose="02020603050405020304" pitchFamily="18" charset="0"/>
                <a:cs typeface="Times New Roman" panose="02020603050405020304" pitchFamily="18" charset="0"/>
              </a:rPr>
              <a:t>solar-assisted power system</a:t>
            </a:r>
            <a:r>
              <a:rPr lang="en-US" sz="2000" dirty="0">
                <a:latin typeface="Times New Roman" panose="02020603050405020304" pitchFamily="18" charset="0"/>
                <a:cs typeface="Times New Roman" panose="02020603050405020304" pitchFamily="18" charset="0"/>
              </a:rPr>
              <a:t> using a 12V battery and 9V solar panel for energy efficiency.</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Testing and validation of system performance in real-time field conditions.</a:t>
            </a:r>
          </a:p>
          <a:p>
            <a:pPr marL="285750" indent="-28575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IN" dirty="0"/>
          </a:p>
        </p:txBody>
      </p:sp>
    </p:spTree>
    <p:extLst>
      <p:ext uri="{BB962C8B-B14F-4D97-AF65-F5344CB8AC3E}">
        <p14:creationId xmlns:p14="http://schemas.microsoft.com/office/powerpoint/2010/main" xmlns="" val="3638191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A3A38F3-2B4B-3602-5098-BBE644B76F80}"/>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xmlns="" id="{BC0DAD87-BB5E-0CB1-BA7A-3969D0DC3389}"/>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ABC2F721-904A-AD3A-29C9-2B0D55022792}"/>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57B1CA44-FB46-F518-2EF3-F435CF2CE247}"/>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xmlns="" id="{BEB5CBE5-8A34-B986-E00A-3C114E75D6A3}"/>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Requirements</a:t>
            </a:r>
            <a:endParaRPr spc="-10" dirty="0"/>
          </a:p>
        </p:txBody>
      </p:sp>
      <p:sp>
        <p:nvSpPr>
          <p:cNvPr id="10" name="object 10">
            <a:extLst>
              <a:ext uri="{FF2B5EF4-FFF2-40B4-BE49-F238E27FC236}">
                <a16:creationId xmlns:a16="http://schemas.microsoft.com/office/drawing/2014/main" xmlns="" id="{3F3F03C5-1211-C057-B6CC-AAC1026BEA9A}"/>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78857A61-B1B2-55C5-D534-126922D496D7}"/>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11</a:t>
            </a:fld>
            <a:endParaRPr spc="-25" dirty="0"/>
          </a:p>
        </p:txBody>
      </p:sp>
      <p:sp>
        <p:nvSpPr>
          <p:cNvPr id="7" name="object 7">
            <a:extLst>
              <a:ext uri="{FF2B5EF4-FFF2-40B4-BE49-F238E27FC236}">
                <a16:creationId xmlns:a16="http://schemas.microsoft.com/office/drawing/2014/main" xmlns="" id="{BEAEEA8E-C274-616F-0046-BA5031AFD8AB}"/>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xmlns="" id="{2E5B23C9-3E98-3B27-FF7C-17F202F494C5}"/>
              </a:ext>
            </a:extLst>
          </p:cNvPr>
          <p:cNvSpPr txBox="1">
            <a:spLocks noGrp="1"/>
          </p:cNvSpPr>
          <p:nvPr>
            <p:ph type="dt" sz="half" idx="6"/>
          </p:nvPr>
        </p:nvSpPr>
        <p:spPr>
          <a:xfrm>
            <a:off x="1179017" y="6648359"/>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4" name="TextBox 13">
            <a:extLst>
              <a:ext uri="{FF2B5EF4-FFF2-40B4-BE49-F238E27FC236}">
                <a16:creationId xmlns:a16="http://schemas.microsoft.com/office/drawing/2014/main" xmlns="" id="{B6DEB68C-6852-E9E1-CD91-BBBF516BB513}"/>
              </a:ext>
            </a:extLst>
          </p:cNvPr>
          <p:cNvSpPr txBox="1"/>
          <p:nvPr/>
        </p:nvSpPr>
        <p:spPr>
          <a:xfrm flipH="1">
            <a:off x="0" y="1115843"/>
            <a:ext cx="4905871" cy="707886"/>
          </a:xfrm>
          <a:prstGeom prst="rect">
            <a:avLst/>
          </a:prstGeom>
          <a:noFill/>
        </p:spPr>
        <p:txBody>
          <a:bodyPr wrap="square" rtlCol="0">
            <a:spAutoFit/>
          </a:bodyPr>
          <a:lstStyle/>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xmlns="" id="{4CA23E84-1247-5D58-3E8E-38FC60447C02}"/>
              </a:ext>
            </a:extLst>
          </p:cNvPr>
          <p:cNvSpPr txBox="1"/>
          <p:nvPr/>
        </p:nvSpPr>
        <p:spPr>
          <a:xfrm>
            <a:off x="104577" y="6558990"/>
            <a:ext cx="6140450" cy="369332"/>
          </a:xfrm>
          <a:prstGeom prst="rect">
            <a:avLst/>
          </a:prstGeom>
          <a:noFill/>
        </p:spPr>
        <p:txBody>
          <a:bodyPr wrap="square">
            <a:spAutoFit/>
          </a:bodyPr>
          <a:lstStyle/>
          <a:p>
            <a:r>
              <a:rPr lang="en-US" dirty="0">
                <a:solidFill>
                  <a:schemeClr val="bg1"/>
                </a:solidFill>
              </a:rPr>
              <a:t>B-10</a:t>
            </a:r>
            <a:endParaRPr lang="en-US" dirty="0"/>
          </a:p>
        </p:txBody>
      </p:sp>
      <p:sp>
        <p:nvSpPr>
          <p:cNvPr id="8" name="TextBox 7">
            <a:extLst>
              <a:ext uri="{FF2B5EF4-FFF2-40B4-BE49-F238E27FC236}">
                <a16:creationId xmlns:a16="http://schemas.microsoft.com/office/drawing/2014/main" xmlns="" id="{F9B7515E-4F4B-AFBF-B9ED-05CD10AC66DF}"/>
              </a:ext>
            </a:extLst>
          </p:cNvPr>
          <p:cNvSpPr txBox="1"/>
          <p:nvPr/>
        </p:nvSpPr>
        <p:spPr>
          <a:xfrm>
            <a:off x="236964" y="1067081"/>
            <a:ext cx="8678436" cy="5693866"/>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Software Requirements</a:t>
            </a:r>
          </a:p>
          <a:p>
            <a:pPr>
              <a:buNone/>
            </a:pPr>
            <a:endParaRPr lang="en-IN"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Raspberry Pi OS, Windows 10/11</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Languages:</a:t>
            </a:r>
            <a:r>
              <a:rPr lang="en-IN" dirty="0">
                <a:latin typeface="Times New Roman" panose="02020603050405020304" pitchFamily="18" charset="0"/>
                <a:cs typeface="Times New Roman" panose="02020603050405020304" pitchFamily="18" charset="0"/>
              </a:rPr>
              <a:t> Python, Embedded C</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IDE / Tools:</a:t>
            </a:r>
            <a:r>
              <a:rPr lang="en-IN" dirty="0">
                <a:latin typeface="Times New Roman" panose="02020603050405020304" pitchFamily="18" charset="0"/>
                <a:cs typeface="Times New Roman" panose="02020603050405020304" pitchFamily="18" charset="0"/>
              </a:rPr>
              <a:t> Arduino IDE, Thonny / VS Code</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Libraries:</a:t>
            </a:r>
            <a:r>
              <a:rPr lang="en-IN" dirty="0">
                <a:latin typeface="Times New Roman" panose="02020603050405020304" pitchFamily="18" charset="0"/>
                <a:cs typeface="Times New Roman" panose="02020603050405020304" pitchFamily="18" charset="0"/>
              </a:rPr>
              <a:t> OpenCV, NumPy</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Communication:</a:t>
            </a:r>
            <a:r>
              <a:rPr lang="en-IN" dirty="0">
                <a:latin typeface="Times New Roman" panose="02020603050405020304" pitchFamily="18" charset="0"/>
                <a:cs typeface="Times New Roman" panose="02020603050405020304" pitchFamily="18" charset="0"/>
              </a:rPr>
              <a:t> Bluetooth (Serial)</a:t>
            </a:r>
          </a:p>
          <a:p>
            <a:endParaRPr lang="en-IN" dirty="0"/>
          </a:p>
          <a:p>
            <a:endParaRPr lang="en-IN" dirty="0"/>
          </a:p>
          <a:p>
            <a:r>
              <a:rPr lang="en-IN" sz="2000" b="1" dirty="0">
                <a:latin typeface="Times New Roman" panose="02020603050405020304" pitchFamily="18" charset="0"/>
                <a:cs typeface="Times New Roman" panose="02020603050405020304" pitchFamily="18" charset="0"/>
              </a:rPr>
              <a:t>Hardware Requirements</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Controllers:</a:t>
            </a:r>
            <a:r>
              <a:rPr lang="en-IN" dirty="0">
                <a:latin typeface="Times New Roman" panose="02020603050405020304" pitchFamily="18" charset="0"/>
                <a:cs typeface="Times New Roman" panose="02020603050405020304" pitchFamily="18" charset="0"/>
              </a:rPr>
              <a:t> Raspberry Pi, Arduino</a:t>
            </a:r>
          </a:p>
          <a:p>
            <a:r>
              <a:rPr lang="en-IN" b="1" dirty="0">
                <a:latin typeface="Times New Roman" panose="02020603050405020304" pitchFamily="18" charset="0"/>
                <a:cs typeface="Times New Roman" panose="02020603050405020304" pitchFamily="18" charset="0"/>
              </a:rPr>
              <a:t>Camera &amp; Memory:</a:t>
            </a:r>
            <a:r>
              <a:rPr lang="en-IN" dirty="0">
                <a:latin typeface="Times New Roman" panose="02020603050405020304" pitchFamily="18" charset="0"/>
                <a:cs typeface="Times New Roman" panose="02020603050405020304" pitchFamily="18" charset="0"/>
              </a:rPr>
              <a:t> USB Web Camera, Micro SD Card</a:t>
            </a:r>
          </a:p>
          <a:p>
            <a:r>
              <a:rPr lang="en-IN" b="1" dirty="0">
                <a:latin typeface="Times New Roman" panose="02020603050405020304" pitchFamily="18" charset="0"/>
                <a:cs typeface="Times New Roman" panose="02020603050405020304" pitchFamily="18" charset="0"/>
              </a:rPr>
              <a:t>Power Supply:</a:t>
            </a:r>
            <a:r>
              <a:rPr lang="en-IN" dirty="0">
                <a:latin typeface="Times New Roman" panose="02020603050405020304" pitchFamily="18" charset="0"/>
                <a:cs typeface="Times New Roman" panose="02020603050405020304" pitchFamily="18" charset="0"/>
              </a:rPr>
              <a:t> 12V Battery, 9V Solar Panel, 12V Adapter (2A)</a:t>
            </a:r>
          </a:p>
          <a:p>
            <a:r>
              <a:rPr lang="en-IN" b="1" dirty="0">
                <a:latin typeface="Times New Roman" panose="02020603050405020304" pitchFamily="18" charset="0"/>
                <a:cs typeface="Times New Roman" panose="02020603050405020304" pitchFamily="18" charset="0"/>
              </a:rPr>
              <a:t>Motors &amp; Actuators:</a:t>
            </a:r>
            <a:r>
              <a:rPr lang="en-IN" dirty="0">
                <a:latin typeface="Times New Roman" panose="02020603050405020304" pitchFamily="18" charset="0"/>
                <a:cs typeface="Times New Roman" panose="02020603050405020304" pitchFamily="18" charset="0"/>
              </a:rPr>
              <a:t> DC Motors (2), DC Water Pumps (3)</a:t>
            </a:r>
          </a:p>
          <a:p>
            <a:r>
              <a:rPr lang="en-IN" b="1" dirty="0">
                <a:latin typeface="Times New Roman" panose="02020603050405020304" pitchFamily="18" charset="0"/>
                <a:cs typeface="Times New Roman" panose="02020603050405020304" pitchFamily="18" charset="0"/>
              </a:rPr>
              <a:t>Control Modules:</a:t>
            </a:r>
            <a:r>
              <a:rPr lang="en-IN" dirty="0">
                <a:latin typeface="Times New Roman" panose="02020603050405020304" pitchFamily="18" charset="0"/>
                <a:cs typeface="Times New Roman" panose="02020603050405020304" pitchFamily="18" charset="0"/>
              </a:rPr>
              <a:t> Motor Driver, Relays (3), Bluetooth Module</a:t>
            </a:r>
          </a:p>
          <a:p>
            <a:r>
              <a:rPr lang="en-IN" b="1" dirty="0">
                <a:latin typeface="Times New Roman" panose="02020603050405020304" pitchFamily="18" charset="0"/>
                <a:cs typeface="Times New Roman" panose="02020603050405020304" pitchFamily="18" charset="0"/>
              </a:rPr>
              <a:t>Mechanical Setup:</a:t>
            </a:r>
            <a:r>
              <a:rPr lang="en-IN" dirty="0">
                <a:latin typeface="Times New Roman" panose="02020603050405020304" pitchFamily="18" charset="0"/>
                <a:cs typeface="Times New Roman" panose="02020603050405020304" pitchFamily="18" charset="0"/>
              </a:rPr>
              <a:t> Robot Chassis, Wheels (4), Dummy Shafts (2)</a:t>
            </a:r>
          </a:p>
          <a:p>
            <a:r>
              <a:rPr lang="en-IN" b="1" dirty="0">
                <a:latin typeface="Times New Roman" panose="02020603050405020304" pitchFamily="18" charset="0"/>
                <a:cs typeface="Times New Roman" panose="02020603050405020304" pitchFamily="18" charset="0"/>
              </a:rPr>
              <a:t>Spraying System:</a:t>
            </a:r>
            <a:r>
              <a:rPr lang="en-IN" dirty="0">
                <a:latin typeface="Times New Roman" panose="02020603050405020304" pitchFamily="18" charset="0"/>
                <a:cs typeface="Times New Roman" panose="02020603050405020304" pitchFamily="18" charset="0"/>
              </a:rPr>
              <a:t> Nozzles (3), Plastic Boxes</a:t>
            </a:r>
          </a:p>
          <a:p>
            <a:r>
              <a:rPr lang="en-IN" b="1" dirty="0">
                <a:latin typeface="Times New Roman" panose="02020603050405020304" pitchFamily="18" charset="0"/>
                <a:cs typeface="Times New Roman" panose="02020603050405020304" pitchFamily="18" charset="0"/>
              </a:rPr>
              <a:t>Others:</a:t>
            </a:r>
            <a:r>
              <a:rPr lang="en-IN" dirty="0">
                <a:latin typeface="Times New Roman" panose="02020603050405020304" pitchFamily="18" charset="0"/>
                <a:cs typeface="Times New Roman" panose="02020603050405020304" pitchFamily="18" charset="0"/>
              </a:rPr>
              <a:t> LEDs, Slide Switch</a:t>
            </a:r>
          </a:p>
          <a:p>
            <a:pPr>
              <a:buFont typeface="Arial" panose="020B0604020202020204" pitchFamily="34" charset="0"/>
              <a:buChar char="•"/>
            </a:pPr>
            <a:endParaRPr lang="en-IN" dirty="0"/>
          </a:p>
        </p:txBody>
      </p:sp>
    </p:spTree>
    <p:extLst>
      <p:ext uri="{BB962C8B-B14F-4D97-AF65-F5344CB8AC3E}">
        <p14:creationId xmlns:p14="http://schemas.microsoft.com/office/powerpoint/2010/main" xmlns="" val="651118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4AF259-3B4B-A37A-97F7-3AF71A23E972}"/>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xmlns="" id="{EAA0EF37-F1E2-E580-2F9F-ECE57DE8BA99}"/>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CA6B44FF-7666-C144-0DED-710CC5C5589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B6864B97-2F29-AABE-D904-02920B98ADB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xmlns="" id="{812DCE22-A6A1-C93D-76B5-648DFDB3CA25}"/>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UML Diagrams</a:t>
            </a:r>
            <a:endParaRPr spc="-10" dirty="0"/>
          </a:p>
        </p:txBody>
      </p:sp>
      <p:sp>
        <p:nvSpPr>
          <p:cNvPr id="8" name="object 8">
            <a:extLst>
              <a:ext uri="{FF2B5EF4-FFF2-40B4-BE49-F238E27FC236}">
                <a16:creationId xmlns:a16="http://schemas.microsoft.com/office/drawing/2014/main" xmlns="" id="{B40DC9DC-F0DB-D21D-F088-B85941023D1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xmlns="" id="{4BF77F90-AA16-0F3B-1D6A-81EAE29BE06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78183346-8CCE-B4F6-26B8-17F2B4CC95F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12</a:t>
            </a:fld>
            <a:endParaRPr spc="-25" dirty="0"/>
          </a:p>
        </p:txBody>
      </p:sp>
      <p:sp>
        <p:nvSpPr>
          <p:cNvPr id="7" name="object 7">
            <a:extLst>
              <a:ext uri="{FF2B5EF4-FFF2-40B4-BE49-F238E27FC236}">
                <a16:creationId xmlns:a16="http://schemas.microsoft.com/office/drawing/2014/main" xmlns="" id="{A7F7F00B-998E-4E4F-7FF7-B23EFE583E51}"/>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xmlns="" id="{036EC506-91D3-2216-1130-820042CFA50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pic>
        <p:nvPicPr>
          <p:cNvPr id="13" name="Picture 12" descr="ChatGPT Image Jan 30, 2026, 09_29_38 AM.png"/>
          <p:cNvPicPr>
            <a:picLocks noChangeAspect="1"/>
          </p:cNvPicPr>
          <p:nvPr/>
        </p:nvPicPr>
        <p:blipFill>
          <a:blip r:embed="rId4"/>
          <a:stretch>
            <a:fillRect/>
          </a:stretch>
        </p:blipFill>
        <p:spPr>
          <a:xfrm>
            <a:off x="0" y="990600"/>
            <a:ext cx="12192000" cy="5638800"/>
          </a:xfrm>
          <a:prstGeom prst="rect">
            <a:avLst/>
          </a:prstGeom>
        </p:spPr>
      </p:pic>
    </p:spTree>
    <p:extLst>
      <p:ext uri="{BB962C8B-B14F-4D97-AF65-F5344CB8AC3E}">
        <p14:creationId xmlns:p14="http://schemas.microsoft.com/office/powerpoint/2010/main" xmlns="" val="531670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4AF259-3B4B-A37A-97F7-3AF71A23E972}"/>
            </a:ext>
          </a:extLst>
        </p:cNvPr>
        <p:cNvGrpSpPr/>
        <p:nvPr/>
      </p:nvGrpSpPr>
      <p:grpSpPr>
        <a:xfrm>
          <a:off x="0" y="0"/>
          <a:ext cx="0" cy="0"/>
          <a:chOff x="0" y="0"/>
          <a:chExt cx="0" cy="0"/>
        </a:xfrm>
      </p:grpSpPr>
      <p:grpSp>
        <p:nvGrpSpPr>
          <p:cNvPr id="2" name="object 3">
            <a:extLst>
              <a:ext uri="{FF2B5EF4-FFF2-40B4-BE49-F238E27FC236}">
                <a16:creationId xmlns:a16="http://schemas.microsoft.com/office/drawing/2014/main" xmlns="" id="{EAA0EF37-F1E2-E580-2F9F-ECE57DE8BA99}"/>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CA6B44FF-7666-C144-0DED-710CC5C5589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B6864B97-2F29-AABE-D904-02920B98ADB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xmlns="" id="{812DCE22-A6A1-C93D-76B5-648DFDB3CA25}"/>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Data Flow Diagram</a:t>
            </a:r>
            <a:endParaRPr spc="-10" dirty="0"/>
          </a:p>
        </p:txBody>
      </p:sp>
      <p:sp>
        <p:nvSpPr>
          <p:cNvPr id="8" name="object 8">
            <a:extLst>
              <a:ext uri="{FF2B5EF4-FFF2-40B4-BE49-F238E27FC236}">
                <a16:creationId xmlns:a16="http://schemas.microsoft.com/office/drawing/2014/main" xmlns="" id="{B40DC9DC-F0DB-D21D-F088-B85941023D1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xmlns="" id="{4BF77F90-AA16-0F3B-1D6A-81EAE29BE06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78183346-8CCE-B4F6-26B8-17F2B4CC95F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13</a:t>
            </a:fld>
            <a:endParaRPr spc="-25" dirty="0"/>
          </a:p>
        </p:txBody>
      </p:sp>
      <p:sp>
        <p:nvSpPr>
          <p:cNvPr id="7" name="object 7">
            <a:extLst>
              <a:ext uri="{FF2B5EF4-FFF2-40B4-BE49-F238E27FC236}">
                <a16:creationId xmlns:a16="http://schemas.microsoft.com/office/drawing/2014/main" xmlns="" id="{A7F7F00B-998E-4E4F-7FF7-B23EFE583E51}"/>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xmlns="" id="{036EC506-91D3-2216-1130-820042CFA50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a16="http://schemas.microsoft.com/office/drawing/2014/main" xmlns="" id="{3BA1B4BC-97D6-736B-19FA-6D19AB6F45CA}"/>
              </a:ext>
            </a:extLst>
          </p:cNvPr>
          <p:cNvSpPr txBox="1"/>
          <p:nvPr/>
        </p:nvSpPr>
        <p:spPr>
          <a:xfrm>
            <a:off x="5257800" y="2057400"/>
            <a:ext cx="184731" cy="707886"/>
          </a:xfrm>
          <a:prstGeom prst="rect">
            <a:avLst/>
          </a:prstGeom>
          <a:noFill/>
        </p:spPr>
        <p:txBody>
          <a:bodyPr wrap="non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3" name="Picture 12" descr="ChatGPT Image Jan 30, 2026, 09_10_57 AM.png"/>
          <p:cNvPicPr>
            <a:picLocks noChangeAspect="1"/>
          </p:cNvPicPr>
          <p:nvPr/>
        </p:nvPicPr>
        <p:blipFill>
          <a:blip r:embed="rId4"/>
          <a:stretch>
            <a:fillRect/>
          </a:stretch>
        </p:blipFill>
        <p:spPr>
          <a:xfrm>
            <a:off x="2286000" y="1143000"/>
            <a:ext cx="7620000" cy="5334000"/>
          </a:xfrm>
          <a:prstGeom prst="rect">
            <a:avLst/>
          </a:prstGeom>
        </p:spPr>
      </p:pic>
    </p:spTree>
    <p:extLst>
      <p:ext uri="{BB962C8B-B14F-4D97-AF65-F5344CB8AC3E}">
        <p14:creationId xmlns:p14="http://schemas.microsoft.com/office/powerpoint/2010/main" xmlns="" val="531670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BC9B268-E952-B264-CCF6-8B2E49270CB5}"/>
            </a:ext>
          </a:extLst>
        </p:cNvPr>
        <p:cNvGrpSpPr/>
        <p:nvPr/>
      </p:nvGrpSpPr>
      <p:grpSpPr>
        <a:xfrm>
          <a:off x="0" y="0"/>
          <a:ext cx="0" cy="0"/>
          <a:chOff x="0" y="0"/>
          <a:chExt cx="0" cy="0"/>
        </a:xfrm>
      </p:grpSpPr>
      <p:grpSp>
        <p:nvGrpSpPr>
          <p:cNvPr id="2" name="object 3">
            <a:extLst>
              <a:ext uri="{FF2B5EF4-FFF2-40B4-BE49-F238E27FC236}">
                <a16:creationId xmlns:a16="http://schemas.microsoft.com/office/drawing/2014/main" xmlns=""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xmlns=""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Data Preprocessing Techniques</a:t>
            </a:r>
            <a:endParaRPr spc="-10" dirty="0"/>
          </a:p>
        </p:txBody>
      </p:sp>
      <p:sp>
        <p:nvSpPr>
          <p:cNvPr id="8" name="object 8">
            <a:extLst>
              <a:ext uri="{FF2B5EF4-FFF2-40B4-BE49-F238E27FC236}">
                <a16:creationId xmlns:a16="http://schemas.microsoft.com/office/drawing/2014/main" xmlns=""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xmlns=""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14</a:t>
            </a:fld>
            <a:endParaRPr spc="-25" dirty="0"/>
          </a:p>
        </p:txBody>
      </p:sp>
      <p:sp>
        <p:nvSpPr>
          <p:cNvPr id="7" name="object 7">
            <a:extLst>
              <a:ext uri="{FF2B5EF4-FFF2-40B4-BE49-F238E27FC236}">
                <a16:creationId xmlns:a16="http://schemas.microsoft.com/office/drawing/2014/main" xmlns=""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xmlns=""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a16="http://schemas.microsoft.com/office/drawing/2014/main" xmlns=""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81697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buFont typeface="Arial" pitchFamily="34" charset="0"/>
              <a:buChar char="•"/>
            </a:pPr>
            <a:r>
              <a:rPr lang="en-US" sz="2000" b="1" dirty="0" smtClean="0"/>
              <a:t>Image Resizing</a:t>
            </a:r>
            <a:r>
              <a:rPr lang="en-US" dirty="0" smtClean="0"/>
              <a:t/>
            </a:r>
            <a:br>
              <a:rPr lang="en-US" dirty="0" smtClean="0"/>
            </a:br>
            <a:r>
              <a:rPr lang="en-US" dirty="0" smtClean="0"/>
              <a:t>Captured leaf images are resized to a fixed resolution to reduce processing time and ensure uniform input.</a:t>
            </a:r>
          </a:p>
          <a:p>
            <a:pPr>
              <a:buFont typeface="Arial" pitchFamily="34" charset="0"/>
              <a:buChar char="•"/>
            </a:pPr>
            <a:r>
              <a:rPr lang="en-US" sz="2000" b="1" dirty="0" smtClean="0"/>
              <a:t>Noise Removal</a:t>
            </a:r>
            <a:r>
              <a:rPr lang="en-US" dirty="0" smtClean="0"/>
              <a:t/>
            </a:r>
            <a:br>
              <a:rPr lang="en-US" dirty="0" smtClean="0"/>
            </a:br>
            <a:r>
              <a:rPr lang="en-US" dirty="0" smtClean="0"/>
              <a:t> Filters such as Gaussian or Median filters are applied to remove noise caused by dust, lighting, or camera disturbances.</a:t>
            </a:r>
          </a:p>
          <a:p>
            <a:pPr>
              <a:buFont typeface="Arial" pitchFamily="34" charset="0"/>
              <a:buChar char="•"/>
            </a:pPr>
            <a:r>
              <a:rPr lang="en-US" sz="2000" b="1" dirty="0" smtClean="0"/>
              <a:t>Image Enhancement</a:t>
            </a:r>
            <a:r>
              <a:rPr lang="en-US" dirty="0" smtClean="0"/>
              <a:t/>
            </a:r>
            <a:br>
              <a:rPr lang="en-US" dirty="0" smtClean="0"/>
            </a:br>
            <a:r>
              <a:rPr lang="en-US" dirty="0" smtClean="0"/>
              <a:t>Contrast enhancement techniques are used to highlight disease-affected regions on the leaf surface.</a:t>
            </a:r>
          </a:p>
          <a:p>
            <a:pPr>
              <a:buFont typeface="Arial" pitchFamily="34" charset="0"/>
              <a:buChar char="•"/>
            </a:pPr>
            <a:r>
              <a:rPr lang="en-US" sz="2000" b="1" dirty="0" smtClean="0"/>
              <a:t>Color Space Conversion</a:t>
            </a:r>
            <a:r>
              <a:rPr lang="en-US" dirty="0" smtClean="0"/>
              <a:t/>
            </a:r>
            <a:br>
              <a:rPr lang="en-US" dirty="0" smtClean="0"/>
            </a:br>
            <a:r>
              <a:rPr lang="en-US" dirty="0" smtClean="0"/>
              <a:t>RGB images are converted to HSV or LAB color space for better separation of disease colors from background and lighting effects.</a:t>
            </a:r>
          </a:p>
          <a:p>
            <a:pPr>
              <a:buFont typeface="Arial" pitchFamily="34" charset="0"/>
              <a:buChar char="•"/>
            </a:pPr>
            <a:r>
              <a:rPr lang="en-US" sz="2000" b="1" dirty="0" smtClean="0"/>
              <a:t>Image Segmentation</a:t>
            </a:r>
            <a:r>
              <a:rPr lang="en-US" dirty="0" smtClean="0"/>
              <a:t/>
            </a:r>
            <a:br>
              <a:rPr lang="en-US" dirty="0" smtClean="0"/>
            </a:br>
            <a:r>
              <a:rPr lang="en-US" dirty="0" smtClean="0"/>
              <a:t>The leaf region is separated from the background using </a:t>
            </a:r>
            <a:r>
              <a:rPr lang="en-US" dirty="0" err="1" smtClean="0"/>
              <a:t>thresholding</a:t>
            </a:r>
            <a:r>
              <a:rPr lang="en-US" dirty="0" smtClean="0"/>
              <a:t> or color-based segmentation to focus analysis on infected areas.</a:t>
            </a:r>
          </a:p>
          <a:p>
            <a:pPr>
              <a:buFont typeface="Arial" pitchFamily="34" charset="0"/>
              <a:buChar char="•"/>
            </a:pPr>
            <a:r>
              <a:rPr lang="en-US" sz="2000" b="1" dirty="0" smtClean="0"/>
              <a:t>Image Normalization</a:t>
            </a:r>
            <a:r>
              <a:rPr lang="en-US" dirty="0" smtClean="0"/>
              <a:t/>
            </a:r>
            <a:br>
              <a:rPr lang="en-US" dirty="0" smtClean="0"/>
            </a:br>
            <a:r>
              <a:rPr lang="en-US" dirty="0" smtClean="0"/>
              <a:t>Pixel intensity values are normalized to a standard range to improve consistency and accuracy during disease analysis.</a:t>
            </a:r>
          </a:p>
          <a:p>
            <a:pPr>
              <a:buFont typeface="Arial" pitchFamily="34" charset="0"/>
              <a:buChar char="•"/>
            </a:pPr>
            <a:r>
              <a:rPr lang="en-US" sz="2000" b="1" dirty="0" smtClean="0"/>
              <a:t>Feature Extraction</a:t>
            </a:r>
            <a:r>
              <a:rPr lang="en-US" dirty="0" smtClean="0"/>
              <a:t/>
            </a:r>
            <a:br>
              <a:rPr lang="en-US" dirty="0" smtClean="0"/>
            </a:br>
            <a:r>
              <a:rPr lang="en-US" dirty="0" smtClean="0"/>
              <a:t>Important features such as color, texture, and shape are extracted from the processed image to identify disease severity levels.</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xmlns="" val="1592579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8772048-ADDD-CA14-7D97-65FB84CB2AD5}"/>
            </a:ext>
          </a:extLst>
        </p:cNvPr>
        <p:cNvGrpSpPr/>
        <p:nvPr/>
      </p:nvGrpSpPr>
      <p:grpSpPr>
        <a:xfrm>
          <a:off x="0" y="0"/>
          <a:ext cx="0" cy="0"/>
          <a:chOff x="0" y="0"/>
          <a:chExt cx="0" cy="0"/>
        </a:xfrm>
      </p:grpSpPr>
      <p:grpSp>
        <p:nvGrpSpPr>
          <p:cNvPr id="2" name="object 3">
            <a:extLst>
              <a:ext uri="{FF2B5EF4-FFF2-40B4-BE49-F238E27FC236}">
                <a16:creationId xmlns:a16="http://schemas.microsoft.com/office/drawing/2014/main" xmlns="" id="{2DF9672E-73D1-B727-6D0F-7BF88A933CEA}"/>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AB7A5060-8BF0-9936-3426-B2EE46A5763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D7FD8DBD-99BC-56FF-8A4F-72D70DE8FA69}"/>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xmlns="" id="{3589D569-CA9D-41A0-5645-47934F84F589}"/>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Sample Code</a:t>
            </a:r>
            <a:endParaRPr spc="-10" dirty="0"/>
          </a:p>
        </p:txBody>
      </p:sp>
      <p:sp>
        <p:nvSpPr>
          <p:cNvPr id="8" name="object 8">
            <a:extLst>
              <a:ext uri="{FF2B5EF4-FFF2-40B4-BE49-F238E27FC236}">
                <a16:creationId xmlns:a16="http://schemas.microsoft.com/office/drawing/2014/main" xmlns="" id="{DB27F617-27A7-D49E-3438-EDDA084CFEC1}"/>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xmlns="" id="{698C20E4-1C9B-9096-845C-FAB151FB5B5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655414F8-C299-E281-A225-97D4148E87EE}"/>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15</a:t>
            </a:fld>
            <a:endParaRPr spc="-25" dirty="0"/>
          </a:p>
        </p:txBody>
      </p:sp>
      <p:sp>
        <p:nvSpPr>
          <p:cNvPr id="7" name="object 7">
            <a:extLst>
              <a:ext uri="{FF2B5EF4-FFF2-40B4-BE49-F238E27FC236}">
                <a16:creationId xmlns:a16="http://schemas.microsoft.com/office/drawing/2014/main" xmlns="" id="{3CF58EA6-D464-88B0-72B1-084B2179349D}"/>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xmlns="" id="{DD17E88F-0BB0-E580-160F-0AAB68E1CA80}"/>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a16="http://schemas.microsoft.com/office/drawing/2014/main" xmlns="" id="{1157E2BB-4226-CBC2-2D92-EF280036601C}"/>
              </a:ext>
            </a:extLst>
          </p:cNvPr>
          <p:cNvSpPr txBox="1"/>
          <p:nvPr/>
        </p:nvSpPr>
        <p:spPr>
          <a:xfrm>
            <a:off x="5257800" y="2057400"/>
            <a:ext cx="184731" cy="707886"/>
          </a:xfrm>
          <a:prstGeom prst="rect">
            <a:avLst/>
          </a:prstGeom>
          <a:noFill/>
        </p:spPr>
        <p:txBody>
          <a:bodyPr wrap="non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8" name="Picture 17" descr="ChatGPT Image Jan 30, 2026, 09_57_02 AM.png"/>
          <p:cNvPicPr>
            <a:picLocks noChangeAspect="1"/>
          </p:cNvPicPr>
          <p:nvPr/>
        </p:nvPicPr>
        <p:blipFill>
          <a:blip r:embed="rId4"/>
          <a:stretch>
            <a:fillRect/>
          </a:stretch>
        </p:blipFill>
        <p:spPr>
          <a:xfrm>
            <a:off x="0" y="990600"/>
            <a:ext cx="12192000" cy="5638800"/>
          </a:xfrm>
          <a:prstGeom prst="rect">
            <a:avLst/>
          </a:prstGeom>
        </p:spPr>
      </p:pic>
    </p:spTree>
    <p:extLst>
      <p:ext uri="{BB962C8B-B14F-4D97-AF65-F5344CB8AC3E}">
        <p14:creationId xmlns:p14="http://schemas.microsoft.com/office/powerpoint/2010/main" xmlns="" val="374644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CC9E7A-9289-C819-D83C-8567C3686679}"/>
            </a:ext>
          </a:extLst>
        </p:cNvPr>
        <p:cNvGrpSpPr/>
        <p:nvPr/>
      </p:nvGrpSpPr>
      <p:grpSpPr>
        <a:xfrm>
          <a:off x="0" y="0"/>
          <a:ext cx="0" cy="0"/>
          <a:chOff x="0" y="0"/>
          <a:chExt cx="0" cy="0"/>
        </a:xfrm>
      </p:grpSpPr>
      <p:grpSp>
        <p:nvGrpSpPr>
          <p:cNvPr id="2" name="object 3">
            <a:extLst>
              <a:ext uri="{FF2B5EF4-FFF2-40B4-BE49-F238E27FC236}">
                <a16:creationId xmlns:a16="http://schemas.microsoft.com/office/drawing/2014/main" xmlns="" id="{81785553-C54A-C9E0-9D39-BCCF71013A37}"/>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D1AEBD3C-02D5-3563-0534-E6DBC68AAFA8}"/>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50A87751-432D-651B-F54E-DC77BD5DDE52}"/>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xmlns="" id="{E10A80B5-AF7A-F19D-17AD-0CD971E700D0}"/>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Screenshots(Project Output)</a:t>
            </a:r>
            <a:endParaRPr spc="-10" dirty="0"/>
          </a:p>
        </p:txBody>
      </p:sp>
      <p:sp>
        <p:nvSpPr>
          <p:cNvPr id="8" name="object 8">
            <a:extLst>
              <a:ext uri="{FF2B5EF4-FFF2-40B4-BE49-F238E27FC236}">
                <a16:creationId xmlns:a16="http://schemas.microsoft.com/office/drawing/2014/main" xmlns="" id="{42921505-139F-6F23-AB8C-AE9725280781}"/>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xmlns="" id="{B447304A-EDD3-95E9-B1CF-24D82451E08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6758FCEA-AA0F-812C-3D54-64EAC5BB6AEC}"/>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16</a:t>
            </a:fld>
            <a:endParaRPr spc="-25" dirty="0"/>
          </a:p>
        </p:txBody>
      </p:sp>
      <p:sp>
        <p:nvSpPr>
          <p:cNvPr id="7" name="object 7">
            <a:extLst>
              <a:ext uri="{FF2B5EF4-FFF2-40B4-BE49-F238E27FC236}">
                <a16:creationId xmlns:a16="http://schemas.microsoft.com/office/drawing/2014/main" xmlns="" id="{93CADEAA-7C92-FFF9-5E83-BE1A1690F888}"/>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xmlns="" id="{DF1D007C-8D3C-E835-E4D7-3C2777E1A258}"/>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a16="http://schemas.microsoft.com/office/drawing/2014/main" xmlns="" id="{D39E088B-8F14-44C5-29EB-B7103D2F85C8}"/>
              </a:ext>
            </a:extLst>
          </p:cNvPr>
          <p:cNvSpPr txBox="1"/>
          <p:nvPr/>
        </p:nvSpPr>
        <p:spPr>
          <a:xfrm>
            <a:off x="5257800" y="2057400"/>
            <a:ext cx="184731" cy="707886"/>
          </a:xfrm>
          <a:prstGeom prst="rect">
            <a:avLst/>
          </a:prstGeom>
          <a:noFill/>
        </p:spPr>
        <p:txBody>
          <a:bodyPr wrap="non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6" name="Picture 15" descr="WhatsApp Image 2026-01-30 at 9.18.53 AM.jpeg"/>
          <p:cNvPicPr>
            <a:picLocks noChangeAspect="1"/>
          </p:cNvPicPr>
          <p:nvPr/>
        </p:nvPicPr>
        <p:blipFill>
          <a:blip r:embed="rId4"/>
          <a:stretch>
            <a:fillRect/>
          </a:stretch>
        </p:blipFill>
        <p:spPr>
          <a:xfrm>
            <a:off x="914400" y="1066800"/>
            <a:ext cx="10287000" cy="5486400"/>
          </a:xfrm>
          <a:prstGeom prst="rect">
            <a:avLst/>
          </a:prstGeom>
        </p:spPr>
      </p:pic>
    </p:spTree>
    <p:extLst>
      <p:ext uri="{BB962C8B-B14F-4D97-AF65-F5344CB8AC3E}">
        <p14:creationId xmlns:p14="http://schemas.microsoft.com/office/powerpoint/2010/main" xmlns="" val="1005879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9E43F23-5F5A-2AD5-1E8F-BEDC1F158274}"/>
            </a:ext>
          </a:extLst>
        </p:cNvPr>
        <p:cNvGrpSpPr/>
        <p:nvPr/>
      </p:nvGrpSpPr>
      <p:grpSpPr>
        <a:xfrm>
          <a:off x="0" y="0"/>
          <a:ext cx="0" cy="0"/>
          <a:chOff x="0" y="0"/>
          <a:chExt cx="0" cy="0"/>
        </a:xfrm>
      </p:grpSpPr>
      <p:grpSp>
        <p:nvGrpSpPr>
          <p:cNvPr id="2" name="object 3">
            <a:extLst>
              <a:ext uri="{FF2B5EF4-FFF2-40B4-BE49-F238E27FC236}">
                <a16:creationId xmlns:a16="http://schemas.microsoft.com/office/drawing/2014/main" xmlns="" id="{77947637-542C-BACC-1796-2F373533CD5A}"/>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769AC709-8449-85C5-FF98-9DA7F92AE5A1}"/>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1F31B451-FC3C-A4F0-2D5F-8535460E7715}"/>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xmlns="" id="{E3C39865-A3EB-402F-0724-36F8929092A7}"/>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Screenshots(Project Output)</a:t>
            </a:r>
            <a:endParaRPr spc="-10" dirty="0"/>
          </a:p>
        </p:txBody>
      </p:sp>
      <p:sp>
        <p:nvSpPr>
          <p:cNvPr id="8" name="object 8">
            <a:extLst>
              <a:ext uri="{FF2B5EF4-FFF2-40B4-BE49-F238E27FC236}">
                <a16:creationId xmlns:a16="http://schemas.microsoft.com/office/drawing/2014/main" xmlns="" id="{306A2E4F-483F-FFA2-A27C-05FAAB7DA0A5}"/>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xmlns="" id="{4D0AF98B-398E-26A4-A9DF-7C677F60D6B0}"/>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ED882045-245B-C7F0-66C0-B343A4DA8D2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17</a:t>
            </a:fld>
            <a:endParaRPr spc="-25" dirty="0"/>
          </a:p>
        </p:txBody>
      </p:sp>
      <p:sp>
        <p:nvSpPr>
          <p:cNvPr id="7" name="object 7">
            <a:extLst>
              <a:ext uri="{FF2B5EF4-FFF2-40B4-BE49-F238E27FC236}">
                <a16:creationId xmlns:a16="http://schemas.microsoft.com/office/drawing/2014/main" xmlns="" id="{71EB1DF9-4927-7763-F739-E06042C931D6}"/>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xmlns="" id="{CF26EE8D-8D41-23AB-4578-164636B917CB}"/>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a16="http://schemas.microsoft.com/office/drawing/2014/main" xmlns="" id="{7826D1D8-A354-CF4B-9328-63EDA19A5857}"/>
              </a:ext>
            </a:extLst>
          </p:cNvPr>
          <p:cNvSpPr txBox="1"/>
          <p:nvPr/>
        </p:nvSpPr>
        <p:spPr>
          <a:xfrm>
            <a:off x="5257800" y="2057400"/>
            <a:ext cx="184731" cy="707886"/>
          </a:xfrm>
          <a:prstGeom prst="rect">
            <a:avLst/>
          </a:prstGeom>
          <a:noFill/>
        </p:spPr>
        <p:txBody>
          <a:bodyPr wrap="non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3" name="Picture 12" descr="Gemini_Generated_Image_pvyvbqpvyvbqpvyv.png"/>
          <p:cNvPicPr>
            <a:picLocks noChangeAspect="1"/>
          </p:cNvPicPr>
          <p:nvPr/>
        </p:nvPicPr>
        <p:blipFill>
          <a:blip r:embed="rId4"/>
          <a:stretch>
            <a:fillRect/>
          </a:stretch>
        </p:blipFill>
        <p:spPr>
          <a:xfrm>
            <a:off x="1066800" y="1066800"/>
            <a:ext cx="9619334" cy="5410200"/>
          </a:xfrm>
          <a:prstGeom prst="rect">
            <a:avLst/>
          </a:prstGeom>
        </p:spPr>
      </p:pic>
    </p:spTree>
    <p:extLst>
      <p:ext uri="{BB962C8B-B14F-4D97-AF65-F5344CB8AC3E}">
        <p14:creationId xmlns:p14="http://schemas.microsoft.com/office/powerpoint/2010/main" xmlns="" val="4145033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08542ED-20FD-33CE-C18A-0CE340477E6B}"/>
            </a:ext>
          </a:extLst>
        </p:cNvPr>
        <p:cNvGrpSpPr/>
        <p:nvPr/>
      </p:nvGrpSpPr>
      <p:grpSpPr>
        <a:xfrm>
          <a:off x="0" y="0"/>
          <a:ext cx="0" cy="0"/>
          <a:chOff x="0" y="0"/>
          <a:chExt cx="0" cy="0"/>
        </a:xfrm>
      </p:grpSpPr>
      <p:grpSp>
        <p:nvGrpSpPr>
          <p:cNvPr id="2" name="object 3">
            <a:extLst>
              <a:ext uri="{FF2B5EF4-FFF2-40B4-BE49-F238E27FC236}">
                <a16:creationId xmlns:a16="http://schemas.microsoft.com/office/drawing/2014/main" xmlns="" id="{51C34CCF-1E1F-0809-4DB5-E34A0E0DCF80}"/>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34B6B969-902B-175C-FC83-0509BE583E29}"/>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E863642C-7268-BBD8-9D8F-6F2467B04F41}"/>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xmlns="" id="{8669AA5F-38F1-C8D8-3C31-A0900476DE99}"/>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Screenshots(Project Output)</a:t>
            </a:r>
            <a:endParaRPr spc="-10" dirty="0"/>
          </a:p>
        </p:txBody>
      </p:sp>
      <p:sp>
        <p:nvSpPr>
          <p:cNvPr id="8" name="object 8">
            <a:extLst>
              <a:ext uri="{FF2B5EF4-FFF2-40B4-BE49-F238E27FC236}">
                <a16:creationId xmlns:a16="http://schemas.microsoft.com/office/drawing/2014/main" xmlns="" id="{58C4C502-B76D-E638-8342-4F9A0DAE7E19}"/>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xmlns="" id="{944996F7-8F85-0EA3-D5A6-E009ED126E03}"/>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0C1E18EB-82AE-C777-157C-FF09EF81D7A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18</a:t>
            </a:fld>
            <a:endParaRPr spc="-25" dirty="0"/>
          </a:p>
        </p:txBody>
      </p:sp>
      <p:sp>
        <p:nvSpPr>
          <p:cNvPr id="7" name="object 7">
            <a:extLst>
              <a:ext uri="{FF2B5EF4-FFF2-40B4-BE49-F238E27FC236}">
                <a16:creationId xmlns:a16="http://schemas.microsoft.com/office/drawing/2014/main" xmlns="" id="{FCDFEF18-1DE8-9175-09D3-4353F521B904}"/>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xmlns="" id="{EFD45ABF-D381-7B38-2823-7D94A97081D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a16="http://schemas.microsoft.com/office/drawing/2014/main" xmlns="" id="{D5F12BD9-3EA5-6453-E206-2396543E0096}"/>
              </a:ext>
            </a:extLst>
          </p:cNvPr>
          <p:cNvSpPr txBox="1"/>
          <p:nvPr/>
        </p:nvSpPr>
        <p:spPr>
          <a:xfrm>
            <a:off x="5257800" y="2057400"/>
            <a:ext cx="184731" cy="707886"/>
          </a:xfrm>
          <a:prstGeom prst="rect">
            <a:avLst/>
          </a:prstGeom>
          <a:noFill/>
        </p:spPr>
        <p:txBody>
          <a:bodyPr wrap="non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3" name="Picture 12" descr="WhatsApp Image 2026-01-30 at 10.57.35 AM.jpeg"/>
          <p:cNvPicPr>
            <a:picLocks noChangeAspect="1"/>
          </p:cNvPicPr>
          <p:nvPr/>
        </p:nvPicPr>
        <p:blipFill>
          <a:blip r:embed="rId4"/>
          <a:stretch>
            <a:fillRect/>
          </a:stretch>
        </p:blipFill>
        <p:spPr>
          <a:xfrm>
            <a:off x="685800" y="990600"/>
            <a:ext cx="10820400" cy="5562600"/>
          </a:xfrm>
          <a:prstGeom prst="rect">
            <a:avLst/>
          </a:prstGeom>
        </p:spPr>
      </p:pic>
    </p:spTree>
    <p:extLst>
      <p:ext uri="{BB962C8B-B14F-4D97-AF65-F5344CB8AC3E}">
        <p14:creationId xmlns:p14="http://schemas.microsoft.com/office/powerpoint/2010/main" xmlns="" val="2748333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08542ED-20FD-33CE-C18A-0CE340477E6B}"/>
            </a:ext>
          </a:extLst>
        </p:cNvPr>
        <p:cNvGrpSpPr/>
        <p:nvPr/>
      </p:nvGrpSpPr>
      <p:grpSpPr>
        <a:xfrm>
          <a:off x="0" y="0"/>
          <a:ext cx="0" cy="0"/>
          <a:chOff x="0" y="0"/>
          <a:chExt cx="0" cy="0"/>
        </a:xfrm>
      </p:grpSpPr>
      <p:grpSp>
        <p:nvGrpSpPr>
          <p:cNvPr id="2" name="object 3">
            <a:extLst>
              <a:ext uri="{FF2B5EF4-FFF2-40B4-BE49-F238E27FC236}">
                <a16:creationId xmlns:a16="http://schemas.microsoft.com/office/drawing/2014/main" xmlns="" id="{51C34CCF-1E1F-0809-4DB5-E34A0E0DCF80}"/>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34B6B969-902B-175C-FC83-0509BE583E29}"/>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E863642C-7268-BBD8-9D8F-6F2467B04F41}"/>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xmlns="" id="{8669AA5F-38F1-C8D8-3C31-A0900476DE99}"/>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Screenshots(Project Output)</a:t>
            </a:r>
            <a:endParaRPr spc="-10" dirty="0"/>
          </a:p>
        </p:txBody>
      </p:sp>
      <p:sp>
        <p:nvSpPr>
          <p:cNvPr id="8" name="object 8">
            <a:extLst>
              <a:ext uri="{FF2B5EF4-FFF2-40B4-BE49-F238E27FC236}">
                <a16:creationId xmlns:a16="http://schemas.microsoft.com/office/drawing/2014/main" xmlns="" id="{58C4C502-B76D-E638-8342-4F9A0DAE7E19}"/>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xmlns="" id="{944996F7-8F85-0EA3-D5A6-E009ED126E03}"/>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0C1E18EB-82AE-C777-157C-FF09EF81D7A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19</a:t>
            </a:fld>
            <a:endParaRPr spc="-25" dirty="0"/>
          </a:p>
        </p:txBody>
      </p:sp>
      <p:sp>
        <p:nvSpPr>
          <p:cNvPr id="7" name="object 7">
            <a:extLst>
              <a:ext uri="{FF2B5EF4-FFF2-40B4-BE49-F238E27FC236}">
                <a16:creationId xmlns:a16="http://schemas.microsoft.com/office/drawing/2014/main" xmlns="" id="{FCDFEF18-1DE8-9175-09D3-4353F521B904}"/>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xmlns="" id="{EFD45ABF-D381-7B38-2823-7D94A97081D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a16="http://schemas.microsoft.com/office/drawing/2014/main" xmlns="" id="{D5F12BD9-3EA5-6453-E206-2396543E0096}"/>
              </a:ext>
            </a:extLst>
          </p:cNvPr>
          <p:cNvSpPr txBox="1"/>
          <p:nvPr/>
        </p:nvSpPr>
        <p:spPr>
          <a:xfrm>
            <a:off x="5257800" y="2057400"/>
            <a:ext cx="184731" cy="707886"/>
          </a:xfrm>
          <a:prstGeom prst="rect">
            <a:avLst/>
          </a:prstGeom>
          <a:noFill/>
        </p:spPr>
        <p:txBody>
          <a:bodyPr wrap="non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4" name="Picture 13" descr="WhatsApp Image 2026-01-30 at 10.56.26 AM.jpeg"/>
          <p:cNvPicPr>
            <a:picLocks noChangeAspect="1"/>
          </p:cNvPicPr>
          <p:nvPr/>
        </p:nvPicPr>
        <p:blipFill>
          <a:blip r:embed="rId4">
            <a:lum/>
          </a:blip>
          <a:stretch>
            <a:fillRect/>
          </a:stretch>
        </p:blipFill>
        <p:spPr>
          <a:xfrm>
            <a:off x="685800" y="914400"/>
            <a:ext cx="10744200" cy="5638800"/>
          </a:xfrm>
          <a:prstGeom prst="rect">
            <a:avLst/>
          </a:prstGeom>
        </p:spPr>
      </p:pic>
    </p:spTree>
    <p:extLst>
      <p:ext uri="{BB962C8B-B14F-4D97-AF65-F5344CB8AC3E}">
        <p14:creationId xmlns:p14="http://schemas.microsoft.com/office/powerpoint/2010/main" xmlns="" val="2748333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t>Reference</a:t>
            </a:r>
          </a:p>
        </p:txBody>
      </p:sp>
      <p:sp>
        <p:nvSpPr>
          <p:cNvPr id="9" name="object 9"/>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20</a:t>
            </a:fld>
            <a:endParaRPr spc="-25" dirty="0"/>
          </a:p>
        </p:txBody>
      </p:sp>
      <p:sp>
        <p:nvSpPr>
          <p:cNvPr id="13" name="object 9">
            <a:extLst>
              <a:ext uri="{FF2B5EF4-FFF2-40B4-BE49-F238E27FC236}">
                <a16:creationId xmlns:a16="http://schemas.microsoft.com/office/drawing/2014/main" xmlns=""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a16="http://schemas.microsoft.com/office/drawing/2014/main" xmlns="" id="{E98567D7-0835-E777-904C-4B43CBA57B04}"/>
              </a:ext>
            </a:extLst>
          </p:cNvPr>
          <p:cNvSpPr txBox="1"/>
          <p:nvPr/>
        </p:nvSpPr>
        <p:spPr>
          <a:xfrm>
            <a:off x="141784" y="1295400"/>
            <a:ext cx="12050214" cy="4893647"/>
          </a:xfrm>
          <a:prstGeom prst="rect">
            <a:avLst/>
          </a:prstGeom>
          <a:noFill/>
        </p:spPr>
        <p:txBody>
          <a:bodyPr wrap="square" rtlCol="0">
            <a:spAutoFit/>
          </a:bodyPr>
          <a:lstStyle/>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Prakash M. </a:t>
            </a:r>
            <a:r>
              <a:rPr lang="en-IN" sz="2400" dirty="0" err="1">
                <a:latin typeface="Times New Roman" panose="02020603050405020304" pitchFamily="18" charset="0"/>
                <a:cs typeface="Times New Roman" panose="02020603050405020304" pitchFamily="18" charset="0"/>
              </a:rPr>
              <a:t>Manikar</a:t>
            </a:r>
            <a:r>
              <a:rPr lang="en-IN" sz="2400" dirty="0">
                <a:latin typeface="Times New Roman" panose="02020603050405020304" pitchFamily="18" charset="0"/>
                <a:cs typeface="Times New Roman" panose="02020603050405020304" pitchFamily="18" charset="0"/>
              </a:rPr>
              <a:t>, Shreekant Ghorpade, Mayur Adawadkar, "Plant Leaf Disease Detection and Classification Using Image Processing Techniques," International Engineering Journal, Volume 2, Issue 4, 2015.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2 Prof. Bhavana Patil, Mr. Hemant Panchal, Mr. SHUBHAM Yadav, Mr. Arvind Singh, Mr. Dinesh Patil, "Plant Monitoring Using Image Processing, Raspberry PI and IOT," Journal of Engineering and Technology, Volume 4, Issue 10, 2017</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3 Navin V. </a:t>
            </a:r>
            <a:r>
              <a:rPr lang="en-IN" sz="2400" dirty="0" err="1">
                <a:latin typeface="Times New Roman" panose="02020603050405020304" pitchFamily="18" charset="0"/>
                <a:cs typeface="Times New Roman" panose="02020603050405020304" pitchFamily="18" charset="0"/>
              </a:rPr>
              <a:t>Dumare</a:t>
            </a:r>
            <a:r>
              <a:rPr lang="en-IN" sz="2400" dirty="0">
                <a:latin typeface="Times New Roman" panose="02020603050405020304" pitchFamily="18" charset="0"/>
                <a:cs typeface="Times New Roman" panose="02020603050405020304" pitchFamily="18" charset="0"/>
              </a:rPr>
              <a:t>, Prof. S. S. </a:t>
            </a:r>
            <a:r>
              <a:rPr lang="en-IN" sz="2400" dirty="0" err="1">
                <a:latin typeface="Times New Roman" panose="02020603050405020304" pitchFamily="18" charset="0"/>
                <a:cs typeface="Times New Roman" panose="02020603050405020304" pitchFamily="18" charset="0"/>
              </a:rPr>
              <a:t>Mungona</a:t>
            </a:r>
            <a:r>
              <a:rPr lang="en-IN" sz="2400" dirty="0">
                <a:latin typeface="Times New Roman" panose="02020603050405020304" pitchFamily="18" charset="0"/>
                <a:cs typeface="Times New Roman" panose="02020603050405020304" pitchFamily="18" charset="0"/>
              </a:rPr>
              <a:t>, "Identification of Cotton Leaf Diseases Using Raspberry PI," Volume 5, Issue 5, 2017, International Journal on Recent and Technology Trends in Computing and Communication.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Prathamesh. K. </a:t>
            </a:r>
            <a:r>
              <a:rPr lang="en-IN" sz="2400" dirty="0" err="1">
                <a:latin typeface="Times New Roman" panose="02020603050405020304" pitchFamily="18" charset="0"/>
                <a:cs typeface="Times New Roman" panose="02020603050405020304" pitchFamily="18" charset="0"/>
              </a:rPr>
              <a:t>Kharde</a:t>
            </a:r>
            <a:r>
              <a:rPr lang="en-IN" sz="2400" dirty="0">
                <a:latin typeface="Times New Roman" panose="02020603050405020304" pitchFamily="18" charset="0"/>
                <a:cs typeface="Times New Roman" panose="02020603050405020304" pitchFamily="18" charset="0"/>
              </a:rPr>
              <a:t>, Hemangi. H. Kulkarni, "A Special Method for the Detection of Grape Leaf Diseases," International Journal of Scientific Research, Volume 2, Issue 4, 2016.</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Jayaprakash Sethupathy, Veni S, International Journal of Engineering and Technology, Volume 8, No 5, 2016, "Open CV Based Disease Detection of Mango Leaves." </a:t>
            </a:r>
            <a:endParaRPr lang="en-IN"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4831" y="220980"/>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t>	Dashboard</a:t>
            </a:r>
            <a:endParaRPr spc="-10" dirty="0"/>
          </a:p>
        </p:txBody>
      </p:sp>
      <p:sp>
        <p:nvSpPr>
          <p:cNvPr id="13" name="object 13"/>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5" name="object 15"/>
          <p:cNvSpPr txBox="1"/>
          <p:nvPr/>
        </p:nvSpPr>
        <p:spPr>
          <a:xfrm>
            <a:off x="7147577" y="6629311"/>
            <a:ext cx="43586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21</a:t>
            </a:fld>
            <a:endParaRPr spc="-25" dirty="0"/>
          </a:p>
        </p:txBody>
      </p:sp>
      <p:sp>
        <p:nvSpPr>
          <p:cNvPr id="17" name="object 9">
            <a:extLst>
              <a:ext uri="{FF2B5EF4-FFF2-40B4-BE49-F238E27FC236}">
                <a16:creationId xmlns:a16="http://schemas.microsoft.com/office/drawing/2014/main" xmlns="" id="{D6CEC1F6-617C-1215-8F71-FD4FF09C0AD7}"/>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pic>
        <p:nvPicPr>
          <p:cNvPr id="11" name="Picture 10" descr="Screenshot (6).png"/>
          <p:cNvPicPr>
            <a:picLocks noChangeAspect="1"/>
          </p:cNvPicPr>
          <p:nvPr/>
        </p:nvPicPr>
        <p:blipFill>
          <a:blip r:embed="rId3"/>
          <a:stretch>
            <a:fillRect/>
          </a:stretch>
        </p:blipFill>
        <p:spPr>
          <a:xfrm>
            <a:off x="304800" y="1066800"/>
            <a:ext cx="11049000" cy="521830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141783" y="6627168"/>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6" name="object 6"/>
          <p:cNvSpPr txBox="1"/>
          <p:nvPr/>
        </p:nvSpPr>
        <p:spPr>
          <a:xfrm>
            <a:off x="7147577" y="6629310"/>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22</a:t>
            </a:fld>
            <a:endParaRPr spc="-25" dirty="0"/>
          </a:p>
        </p:txBody>
      </p:sp>
      <p:sp>
        <p:nvSpPr>
          <p:cNvPr id="3" name="object 3"/>
          <p:cNvSpPr txBox="1">
            <a:spLocks noGrp="1"/>
          </p:cNvSpPr>
          <p:nvPr>
            <p:ph type="title"/>
          </p:nvPr>
        </p:nvSpPr>
        <p:spPr>
          <a:xfrm>
            <a:off x="2826638" y="235230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
        <p:nvSpPr>
          <p:cNvPr id="8" name="object 9">
            <a:extLst>
              <a:ext uri="{FF2B5EF4-FFF2-40B4-BE49-F238E27FC236}">
                <a16:creationId xmlns:a16="http://schemas.microsoft.com/office/drawing/2014/main" xmlns="" id="{38036199-2B51-9B00-5280-3FB15D955DE6}"/>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6" name="object 6"/>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23</a:t>
            </a:fld>
            <a:endParaRPr spc="-25" dirty="0"/>
          </a:p>
        </p:txBody>
      </p:sp>
      <p:sp>
        <p:nvSpPr>
          <p:cNvPr id="3" name="object 3"/>
          <p:cNvSpPr txBox="1">
            <a:spLocks noGrp="1"/>
          </p:cNvSpPr>
          <p:nvPr>
            <p:ph type="title"/>
          </p:nvPr>
        </p:nvSpPr>
        <p:spPr>
          <a:xfrm>
            <a:off x="2826638" y="2249889"/>
            <a:ext cx="3140710" cy="3156585"/>
          </a:xfrm>
          <a:prstGeom prst="rect">
            <a:avLst/>
          </a:prstGeom>
        </p:spPr>
        <p:txBody>
          <a:bodyPr vert="horz" wrap="square" lIns="0" tIns="12700" rIns="0" bIns="0" rtlCol="0">
            <a:spAutoFit/>
          </a:bodyPr>
          <a:lstStyle/>
          <a:p>
            <a:pPr marL="12700" marR="5080">
              <a:lnSpc>
                <a:spcPct val="107000"/>
              </a:lnSpc>
              <a:spcBef>
                <a:spcPts val="100"/>
              </a:spcBef>
            </a:pPr>
            <a:r>
              <a:rPr sz="9600" i="1" spc="-10" dirty="0">
                <a:solidFill>
                  <a:srgbClr val="FF6600"/>
                </a:solidFill>
                <a:latin typeface="Times New Roman"/>
                <a:cs typeface="Times New Roman"/>
              </a:rPr>
              <a:t>Thank You!!!</a:t>
            </a:r>
            <a:endParaRPr sz="9600">
              <a:latin typeface="Times New Roman"/>
              <a:cs typeface="Times New Roman"/>
            </a:endParaRPr>
          </a:p>
        </p:txBody>
      </p:sp>
      <p:sp>
        <p:nvSpPr>
          <p:cNvPr id="8" name="object 9">
            <a:extLst>
              <a:ext uri="{FF2B5EF4-FFF2-40B4-BE49-F238E27FC236}">
                <a16:creationId xmlns:a16="http://schemas.microsoft.com/office/drawing/2014/main" xmlns="" id="{54D73473-8B89-25C7-80BC-FF44172E7C40}"/>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951</TotalTime>
  <Words>2250</Words>
  <Application>Microsoft Office PowerPoint</Application>
  <PresentationFormat>Custom</PresentationFormat>
  <Paragraphs>244</Paragraphs>
  <Slides>23</Slides>
  <Notes>17</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  Smart Fertilizer Spraying System Using Plant Disease Severity Analysis</vt:lpstr>
      <vt:lpstr>Contents</vt:lpstr>
      <vt:lpstr>Abstract</vt:lpstr>
      <vt:lpstr>Introduction</vt:lpstr>
      <vt:lpstr>Objectives Of Project</vt:lpstr>
      <vt:lpstr>Literature Survey</vt:lpstr>
      <vt:lpstr>Literature Survey</vt:lpstr>
      <vt:lpstr>Existing System</vt:lpstr>
      <vt:lpstr>Proposed System</vt:lpstr>
      <vt:lpstr>Planning</vt:lpstr>
      <vt:lpstr>Requirements</vt:lpstr>
      <vt:lpstr>UML Diagrams</vt:lpstr>
      <vt:lpstr>Data Flow Diagram</vt:lpstr>
      <vt:lpstr>Data Preprocessing Techniques</vt:lpstr>
      <vt:lpstr>Sample Code</vt:lpstr>
      <vt:lpstr>Screenshots(Project Output)</vt:lpstr>
      <vt:lpstr>Screenshots(Project Output)</vt:lpstr>
      <vt:lpstr>Screenshots(Project Output)</vt:lpstr>
      <vt:lpstr>Screenshots(Project Output)</vt:lpstr>
      <vt:lpstr>Reference</vt:lpstr>
      <vt:lpstr>Git Hub Dashboard</vt:lpstr>
      <vt:lpstr>Any Queries?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IOT-BASED  COMPREHENSIVE REAL-TIME CHILD MONITORING FOR                                  IMPROVED SAFETY AND OVERSIGHT</dc:title>
  <dc:creator>Sreeja Ganne</dc:creator>
  <cp:lastModifiedBy>Smile</cp:lastModifiedBy>
  <cp:revision>17</cp:revision>
  <dcterms:created xsi:type="dcterms:W3CDTF">2025-09-12T04:18:11Z</dcterms:created>
  <dcterms:modified xsi:type="dcterms:W3CDTF">2026-01-30T05:35:30Z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Creator">
    <vt:lpwstr>Google</vt:lpwstr>
  </property>
  <property fmtid="{D5CDD505-2E9C-101B-9397-08002B2CF9AE}" pid="4" name="LastSaved">
    <vt:filetime>2025-09-12T00:00:00Z</vt:filetime>
  </property>
</Properties>
</file>