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8" r:id="rId3"/>
    <p:sldId id="266" r:id="rId4"/>
    <p:sldId id="257" r:id="rId5"/>
    <p:sldId id="259" r:id="rId6"/>
    <p:sldId id="267" r:id="rId7"/>
    <p:sldId id="260" r:id="rId8"/>
    <p:sldId id="269" r:id="rId9"/>
    <p:sldId id="261" r:id="rId10"/>
    <p:sldId id="270" r:id="rId11"/>
    <p:sldId id="271" r:id="rId12"/>
    <p:sldId id="274" r:id="rId13"/>
    <p:sldId id="262" r:id="rId14"/>
    <p:sldId id="272" r:id="rId15"/>
    <p:sldId id="273" r:id="rId16"/>
    <p:sldId id="263" r:id="rId17"/>
    <p:sldId id="264" r:id="rId18"/>
    <p:sldId id="265" r:id="rId19"/>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A289E9F3-74E8-4CB1-A7E3-D4DEAB46E5B2}">
          <p14:sldIdLst>
            <p14:sldId id="256"/>
            <p14:sldId id="258"/>
            <p14:sldId id="266"/>
            <p14:sldId id="257"/>
            <p14:sldId id="259"/>
            <p14:sldId id="267"/>
            <p14:sldId id="260"/>
            <p14:sldId id="269"/>
            <p14:sldId id="261"/>
            <p14:sldId id="270"/>
            <p14:sldId id="271"/>
            <p14:sldId id="274"/>
            <p14:sldId id="262"/>
            <p14:sldId id="272"/>
            <p14:sldId id="273"/>
            <p14:sldId id="263"/>
            <p14:sldId id="264"/>
            <p14:sldId id="265"/>
          </p14:sldIdLst>
        </p14:section>
        <p14:section name="Untitled Section" id="{C6B00087-380B-4DEF-BDE3-E525EFBAC2FB}">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8604" autoAdjust="0"/>
  </p:normalViewPr>
  <p:slideViewPr>
    <p:cSldViewPr>
      <p:cViewPr varScale="1">
        <p:scale>
          <a:sx n="73" d="100"/>
          <a:sy n="73" d="100"/>
        </p:scale>
        <p:origin x="821"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thi Bomma" userId="071ddb6149ff7e44" providerId="LiveId" clId="{CF4DF93A-E27A-43F8-A3A3-DE667DFC5CB1}"/>
    <pc:docChg chg="modSld">
      <pc:chgData name="Revathi Bomma" userId="071ddb6149ff7e44" providerId="LiveId" clId="{CF4DF93A-E27A-43F8-A3A3-DE667DFC5CB1}" dt="2026-01-01T15:52:18.200" v="61" actId="2711"/>
      <pc:docMkLst>
        <pc:docMk/>
      </pc:docMkLst>
      <pc:sldChg chg="modSp mod">
        <pc:chgData name="Revathi Bomma" userId="071ddb6149ff7e44" providerId="LiveId" clId="{CF4DF93A-E27A-43F8-A3A3-DE667DFC5CB1}" dt="2026-01-01T15:49:27.153" v="6" actId="20577"/>
        <pc:sldMkLst>
          <pc:docMk/>
          <pc:sldMk cId="0" sldId="256"/>
        </pc:sldMkLst>
        <pc:spChg chg="mod">
          <ac:chgData name="Revathi Bomma" userId="071ddb6149ff7e44" providerId="LiveId" clId="{CF4DF93A-E27A-43F8-A3A3-DE667DFC5CB1}" dt="2026-01-01T15:49:27.153" v="6" actId="20577"/>
          <ac:spMkLst>
            <pc:docMk/>
            <pc:sldMk cId="0" sldId="256"/>
            <ac:spMk id="9" creationId="{00000000-0000-0000-0000-000000000000}"/>
          </ac:spMkLst>
        </pc:spChg>
        <pc:spChg chg="mod">
          <ac:chgData name="Revathi Bomma" userId="071ddb6149ff7e44" providerId="LiveId" clId="{CF4DF93A-E27A-43F8-A3A3-DE667DFC5CB1}" dt="2026-01-01T15:49:18.842" v="2" actId="20577"/>
          <ac:spMkLst>
            <pc:docMk/>
            <pc:sldMk cId="0" sldId="256"/>
            <ac:spMk id="13" creationId="{00000000-0000-0000-0000-000000000000}"/>
          </ac:spMkLst>
        </pc:spChg>
      </pc:sldChg>
      <pc:sldChg chg="modSp mod">
        <pc:chgData name="Revathi Bomma" userId="071ddb6149ff7e44" providerId="LiveId" clId="{CF4DF93A-E27A-43F8-A3A3-DE667DFC5CB1}" dt="2026-01-01T15:50:36.511" v="27" actId="20577"/>
        <pc:sldMkLst>
          <pc:docMk/>
          <pc:sldMk cId="0" sldId="257"/>
        </pc:sldMkLst>
        <pc:spChg chg="mod">
          <ac:chgData name="Revathi Bomma" userId="071ddb6149ff7e44" providerId="LiveId" clId="{CF4DF93A-E27A-43F8-A3A3-DE667DFC5CB1}" dt="2026-01-01T15:50:36.511" v="27" actId="20577"/>
          <ac:spMkLst>
            <pc:docMk/>
            <pc:sldMk cId="0" sldId="257"/>
            <ac:spMk id="14" creationId="{29A68E3C-6099-B180-7254-EAAF8399ED3B}"/>
          </ac:spMkLst>
        </pc:spChg>
      </pc:sldChg>
      <pc:sldChg chg="modSp mod">
        <pc:chgData name="Revathi Bomma" userId="071ddb6149ff7e44" providerId="LiveId" clId="{CF4DF93A-E27A-43F8-A3A3-DE667DFC5CB1}" dt="2026-01-01T15:49:37.499" v="25" actId="20577"/>
        <pc:sldMkLst>
          <pc:docMk/>
          <pc:sldMk cId="0" sldId="258"/>
        </pc:sldMkLst>
        <pc:spChg chg="mod">
          <ac:chgData name="Revathi Bomma" userId="071ddb6149ff7e44" providerId="LiveId" clId="{CF4DF93A-E27A-43F8-A3A3-DE667DFC5CB1}" dt="2026-01-01T15:49:37.499" v="25" actId="20577"/>
          <ac:spMkLst>
            <pc:docMk/>
            <pc:sldMk cId="0" sldId="258"/>
            <ac:spMk id="7" creationId="{00000000-0000-0000-0000-000000000000}"/>
          </ac:spMkLst>
        </pc:spChg>
      </pc:sldChg>
      <pc:sldChg chg="modSp mod">
        <pc:chgData name="Revathi Bomma" userId="071ddb6149ff7e44" providerId="LiveId" clId="{CF4DF93A-E27A-43F8-A3A3-DE667DFC5CB1}" dt="2026-01-01T15:50:56.100" v="31" actId="1076"/>
        <pc:sldMkLst>
          <pc:docMk/>
          <pc:sldMk cId="0" sldId="259"/>
        </pc:sldMkLst>
        <pc:spChg chg="mod">
          <ac:chgData name="Revathi Bomma" userId="071ddb6149ff7e44" providerId="LiveId" clId="{CF4DF93A-E27A-43F8-A3A3-DE667DFC5CB1}" dt="2026-01-01T15:50:56.100" v="31" actId="1076"/>
          <ac:spMkLst>
            <pc:docMk/>
            <pc:sldMk cId="0" sldId="259"/>
            <ac:spMk id="14" creationId="{4C1451A4-759F-E2B2-5571-50D7B7C9E59F}"/>
          </ac:spMkLst>
        </pc:spChg>
      </pc:sldChg>
      <pc:sldChg chg="modSp mod">
        <pc:chgData name="Revathi Bomma" userId="071ddb6149ff7e44" providerId="LiveId" clId="{CF4DF93A-E27A-43F8-A3A3-DE667DFC5CB1}" dt="2026-01-01T15:51:06.704" v="33" actId="20577"/>
        <pc:sldMkLst>
          <pc:docMk/>
          <pc:sldMk cId="0" sldId="260"/>
        </pc:sldMkLst>
        <pc:spChg chg="mod">
          <ac:chgData name="Revathi Bomma" userId="071ddb6149ff7e44" providerId="LiveId" clId="{CF4DF93A-E27A-43F8-A3A3-DE667DFC5CB1}" dt="2026-01-01T15:51:06.704" v="33" actId="20577"/>
          <ac:spMkLst>
            <pc:docMk/>
            <pc:sldMk cId="0" sldId="260"/>
            <ac:spMk id="12" creationId="{54DC6A21-A96F-02AA-6030-BED8C9E2DB5C}"/>
          </ac:spMkLst>
        </pc:spChg>
      </pc:sldChg>
      <pc:sldChg chg="modSp mod">
        <pc:chgData name="Revathi Bomma" userId="071ddb6149ff7e44" providerId="LiveId" clId="{CF4DF93A-E27A-43F8-A3A3-DE667DFC5CB1}" dt="2026-01-01T15:51:19.783" v="37" actId="20577"/>
        <pc:sldMkLst>
          <pc:docMk/>
          <pc:sldMk cId="0" sldId="261"/>
        </pc:sldMkLst>
        <pc:spChg chg="mod">
          <ac:chgData name="Revathi Bomma" userId="071ddb6149ff7e44" providerId="LiveId" clId="{CF4DF93A-E27A-43F8-A3A3-DE667DFC5CB1}" dt="2026-01-01T15:51:19.783" v="37" actId="20577"/>
          <ac:spMkLst>
            <pc:docMk/>
            <pc:sldMk cId="0" sldId="261"/>
            <ac:spMk id="9" creationId="{7288F165-7028-955D-D6CC-432D2AE064DE}"/>
          </ac:spMkLst>
        </pc:spChg>
      </pc:sldChg>
      <pc:sldChg chg="modSp mod">
        <pc:chgData name="Revathi Bomma" userId="071ddb6149ff7e44" providerId="LiveId" clId="{CF4DF93A-E27A-43F8-A3A3-DE667DFC5CB1}" dt="2026-01-01T15:51:01.656" v="32" actId="20577"/>
        <pc:sldMkLst>
          <pc:docMk/>
          <pc:sldMk cId="1868900862" sldId="267"/>
        </pc:sldMkLst>
        <pc:spChg chg="mod">
          <ac:chgData name="Revathi Bomma" userId="071ddb6149ff7e44" providerId="LiveId" clId="{CF4DF93A-E27A-43F8-A3A3-DE667DFC5CB1}" dt="2026-01-01T15:51:01.656" v="32" actId="20577"/>
          <ac:spMkLst>
            <pc:docMk/>
            <pc:sldMk cId="1868900862" sldId="267"/>
            <ac:spMk id="15" creationId="{06C27353-C81E-6D02-EDD9-9B798985605C}"/>
          </ac:spMkLst>
        </pc:spChg>
      </pc:sldChg>
      <pc:sldChg chg="modSp mod">
        <pc:chgData name="Revathi Bomma" userId="071ddb6149ff7e44" providerId="LiveId" clId="{CF4DF93A-E27A-43F8-A3A3-DE667DFC5CB1}" dt="2026-01-01T15:51:14.827" v="35" actId="20577"/>
        <pc:sldMkLst>
          <pc:docMk/>
          <pc:sldMk cId="1902439460" sldId="269"/>
        </pc:sldMkLst>
        <pc:spChg chg="mod">
          <ac:chgData name="Revathi Bomma" userId="071ddb6149ff7e44" providerId="LiveId" clId="{CF4DF93A-E27A-43F8-A3A3-DE667DFC5CB1}" dt="2026-01-01T15:51:14.827" v="35" actId="20577"/>
          <ac:spMkLst>
            <pc:docMk/>
            <pc:sldMk cId="1902439460" sldId="269"/>
            <ac:spMk id="9" creationId="{7F0DE90C-D6D3-08AE-9D5A-1A0DE666DCB6}"/>
          </ac:spMkLst>
        </pc:spChg>
      </pc:sldChg>
      <pc:sldChg chg="modSp mod">
        <pc:chgData name="Revathi Bomma" userId="071ddb6149ff7e44" providerId="LiveId" clId="{CF4DF93A-E27A-43F8-A3A3-DE667DFC5CB1}" dt="2026-01-01T15:52:05.301" v="60" actId="20577"/>
        <pc:sldMkLst>
          <pc:docMk/>
          <pc:sldMk cId="0" sldId="272"/>
        </pc:sldMkLst>
        <pc:spChg chg="mod">
          <ac:chgData name="Revathi Bomma" userId="071ddb6149ff7e44" providerId="LiveId" clId="{CF4DF93A-E27A-43F8-A3A3-DE667DFC5CB1}" dt="2026-01-01T15:51:39.552" v="39" actId="1076"/>
          <ac:spMkLst>
            <pc:docMk/>
            <pc:sldMk cId="0" sldId="272"/>
            <ac:spMk id="2" creationId="{E98567D7-0835-E777-904C-4B43CBA57B04}"/>
          </ac:spMkLst>
        </pc:spChg>
        <pc:spChg chg="mod">
          <ac:chgData name="Revathi Bomma" userId="071ddb6149ff7e44" providerId="LiveId" clId="{CF4DF93A-E27A-43F8-A3A3-DE667DFC5CB1}" dt="2026-01-01T15:52:05.301" v="60" actId="20577"/>
          <ac:spMkLst>
            <pc:docMk/>
            <pc:sldMk cId="0" sldId="272"/>
            <ac:spMk id="6" creationId="{00000000-0000-0000-0000-000000000000}"/>
          </ac:spMkLst>
        </pc:spChg>
      </pc:sldChg>
      <pc:sldChg chg="modSp mod">
        <pc:chgData name="Revathi Bomma" userId="071ddb6149ff7e44" providerId="LiveId" clId="{CF4DF93A-E27A-43F8-A3A3-DE667DFC5CB1}" dt="2026-01-01T15:52:18.200" v="61" actId="2711"/>
        <pc:sldMkLst>
          <pc:docMk/>
          <pc:sldMk cId="0" sldId="273"/>
        </pc:sldMkLst>
        <pc:spChg chg="mod">
          <ac:chgData name="Revathi Bomma" userId="071ddb6149ff7e44" providerId="LiveId" clId="{CF4DF93A-E27A-43F8-A3A3-DE667DFC5CB1}" dt="2026-01-01T15:52:18.200" v="61" actId="2711"/>
          <ac:spMkLst>
            <pc:docMk/>
            <pc:sldMk cId="0" sldId="273"/>
            <ac:spMk id="2" creationId="{E98567D7-0835-E777-904C-4B43CBA57B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pPr/>
              <a:t>01-01-2026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pPr/>
              <a:t>‹#›</a:t>
            </a:fld>
            <a:endParaRPr lang="en-IN"/>
          </a:p>
        </p:txBody>
      </p:sp>
    </p:spTree>
    <p:extLst>
      <p:ext uri="{BB962C8B-B14F-4D97-AF65-F5344CB8AC3E}">
        <p14:creationId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a:t>
            </a:fld>
            <a:endParaRPr lang="en-IN"/>
          </a:p>
        </p:txBody>
      </p:sp>
    </p:spTree>
    <p:extLst>
      <p:ext uri="{BB962C8B-B14F-4D97-AF65-F5344CB8AC3E}">
        <p14:creationId xmlns:p14="http://schemas.microsoft.com/office/powerpoint/2010/main" val="292934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286E-8910-4C28-BEDF-9D0C96D6B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C990-A2BB-6566-5216-75133D7883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DFD7416-EBDE-EF76-186F-D27DDB5E81A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26D9C3B-BB2B-79EA-79A8-10CA5C43D053}"/>
              </a:ext>
            </a:extLst>
          </p:cNvPr>
          <p:cNvSpPr>
            <a:spLocks noGrp="1"/>
          </p:cNvSpPr>
          <p:nvPr>
            <p:ph type="sldNum" sz="quarter" idx="5"/>
          </p:nvPr>
        </p:nvSpPr>
        <p:spPr/>
        <p:txBody>
          <a:bodyPr/>
          <a:lstStyle/>
          <a:p>
            <a:fld id="{623472F7-00EC-40F3-A111-228D446E4BD5}" type="slidenum">
              <a:rPr lang="en-IN" smtClean="0"/>
              <a:pPr/>
              <a:t>3</a:t>
            </a:fld>
            <a:endParaRPr lang="en-IN"/>
          </a:p>
        </p:txBody>
      </p:sp>
    </p:spTree>
    <p:extLst>
      <p:ext uri="{BB962C8B-B14F-4D97-AF65-F5344CB8AC3E}">
        <p14:creationId xmlns:p14="http://schemas.microsoft.com/office/powerpoint/2010/main" val="3440904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4</a:t>
            </a:fld>
            <a:endParaRPr lang="en-IN"/>
          </a:p>
        </p:txBody>
      </p:sp>
    </p:spTree>
    <p:extLst>
      <p:ext uri="{BB962C8B-B14F-4D97-AF65-F5344CB8AC3E}">
        <p14:creationId xmlns:p14="http://schemas.microsoft.com/office/powerpoint/2010/main" val="192493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6</a:t>
            </a:fld>
            <a:endParaRPr lang="en-IN"/>
          </a:p>
        </p:txBody>
      </p:sp>
    </p:spTree>
    <p:extLst>
      <p:ext uri="{BB962C8B-B14F-4D97-AF65-F5344CB8AC3E}">
        <p14:creationId xmlns:p14="http://schemas.microsoft.com/office/powerpoint/2010/main" val="1120643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7</a:t>
            </a:fld>
            <a:endParaRPr lang="en-IN"/>
          </a:p>
        </p:txBody>
      </p:sp>
    </p:spTree>
    <p:extLst>
      <p:ext uri="{BB962C8B-B14F-4D97-AF65-F5344CB8AC3E}">
        <p14:creationId xmlns:p14="http://schemas.microsoft.com/office/powerpoint/2010/main" val="2350675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4E565-AD43-1278-9517-8C0476160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6C30B-5F2F-95B2-DE81-F3CE232EE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3524EDD-B1C0-DA73-2CFA-E3E9BC8241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5B7884-73C6-05E5-1212-9B18803104F6}"/>
              </a:ext>
            </a:extLst>
          </p:cNvPr>
          <p:cNvSpPr>
            <a:spLocks noGrp="1"/>
          </p:cNvSpPr>
          <p:nvPr>
            <p:ph type="sldNum" sz="quarter" idx="5"/>
          </p:nvPr>
        </p:nvSpPr>
        <p:spPr/>
        <p:txBody>
          <a:bodyPr/>
          <a:lstStyle/>
          <a:p>
            <a:fld id="{623472F7-00EC-40F3-A111-228D446E4BD5}" type="slidenum">
              <a:rPr lang="en-IN" smtClean="0"/>
              <a:pPr/>
              <a:t>8</a:t>
            </a:fld>
            <a:endParaRPr lang="en-IN"/>
          </a:p>
        </p:txBody>
      </p:sp>
    </p:spTree>
    <p:extLst>
      <p:ext uri="{BB962C8B-B14F-4D97-AF65-F5344CB8AC3E}">
        <p14:creationId xmlns:p14="http://schemas.microsoft.com/office/powerpoint/2010/main" val="2048284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9</a:t>
            </a:fld>
            <a:endParaRPr lang="en-IN"/>
          </a:p>
        </p:txBody>
      </p:sp>
    </p:spTree>
    <p:extLst>
      <p:ext uri="{BB962C8B-B14F-4D97-AF65-F5344CB8AC3E}">
        <p14:creationId xmlns:p14="http://schemas.microsoft.com/office/powerpoint/2010/main" val="311228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95C7D-8089-3950-CC57-8FD06EBB1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0D2808-40BE-889D-B39E-741353B2EE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98C2AE4-78B9-072F-68D1-34E31FEDE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0DE719-3D56-9CB5-3F3E-360884A1B0A4}"/>
              </a:ext>
            </a:extLst>
          </p:cNvPr>
          <p:cNvSpPr>
            <a:spLocks noGrp="1"/>
          </p:cNvSpPr>
          <p:nvPr>
            <p:ph type="sldNum" sz="quarter" idx="5"/>
          </p:nvPr>
        </p:nvSpPr>
        <p:spPr/>
        <p:txBody>
          <a:bodyPr/>
          <a:lstStyle/>
          <a:p>
            <a:fld id="{623472F7-00EC-40F3-A111-228D446E4BD5}" type="slidenum">
              <a:rPr lang="en-IN" smtClean="0"/>
              <a:pPr/>
              <a:t>10</a:t>
            </a:fld>
            <a:endParaRPr lang="en-IN"/>
          </a:p>
        </p:txBody>
      </p:sp>
    </p:spTree>
    <p:extLst>
      <p:ext uri="{BB962C8B-B14F-4D97-AF65-F5344CB8AC3E}">
        <p14:creationId xmlns:p14="http://schemas.microsoft.com/office/powerpoint/2010/main" val="249986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11</a:t>
            </a:fld>
            <a:endParaRPr lang="en-IN"/>
          </a:p>
        </p:txBody>
      </p:sp>
    </p:spTree>
    <p:extLst>
      <p:ext uri="{BB962C8B-B14F-4D97-AF65-F5344CB8AC3E}">
        <p14:creationId xmlns:p14="http://schemas.microsoft.com/office/powerpoint/2010/main" val="98809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12</a:t>
            </a:fld>
            <a:endParaRPr lang="en-IN"/>
          </a:p>
        </p:txBody>
      </p:sp>
    </p:spTree>
    <p:extLst>
      <p:ext uri="{BB962C8B-B14F-4D97-AF65-F5344CB8AC3E}">
        <p14:creationId xmlns:p14="http://schemas.microsoft.com/office/powerpoint/2010/main" val="988091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17</a:t>
            </a:fld>
            <a:endParaRPr lang="en-IN"/>
          </a:p>
        </p:txBody>
      </p:sp>
    </p:spTree>
    <p:extLst>
      <p:ext uri="{BB962C8B-B14F-4D97-AF65-F5344CB8AC3E}">
        <p14:creationId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35564" y="-12787"/>
            <a:ext cx="12192000" cy="308246"/>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pPr algn="ctr"/>
            <a:r>
              <a:rPr lang="en-US" dirty="0">
                <a:solidFill>
                  <a:schemeClr val="bg1"/>
                </a:solidFill>
              </a:rPr>
              <a:t>Smart Fertilizer Spraying System Using Plant Disease Severity Analysis</a:t>
            </a:r>
            <a:endParaRPr dirty="0">
              <a:solidFill>
                <a:schemeClr val="bg1"/>
              </a:solidFill>
            </a:endParaRPr>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US" dirty="0">
                <a:solidFill>
                  <a:schemeClr val="bg1"/>
                </a:solidFill>
              </a:rPr>
              <a:t>B-10</a:t>
            </a:r>
            <a:endParaRPr dirty="0">
              <a:solidFill>
                <a:schemeClr val="bg1"/>
              </a:solidFill>
            </a:endParaRPr>
          </a:p>
        </p:txBody>
      </p:sp>
      <p:sp>
        <p:nvSpPr>
          <p:cNvPr id="8" name="object 8"/>
          <p:cNvSpPr txBox="1"/>
          <p:nvPr/>
        </p:nvSpPr>
        <p:spPr>
          <a:xfrm>
            <a:off x="8821037" y="1686288"/>
            <a:ext cx="1990725"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Sravani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24G1A33A4</a:t>
            </a:r>
            <a:endParaRPr sz="1100" dirty="0">
              <a:latin typeface="Times New Roman"/>
              <a:cs typeface="Times New Roman"/>
            </a:endParaRPr>
          </a:p>
        </p:txBody>
      </p:sp>
      <p:sp>
        <p:nvSpPr>
          <p:cNvPr id="9" name="object 9"/>
          <p:cNvSpPr txBox="1"/>
          <p:nvPr/>
        </p:nvSpPr>
        <p:spPr>
          <a:xfrm>
            <a:off x="2362200" y="2512042"/>
            <a:ext cx="6629400" cy="744435"/>
          </a:xfrm>
          <a:prstGeom prst="rect">
            <a:avLst/>
          </a:prstGeom>
        </p:spPr>
        <p:txBody>
          <a:bodyPr vert="horz" wrap="square" lIns="0" tIns="71755" rIns="0" bIns="0" rtlCol="0">
            <a:spAutoFit/>
          </a:bodyPr>
          <a:lstStyle/>
          <a:p>
            <a:pPr>
              <a:spcBef>
                <a:spcPts val="300"/>
              </a:spcBef>
            </a:pPr>
            <a:r>
              <a:rPr lang="en-US" sz="1400" b="0" i="1" dirty="0"/>
              <a:t>                              		Under the guidance of</a:t>
            </a:r>
          </a:p>
          <a:p>
            <a:pPr algn="ctr">
              <a:spcBef>
                <a:spcPts val="200"/>
              </a:spcBef>
            </a:pPr>
            <a:r>
              <a:rPr lang="en-US" sz="2400" b="0" dirty="0">
                <a:effectLst>
                  <a:outerShdw blurRad="38100" dist="38100" dir="2700000" algn="tl">
                    <a:srgbClr val="000000">
                      <a:alpha val="43137"/>
                    </a:srgbClr>
                  </a:outerShdw>
                </a:effectLst>
              </a:rPr>
              <a:t>          </a:t>
            </a:r>
            <a:r>
              <a:rPr lang="en-US" sz="1600" b="0" dirty="0">
                <a:effectLst>
                  <a:outerShdw blurRad="38100" dist="38100" dir="2700000" algn="tl">
                    <a:srgbClr val="000000">
                      <a:alpha val="43137"/>
                    </a:srgbClr>
                  </a:outerShdw>
                </a:effectLst>
              </a:rPr>
              <a:t> </a:t>
            </a:r>
            <a:r>
              <a:rPr lang="en-US" sz="2800" dirty="0"/>
              <a:t>Dr. C. Sasikala </a:t>
            </a:r>
            <a:r>
              <a:rPr lang="en-US" sz="1600" dirty="0" err="1"/>
              <a:t>M.Tech</a:t>
            </a:r>
            <a:r>
              <a:rPr lang="en-US" sz="1600" dirty="0"/>
              <a:t>., Ph.D.  </a:t>
            </a:r>
            <a:endParaRPr lang="en-IN" sz="1600" b="0" baseline="-25000" dirty="0">
              <a:effectLst>
                <a:outerShdw blurRad="38100" dist="38100" dir="2700000" algn="tl">
                  <a:srgbClr val="000000">
                    <a:alpha val="43137"/>
                  </a:srgbClr>
                </a:outerShdw>
              </a:effectLst>
            </a:endParaRPr>
          </a:p>
        </p:txBody>
      </p:sp>
      <p:sp>
        <p:nvSpPr>
          <p:cNvPr id="11" name="object 11"/>
          <p:cNvSpPr txBox="1"/>
          <p:nvPr/>
        </p:nvSpPr>
        <p:spPr>
          <a:xfrm>
            <a:off x="2709823" y="5109203"/>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4140839" y="1704327"/>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G Sreeja</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24G1A33A9</a:t>
            </a:r>
            <a:endParaRPr sz="1100" dirty="0">
              <a:latin typeface="Times New Roman"/>
              <a:cs typeface="Times New Roman"/>
            </a:endParaRPr>
          </a:p>
        </p:txBody>
      </p:sp>
      <p:sp>
        <p:nvSpPr>
          <p:cNvPr id="13" name="object 13"/>
          <p:cNvSpPr txBox="1"/>
          <p:nvPr/>
        </p:nvSpPr>
        <p:spPr>
          <a:xfrm>
            <a:off x="1399594" y="1704327"/>
            <a:ext cx="2268799"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Trinesh Reddy</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34G5A3311</a:t>
            </a:r>
            <a:endParaRPr sz="1100" dirty="0">
              <a:latin typeface="Times New Roman"/>
              <a:cs typeface="Times New Roman"/>
            </a:endParaRPr>
          </a:p>
        </p:txBody>
      </p:sp>
      <p:sp>
        <p:nvSpPr>
          <p:cNvPr id="14" name="object 14"/>
          <p:cNvSpPr txBox="1"/>
          <p:nvPr/>
        </p:nvSpPr>
        <p:spPr>
          <a:xfrm>
            <a:off x="6604010" y="1674584"/>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B Revathi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24G1A3380</a:t>
            </a:r>
            <a:endParaRPr sz="1100" dirty="0">
              <a:latin typeface="Times New Roman"/>
              <a:cs typeface="Times New Roman"/>
            </a:endParaRPr>
          </a:p>
        </p:txBody>
      </p:sp>
      <p:grpSp>
        <p:nvGrpSpPr>
          <p:cNvPr id="15" name="object 15"/>
          <p:cNvGrpSpPr/>
          <p:nvPr/>
        </p:nvGrpSpPr>
        <p:grpSpPr>
          <a:xfrm>
            <a:off x="262722" y="253730"/>
            <a:ext cx="11449396" cy="1125770"/>
            <a:chOff x="697859" y="297171"/>
            <a:chExt cx="10642600" cy="972185"/>
          </a:xfrm>
        </p:grpSpPr>
        <p:pic>
          <p:nvPicPr>
            <p:cNvPr id="16" name="object 16"/>
            <p:cNvPicPr/>
            <p:nvPr/>
          </p:nvPicPr>
          <p:blipFill>
            <a:blip r:embed="rId2"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777238" y="524621"/>
            <a:ext cx="11951340" cy="443711"/>
          </a:xfrm>
          <a:prstGeom prst="rect">
            <a:avLst/>
          </a:prstGeom>
        </p:spPr>
        <p:txBody>
          <a:bodyPr vert="horz" wrap="square" lIns="0" tIns="12700" rIns="0" bIns="0" rtlCol="0">
            <a:spAutoFit/>
          </a:bodyPr>
          <a:lstStyle/>
          <a:p>
            <a:pPr marL="12700">
              <a:lnSpc>
                <a:spcPct val="100000"/>
              </a:lnSpc>
              <a:spcBef>
                <a:spcPts val="100"/>
              </a:spcBef>
            </a:pPr>
            <a:r>
              <a:rPr lang="en-US" sz="2800" dirty="0"/>
              <a:t>  Smart Fertilizer Spraying System Using Plant Disease Severity Analysis</a:t>
            </a:r>
            <a:endParaRPr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3" cstate="print"/>
          <a:stretch>
            <a:fillRect/>
          </a:stretch>
        </p:blipFill>
        <p:spPr>
          <a:xfrm>
            <a:off x="5342105" y="3477045"/>
            <a:ext cx="1843672" cy="1685486"/>
          </a:xfrm>
          <a:prstGeom prst="rect">
            <a:avLst/>
          </a:prstGeom>
        </p:spPr>
      </p:pic>
      <p:sp>
        <p:nvSpPr>
          <p:cNvPr id="25" name="object 9">
            <a:extLst>
              <a:ext uri="{FF2B5EF4-FFF2-40B4-BE49-F238E27FC236}">
                <a16:creationId xmlns:a16="http://schemas.microsoft.com/office/drawing/2014/main" id="{D4A2D25B-33EC-CC7B-AF2F-5309C2997632}"/>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7" name="TextBox 26">
            <a:extLst>
              <a:ext uri="{FF2B5EF4-FFF2-40B4-BE49-F238E27FC236}">
                <a16:creationId xmlns:a16="http://schemas.microsoft.com/office/drawing/2014/main" id="{359CF6B6-5F8C-ABC8-2607-C8A5865035DA}"/>
              </a:ext>
            </a:extLst>
          </p:cNvPr>
          <p:cNvSpPr txBox="1"/>
          <p:nvPr/>
        </p:nvSpPr>
        <p:spPr>
          <a:xfrm>
            <a:off x="6183186" y="6581001"/>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                              1</a:t>
            </a:r>
            <a:endParaRPr lang="en-US" sz="1800" dirty="0">
              <a:latin typeface="Times New Roman"/>
              <a:cs typeface="Times New Roman"/>
            </a:endParaRPr>
          </a:p>
        </p:txBody>
      </p:sp>
      <p:sp>
        <p:nvSpPr>
          <p:cNvPr id="21" name="TextBox 20">
            <a:extLst>
              <a:ext uri="{FF2B5EF4-FFF2-40B4-BE49-F238E27FC236}">
                <a16:creationId xmlns:a16="http://schemas.microsoft.com/office/drawing/2014/main" id="{00D44161-CDDD-7E98-7A6C-7DBBFAF7BAA2}"/>
              </a:ext>
            </a:extLst>
          </p:cNvPr>
          <p:cNvSpPr txBox="1"/>
          <p:nvPr/>
        </p:nvSpPr>
        <p:spPr>
          <a:xfrm>
            <a:off x="2913036" y="3221871"/>
            <a:ext cx="6365240" cy="369332"/>
          </a:xfrm>
          <a:prstGeom prst="rect">
            <a:avLst/>
          </a:prstGeom>
          <a:noFill/>
        </p:spPr>
        <p:txBody>
          <a:bodyPr wrap="square">
            <a:spAutoFit/>
          </a:bodyPr>
          <a:lstStyle/>
          <a:p>
            <a:pPr algn="ctr"/>
            <a:r>
              <a:rPr lang="en-US" dirty="0"/>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0071" y="20947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144305" y="1540391"/>
            <a:ext cx="7370348" cy="4547399"/>
          </a:xfrm>
          <a:prstGeom prst="rect">
            <a:avLst/>
          </a:prstGeom>
        </p:spPr>
        <p:txBody>
          <a:bodyPr vert="horz" wrap="square" lIns="0" tIns="12700" rIns="0" bIns="0" rtlCol="0">
            <a:spAutoFit/>
          </a:bodyPr>
          <a:lstStyle/>
          <a:p>
            <a:pPr marL="421005" indent="-408305">
              <a:lnSpc>
                <a:spcPct val="100000"/>
              </a:lnSpc>
              <a:spcBef>
                <a:spcPts val="100"/>
              </a:spcBef>
              <a:buChar char="•"/>
              <a:tabLst>
                <a:tab pos="421005" algn="l"/>
              </a:tabLst>
            </a:pPr>
            <a:r>
              <a:rPr sz="3200" spc="-10" dirty="0">
                <a:latin typeface="Times New Roman" panose="02020603050405020304" pitchFamily="18" charset="0"/>
                <a:cs typeface="Times New Roman" panose="02020603050405020304" pitchFamily="18" charset="0"/>
              </a:rPr>
              <a:t>Abstract</a:t>
            </a:r>
            <a:endParaRPr lang="en-IN" sz="3200" spc="-1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lang="en-IN" sz="3200" spc="-10" dirty="0">
                <a:latin typeface="Times New Roman" panose="02020603050405020304" pitchFamily="18" charset="0"/>
                <a:cs typeface="Times New Roman" panose="02020603050405020304" pitchFamily="18" charset="0"/>
              </a:rPr>
              <a:t>Introduction</a:t>
            </a:r>
          </a:p>
          <a:p>
            <a:pPr marL="421005" indent="-408305">
              <a:lnSpc>
                <a:spcPct val="100000"/>
              </a:lnSpc>
              <a:spcBef>
                <a:spcPts val="100"/>
              </a:spcBef>
              <a:buChar char="•"/>
              <a:tabLst>
                <a:tab pos="421005" algn="l"/>
              </a:tabLst>
            </a:pPr>
            <a:r>
              <a:rPr sz="3200" dirty="0">
                <a:latin typeface="Times New Roman" panose="02020603050405020304" pitchFamily="18" charset="0"/>
                <a:cs typeface="Times New Roman" panose="02020603050405020304" pitchFamily="18" charset="0"/>
              </a:rPr>
              <a:t>Literature</a:t>
            </a:r>
            <a:r>
              <a:rPr sz="3200" spc="-5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survey</a:t>
            </a:r>
            <a:endParaRPr lang="en-IN" sz="3200" spc="-1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sz="3200" dirty="0">
                <a:latin typeface="Times New Roman" panose="02020603050405020304" pitchFamily="18" charset="0"/>
                <a:cs typeface="Times New Roman" panose="02020603050405020304" pitchFamily="18" charset="0"/>
              </a:rPr>
              <a:t>Proposed</a:t>
            </a:r>
            <a:r>
              <a:rPr sz="3200" spc="-105" dirty="0">
                <a:latin typeface="Times New Roman" panose="02020603050405020304" pitchFamily="18" charset="0"/>
                <a:cs typeface="Times New Roman" panose="02020603050405020304" pitchFamily="18" charset="0"/>
              </a:rPr>
              <a:t> </a:t>
            </a:r>
            <a:r>
              <a:rPr sz="3200" spc="-20" dirty="0">
                <a:latin typeface="Times New Roman" panose="02020603050405020304" pitchFamily="18" charset="0"/>
                <a:cs typeface="Times New Roman" panose="02020603050405020304" pitchFamily="18" charset="0"/>
              </a:rPr>
              <a:t>Work</a:t>
            </a:r>
            <a:endParaRPr lang="en-IN" sz="320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sz="3200" spc="-10" dirty="0">
                <a:latin typeface="Times New Roman" panose="02020603050405020304" pitchFamily="18" charset="0"/>
                <a:cs typeface="Times New Roman" panose="02020603050405020304" pitchFamily="18" charset="0"/>
              </a:rPr>
              <a:t>References</a:t>
            </a:r>
            <a:endParaRPr lang="en-IN" sz="3200" spc="-1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lang="en-IN" sz="3200" spc="-10" dirty="0" err="1">
                <a:latin typeface="Times New Roman" panose="02020603050405020304" pitchFamily="18" charset="0"/>
                <a:cs typeface="Times New Roman" panose="02020603050405020304" pitchFamily="18" charset="0"/>
              </a:rPr>
              <a:t>Applicationss</a:t>
            </a:r>
            <a:endParaRPr lang="en-IN" sz="3200" spc="-1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lang="en-IN" sz="3200" dirty="0">
                <a:latin typeface="Times New Roman" panose="02020603050405020304" pitchFamily="18" charset="0"/>
                <a:cs typeface="Times New Roman" panose="02020603050405020304" pitchFamily="18" charset="0"/>
              </a:rPr>
              <a:t>Conclusion</a:t>
            </a:r>
          </a:p>
          <a:p>
            <a:pPr marL="421005" indent="-408305">
              <a:lnSpc>
                <a:spcPct val="100000"/>
              </a:lnSpc>
              <a:spcBef>
                <a:spcPts val="100"/>
              </a:spcBef>
              <a:buChar char="•"/>
              <a:tabLst>
                <a:tab pos="421005" algn="l"/>
              </a:tabLst>
            </a:pPr>
            <a:r>
              <a:rPr sz="3200" dirty="0">
                <a:latin typeface="Times New Roman" panose="02020603050405020304" pitchFamily="18" charset="0"/>
                <a:cs typeface="Times New Roman" panose="02020603050405020304" pitchFamily="18" charset="0"/>
              </a:rPr>
              <a:t>GitHub </a:t>
            </a:r>
            <a:r>
              <a:rPr sz="3200" spc="-20" dirty="0">
                <a:latin typeface="Times New Roman" panose="02020603050405020304" pitchFamily="18" charset="0"/>
                <a:cs typeface="Times New Roman" panose="02020603050405020304" pitchFamily="18" charset="0"/>
              </a:rPr>
              <a:t>Link</a:t>
            </a:r>
            <a:endParaRPr lang="en-IN" sz="3200" dirty="0">
              <a:latin typeface="Times New Roman" panose="02020603050405020304" pitchFamily="18" charset="0"/>
              <a:cs typeface="Times New Roman" panose="02020603050405020304" pitchFamily="18" charset="0"/>
            </a:endParaRPr>
          </a:p>
          <a:p>
            <a:pPr marL="421005" indent="-408305">
              <a:lnSpc>
                <a:spcPct val="100000"/>
              </a:lnSpc>
              <a:spcBef>
                <a:spcPts val="100"/>
              </a:spcBef>
              <a:buChar char="•"/>
              <a:tabLst>
                <a:tab pos="421005" algn="l"/>
              </a:tabLst>
            </a:pPr>
            <a:r>
              <a:rPr sz="3200" spc="-10" dirty="0">
                <a:latin typeface="Times New Roman" panose="02020603050405020304" pitchFamily="18" charset="0"/>
                <a:cs typeface="Times New Roman" panose="02020603050405020304" pitchFamily="18" charset="0"/>
              </a:rPr>
              <a:t>Queries</a:t>
            </a:r>
            <a:endParaRPr sz="3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9701E11-DBAB-CE68-E741-A3B1A4F51729}"/>
              </a:ext>
            </a:extLst>
          </p:cNvPr>
          <p:cNvSpPr txBox="1"/>
          <p:nvPr/>
        </p:nvSpPr>
        <p:spPr>
          <a:xfrm>
            <a:off x="33448" y="6560059"/>
            <a:ext cx="914400" cy="369332"/>
          </a:xfrm>
          <a:prstGeom prst="rect">
            <a:avLst/>
          </a:prstGeom>
          <a:noFill/>
        </p:spPr>
        <p:txBody>
          <a:bodyPr wrap="square" rtlCol="0">
            <a:spAutoFit/>
          </a:bodyPr>
          <a:lstStyle/>
          <a:p>
            <a:r>
              <a:rPr lang="en-US" dirty="0">
                <a:solidFill>
                  <a:schemeClr val="bg1"/>
                </a:solidFill>
              </a:rPr>
              <a:t>B-10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56DE-5CA5-ED52-39FE-9F577994E07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9A4D10-AB1E-54EB-584A-46D4F49277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a16="http://schemas.microsoft.com/office/drawing/2014/main" id="{1A87F1AF-0335-897E-0CD5-8F63BA5F24F2}"/>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1CAA28C5-B635-DC5F-94C5-7D42306C6263}"/>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54951443-935D-E727-D463-3F2F0B5CB59A}"/>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0FD3BA3A-1870-02F8-E6AE-49A2E39BC718}"/>
              </a:ext>
            </a:extLst>
          </p:cNvPr>
          <p:cNvSpPr txBox="1">
            <a:spLocks noGrp="1"/>
          </p:cNvSpPr>
          <p:nvPr>
            <p:ph type="title"/>
          </p:nvPr>
        </p:nvSpPr>
        <p:spPr>
          <a:xfrm>
            <a:off x="325850" y="156902"/>
            <a:ext cx="5617750" cy="689932"/>
          </a:xfrm>
          <a:prstGeom prst="rect">
            <a:avLst/>
          </a:prstGeom>
        </p:spPr>
        <p:txBody>
          <a:bodyPr vert="horz" wrap="square" lIns="0" tIns="12700" rIns="0" bIns="0" rtlCol="0">
            <a:spAutoFit/>
          </a:bodyPr>
          <a:lstStyle/>
          <a:p>
            <a:pPr marL="12700">
              <a:lnSpc>
                <a:spcPct val="100000"/>
              </a:lnSpc>
              <a:spcBef>
                <a:spcPts val="100"/>
              </a:spcBef>
            </a:pPr>
            <a:r>
              <a:rPr lang="en-IN" spc="-10" dirty="0"/>
              <a:t>Review-0 comments</a:t>
            </a:r>
            <a:endParaRPr spc="-10" dirty="0"/>
          </a:p>
        </p:txBody>
      </p:sp>
      <p:sp>
        <p:nvSpPr>
          <p:cNvPr id="8" name="object 8">
            <a:extLst>
              <a:ext uri="{FF2B5EF4-FFF2-40B4-BE49-F238E27FC236}">
                <a16:creationId xmlns:a16="http://schemas.microsoft.com/office/drawing/2014/main" id="{7D1E96E2-2A3E-2CDA-ABC8-DD20420FE0B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id="{C81EAF67-084B-2856-DF4D-93ADD8423CFA}"/>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a16="http://schemas.microsoft.com/office/drawing/2014/main" id="{A7B291DE-AF78-DB7E-B19A-52353511FDD7}"/>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1EB1F5B0-FE8F-2A5D-A070-492E5BBB2D2A}"/>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3</a:t>
            </a:r>
            <a:endParaRPr sz="1600" dirty="0">
              <a:latin typeface="Times New Roman"/>
              <a:cs typeface="Times New Roman"/>
            </a:endParaRPr>
          </a:p>
        </p:txBody>
      </p:sp>
      <p:sp>
        <p:nvSpPr>
          <p:cNvPr id="13" name="TextBox 12">
            <a:extLst>
              <a:ext uri="{FF2B5EF4-FFF2-40B4-BE49-F238E27FC236}">
                <a16:creationId xmlns:a16="http://schemas.microsoft.com/office/drawing/2014/main" id="{FD427201-FB20-2647-6E79-5B8334AD649E}"/>
              </a:ext>
            </a:extLst>
          </p:cNvPr>
          <p:cNvSpPr txBox="1"/>
          <p:nvPr/>
        </p:nvSpPr>
        <p:spPr>
          <a:xfrm>
            <a:off x="163720" y="1079388"/>
            <a:ext cx="9144002" cy="523220"/>
          </a:xfrm>
          <a:prstGeom prst="rect">
            <a:avLst/>
          </a:prstGeom>
          <a:noFill/>
        </p:spPr>
        <p:txBody>
          <a:bodyPr wrap="square">
            <a:spAutoFit/>
          </a:bodyPr>
          <a:lstStyle/>
          <a:p>
            <a:pPr marL="0" indent="0">
              <a:buNone/>
            </a:pPr>
            <a:r>
              <a:rPr lang="en-US" sz="2800" b="1" u="sng" dirty="0">
                <a:latin typeface="Times New Roman" panose="02020603050405020304" pitchFamily="18" charset="0"/>
                <a:cs typeface="Times New Roman" panose="02020603050405020304" pitchFamily="18" charset="0"/>
              </a:rPr>
              <a:t>Comment from Review–0:</a:t>
            </a:r>
            <a:endParaRPr lang="en-US" sz="2800" u="sng"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6AC46D2-D721-B180-931B-A1F13454E9FC}"/>
              </a:ext>
            </a:extLst>
          </p:cNvPr>
          <p:cNvSpPr txBox="1"/>
          <p:nvPr/>
        </p:nvSpPr>
        <p:spPr>
          <a:xfrm>
            <a:off x="163720" y="3296940"/>
            <a:ext cx="6096000"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Action Taken:</a:t>
            </a:r>
          </a:p>
        </p:txBody>
      </p:sp>
      <p:sp>
        <p:nvSpPr>
          <p:cNvPr id="17" name="TextBox 16">
            <a:extLst>
              <a:ext uri="{FF2B5EF4-FFF2-40B4-BE49-F238E27FC236}">
                <a16:creationId xmlns:a16="http://schemas.microsoft.com/office/drawing/2014/main" id="{4CD3A177-5ABE-C4C7-EE1A-CDC8C16C50D1}"/>
              </a:ext>
            </a:extLst>
          </p:cNvPr>
          <p:cNvSpPr txBox="1"/>
          <p:nvPr/>
        </p:nvSpPr>
        <p:spPr>
          <a:xfrm>
            <a:off x="163720" y="1571506"/>
            <a:ext cx="11745891" cy="1692771"/>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The project was approved to proceed; however, it was suggested that the system should operate without direct human intervention during fertilizer spraying and should not be a wearable device for the farmer</a:t>
            </a:r>
            <a:r>
              <a:rPr lang="en-US" sz="2000" dirty="0"/>
              <a:t>.</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4C948F6-3894-299F-FE61-59933283502B}"/>
              </a:ext>
            </a:extLst>
          </p:cNvPr>
          <p:cNvSpPr txBox="1"/>
          <p:nvPr/>
        </p:nvSpPr>
        <p:spPr>
          <a:xfrm>
            <a:off x="227234" y="3820160"/>
            <a:ext cx="12028277" cy="2800767"/>
          </a:xfrm>
          <a:prstGeom prst="rect">
            <a:avLst/>
          </a:prstGeom>
          <a:noFill/>
        </p:spPr>
        <p:txBody>
          <a:bodyPr wrap="square">
            <a:spAutoFit/>
          </a:bodyPr>
          <a:lstStyle/>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Conducted a preliminary field-level study by interacting with farmers.</a:t>
            </a:r>
          </a:p>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Eliminated the need for any wearable </a:t>
            </a:r>
            <a:r>
              <a:rPr lang="en-IN" sz="2800" dirty="0">
                <a:latin typeface="Times New Roman" panose="02020603050405020304" pitchFamily="18" charset="0"/>
                <a:cs typeface="Times New Roman" panose="02020603050405020304" pitchFamily="18" charset="0"/>
              </a:rPr>
              <a:t>device  for the farmer</a:t>
            </a:r>
            <a:r>
              <a:rPr lang="en-US" sz="28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Implemented Bluetooth-based wireless communication for remote monitoring and control</a:t>
            </a:r>
            <a:r>
              <a:rPr lang="en-US" sz="2800" dirty="0"/>
              <a:t>.</a:t>
            </a:r>
            <a:br>
              <a:rPr lang="en-US" sz="28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618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24956"/>
            <a:ext cx="11395712" cy="233039"/>
            <a:chOff x="777238" y="6634572"/>
            <a:chExt cx="11395710" cy="223427"/>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34798"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r>
                <a:rPr lang="en-US" sz="1600" dirty="0"/>
                <a:t> 4</a:t>
              </a:r>
              <a:endParaRPr sz="1600" dirty="0"/>
            </a:p>
          </p:txBody>
        </p:sp>
      </p:grpSp>
      <p:sp>
        <p:nvSpPr>
          <p:cNvPr id="6" name="object 6"/>
          <p:cNvSpPr/>
          <p:nvPr/>
        </p:nvSpPr>
        <p:spPr>
          <a:xfrm>
            <a:off x="0" y="-5183"/>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r>
              <a:rPr lang="en-US" sz="1800" b="1" i="1" dirty="0">
                <a:solidFill>
                  <a:srgbClr val="FFFFFF"/>
                </a:solidFill>
                <a:latin typeface="Times New Roman"/>
                <a:cs typeface="Times New Roman"/>
              </a:rPr>
              <a:t>                                                                   </a:t>
            </a:r>
            <a:endParaRPr lang="en-US" sz="1500" b="1" dirty="0">
              <a:latin typeface="Times New Roman"/>
              <a:cs typeface="Times New Roman"/>
            </a:endParaRPr>
          </a:p>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marL="12700">
              <a:lnSpc>
                <a:spcPts val="1845"/>
              </a:lnSpc>
            </a:pPr>
            <a:r>
              <a:rPr lang="en-US" sz="1600" spc="-25" dirty="0">
                <a:solidFill>
                  <a:schemeClr val="bg1"/>
                </a:solidFill>
              </a:rPr>
              <a:t>  B - 10</a:t>
            </a:r>
          </a:p>
        </p:txBody>
      </p:sp>
      <p:sp>
        <p:nvSpPr>
          <p:cNvPr id="10" name="object 9">
            <a:extLst>
              <a:ext uri="{FF2B5EF4-FFF2-40B4-BE49-F238E27FC236}">
                <a16:creationId xmlns:a16="http://schemas.microsoft.com/office/drawing/2014/main" id="{541F5DB9-DC70-842B-1465-3F4E1CFFEA66}"/>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object 5">
            <a:extLst>
              <a:ext uri="{FF2B5EF4-FFF2-40B4-BE49-F238E27FC236}">
                <a16:creationId xmlns:a16="http://schemas.microsoft.com/office/drawing/2014/main" id="{1F8162E0-03D8-FFC9-68AC-DDFC70A7433A}"/>
              </a:ext>
            </a:extLst>
          </p:cNvPr>
          <p:cNvSpPr/>
          <p:nvPr/>
        </p:nvSpPr>
        <p:spPr>
          <a:xfrm>
            <a:off x="-10350" y="233044"/>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sp>
        <p:nvSpPr>
          <p:cNvPr id="12" name="TextBox 11">
            <a:extLst>
              <a:ext uri="{FF2B5EF4-FFF2-40B4-BE49-F238E27FC236}">
                <a16:creationId xmlns:a16="http://schemas.microsoft.com/office/drawing/2014/main" id="{5CF40C25-388B-8BFE-A772-519ED202E660}"/>
              </a:ext>
            </a:extLst>
          </p:cNvPr>
          <p:cNvSpPr txBox="1"/>
          <p:nvPr/>
        </p:nvSpPr>
        <p:spPr>
          <a:xfrm>
            <a:off x="6559061" y="6629793"/>
            <a:ext cx="5195135" cy="553998"/>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a:t>
            </a:r>
            <a:endParaRPr lang="en-US" sz="1800" dirty="0">
              <a:latin typeface="Times New Roman"/>
              <a:cs typeface="Times New Roman"/>
            </a:endParaRPr>
          </a:p>
          <a:p>
            <a:pPr marL="12700">
              <a:lnSpc>
                <a:spcPts val="1845"/>
              </a:lnSpc>
            </a:pPr>
            <a:endParaRPr lang="en-US" sz="1800" dirty="0">
              <a:latin typeface="Times New Roman"/>
              <a:cs typeface="Times New Roman"/>
            </a:endParaRPr>
          </a:p>
        </p:txBody>
      </p:sp>
      <p:sp>
        <p:nvSpPr>
          <p:cNvPr id="8" name="object 8"/>
          <p:cNvSpPr txBox="1">
            <a:spLocks noGrp="1"/>
          </p:cNvSpPr>
          <p:nvPr>
            <p:ph type="title"/>
          </p:nvPr>
        </p:nvSpPr>
        <p:spPr>
          <a:xfrm>
            <a:off x="379193" y="176499"/>
            <a:ext cx="1915160" cy="695960"/>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spc="-10" dirty="0"/>
          </a:p>
        </p:txBody>
      </p:sp>
      <p:sp>
        <p:nvSpPr>
          <p:cNvPr id="14" name="TextBox 13">
            <a:extLst>
              <a:ext uri="{FF2B5EF4-FFF2-40B4-BE49-F238E27FC236}">
                <a16:creationId xmlns:a16="http://schemas.microsoft.com/office/drawing/2014/main" id="{29A68E3C-6099-B180-7254-EAAF8399ED3B}"/>
              </a:ext>
            </a:extLst>
          </p:cNvPr>
          <p:cNvSpPr txBox="1"/>
          <p:nvPr/>
        </p:nvSpPr>
        <p:spPr>
          <a:xfrm>
            <a:off x="203010" y="1448752"/>
            <a:ext cx="11963400"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designed to enhance crop management through precision farming. The system employs a Raspberry Pi equipped with a USB camera to capture plant images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disease severity using advanced image processing techniques. Based on the detected severity levels, the system dynamically regulates fertilizer spraying duration through three dedicated nozzles, ensuring precise application and minimizing wastage.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Arduino microcontroller manages the operation of DC motors, water pumps, relays, and the robot chassis for efficient movement. Powered by a 12V battery and supported by a 9V solar panel, the system offers sustainable and energy-efficient operation. Bluetooth connectivity facilitates wireless monitoring and control. By combining disease severity detection with intelligent fertilizer management, this system reduces human intervention, optimizes resource utilization, and promotes eco-friendly farming practices</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4111" y="78755"/>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4577" y="201000"/>
            <a:ext cx="3856552" cy="689932"/>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5</a:t>
            </a:fld>
            <a:endParaRPr spc="-25" dirty="0"/>
          </a:p>
        </p:txBody>
      </p:sp>
      <p:sp>
        <p:nvSpPr>
          <p:cNvPr id="10" name="object 10"/>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4" name="TextBox 13">
            <a:extLst>
              <a:ext uri="{FF2B5EF4-FFF2-40B4-BE49-F238E27FC236}">
                <a16:creationId xmlns:a16="http://schemas.microsoft.com/office/drawing/2014/main" id="{4C1451A4-759F-E2B2-5571-50D7B7C9E59F}"/>
              </a:ext>
            </a:extLst>
          </p:cNvPr>
          <p:cNvSpPr txBox="1"/>
          <p:nvPr/>
        </p:nvSpPr>
        <p:spPr>
          <a:xfrm>
            <a:off x="-28224" y="904312"/>
            <a:ext cx="12206113" cy="5632311"/>
          </a:xfrm>
          <a:prstGeom prst="rect">
            <a:avLst/>
          </a:prstGeom>
          <a:noFill/>
        </p:spPr>
        <p:txBody>
          <a:bodyPr wrap="square">
            <a:spAutoFit/>
          </a:bodyPr>
          <a:lstStyle/>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developed to improve crop management through precision farming. The system uses a Raspberry Pi integrated with a USB camera to capture plant images and analyze disease severity using advanced image processing techniques. Based on the detected severity levels, the system automatically controls the fertilizer spraying process by adjusting the spray duration through three dedicated nozzles, ensuring accurate application while minimizing fertilizer wastage. </a:t>
            </a:r>
          </a:p>
          <a:p>
            <a:pPr marL="0" lvl="0" indent="0" algn="just" defTabSz="914400" eaLnBrk="0" fontAlgn="base" hangingPunct="0">
              <a:spcBef>
                <a:spcPct val="0"/>
              </a:spcBef>
              <a:spcAft>
                <a:spcPct val="0"/>
              </a:spcAft>
              <a:buClrTx/>
              <a:buSzTx/>
              <a:buNone/>
            </a:pPr>
            <a:endParaRPr lang="en-US" sz="2400" dirty="0">
              <a:latin typeface="Times New Roman" panose="02020603050405020304" pitchFamily="18" charset="0"/>
              <a:cs typeface="Times New Roman" panose="02020603050405020304" pitchFamily="18" charset="0"/>
            </a:endParaRPr>
          </a:p>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An Arduino microcontroller manages the robot’s movement and controls hardware components such as DC motors, water pumps, relays, and the chassis to enable efficient field navigation. The system is powered by a 12V battery supported by a 9V solar panel, providing sustainable and energy-efficient operation. Bluetooth connectivity allows wireless monitoring and control of the system. By integrating plant disease severity detection with intelligent fertilizer management, the proposed system reduces human intervention, optimizes resource utilization, and promotes eco-friendly and sustainable agricultural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a:t>Literature Survey</a:t>
            </a:r>
            <a:endParaRPr spc="-10" dirty="0"/>
          </a:p>
        </p:txBody>
      </p:sp>
      <p:sp>
        <p:nvSpPr>
          <p:cNvPr id="8" name="object 8">
            <a:extLst>
              <a:ext uri="{FF2B5EF4-FFF2-40B4-BE49-F238E27FC236}">
                <a16:creationId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a16="http://schemas.microsoft.com/office/drawing/2014/main" id="{06C27353-C81E-6D02-EDD9-9B798985605C}"/>
              </a:ext>
            </a:extLst>
          </p:cNvPr>
          <p:cNvSpPr txBox="1"/>
          <p:nvPr/>
        </p:nvSpPr>
        <p:spPr>
          <a:xfrm>
            <a:off x="155388" y="1108871"/>
            <a:ext cx="12036611" cy="5139869"/>
          </a:xfrm>
          <a:prstGeom prst="rect">
            <a:avLst/>
          </a:prstGeom>
          <a:noFill/>
        </p:spPr>
        <p:txBody>
          <a:bodyPr wrap="square">
            <a:spAutoFit/>
          </a:bodyPr>
          <a:lstStyle/>
          <a:p>
            <a:pPr marL="457200" indent="-457200">
              <a:buAutoNum type="arabicPeriod"/>
            </a:pPr>
            <a:r>
              <a:rPr lang="en-US" sz="2400" b="1" dirty="0"/>
              <a:t>Plant Disease Detection System for Smart Agriculture:</a:t>
            </a:r>
          </a:p>
          <a:p>
            <a:r>
              <a:rPr lang="en-US" sz="2000" dirty="0">
                <a:latin typeface="Times New Roman" panose="02020603050405020304" pitchFamily="18" charset="0"/>
                <a:cs typeface="Times New Roman" panose="02020603050405020304" pitchFamily="18" charset="0"/>
              </a:rPr>
              <a:t>The Indian economy relies on agriculture to a great extent. In traditional agricultural practices, farmers identify crop diseases either through direct visual inspection or by consulting experts, sometimes by sharing diseased crop images through online services. However, continuous monitoring and assessment of disease severity cannot be performed manually, often leading to delayed treatment and increased crop loss.</a:t>
            </a:r>
          </a:p>
          <a:p>
            <a:r>
              <a:rPr lang="en-US" sz="2000" dirty="0">
                <a:latin typeface="Times New Roman" panose="02020603050405020304" pitchFamily="18" charset="0"/>
                <a:cs typeface="Times New Roman" panose="02020603050405020304" pitchFamily="18" charset="0"/>
              </a:rPr>
              <a:t>In the plant disease detection system, the image to be tested is acquired, pre-processed, segmented, and analyzed to determine both the type of disease and its severity level. The classification and severity estimation are performed using a probabilistic linear classifier, namely the Naive Bayes algorithm. The system is developed using Android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Studio, and python is used as the programming language.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application identifies plant diseases based on pixel intensity analysis and evaluates the extent of disease spread </a:t>
            </a:r>
            <a:r>
              <a:rPr lang="en-US" sz="2000" b="1" dirty="0">
                <a:latin typeface="Times New Roman" panose="02020603050405020304" pitchFamily="18" charset="0"/>
                <a:cs typeface="Times New Roman" panose="02020603050405020304" pitchFamily="18" charset="0"/>
              </a:rPr>
              <a:t>(severity)</a:t>
            </a:r>
            <a:r>
              <a:rPr lang="en-US" sz="2000" dirty="0">
                <a:latin typeface="Times New Roman" panose="02020603050405020304" pitchFamily="18" charset="0"/>
                <a:cs typeface="Times New Roman" panose="02020603050405020304" pitchFamily="18" charset="0"/>
              </a:rPr>
              <a:t> on the affected leaves. Based on the detected severity level, the system predicts plant growth conditions and provides recommendations for appropriate fertilizers and pesticides. The developed system achieves an accuracy and its implementation reduces manpower requirements while improving productivity through timely and severity-based intervention.</a:t>
            </a: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90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228600" y="216249"/>
            <a:ext cx="3946525" cy="695960"/>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7</a:t>
            </a:fld>
            <a:endParaRPr spc="-25" dirty="0"/>
          </a:p>
        </p:txBody>
      </p:sp>
      <p:sp>
        <p:nvSpPr>
          <p:cNvPr id="13" name="Rectangle 12">
            <a:extLst>
              <a:ext uri="{FF2B5EF4-FFF2-40B4-BE49-F238E27FC236}">
                <a16:creationId xmlns:a16="http://schemas.microsoft.com/office/drawing/2014/main" id="{D1C4E9E8-EE25-1745-B030-5644C2327CEE}"/>
              </a:ext>
            </a:extLst>
          </p:cNvPr>
          <p:cNvSpPr/>
          <p:nvPr/>
        </p:nvSpPr>
        <p:spPr>
          <a:xfrm>
            <a:off x="11460148" y="5939532"/>
            <a:ext cx="685800" cy="685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12" name="TextBox 11">
            <a:extLst>
              <a:ext uri="{FF2B5EF4-FFF2-40B4-BE49-F238E27FC236}">
                <a16:creationId xmlns:a16="http://schemas.microsoft.com/office/drawing/2014/main" id="{54DC6A21-A96F-02AA-6030-BED8C9E2DB5C}"/>
              </a:ext>
            </a:extLst>
          </p:cNvPr>
          <p:cNvSpPr txBox="1"/>
          <p:nvPr/>
        </p:nvSpPr>
        <p:spPr>
          <a:xfrm>
            <a:off x="35560" y="989150"/>
            <a:ext cx="11477823" cy="5940088"/>
          </a:xfrm>
          <a:prstGeom prst="rect">
            <a:avLst/>
          </a:prstGeom>
          <a:noFill/>
        </p:spPr>
        <p:txBody>
          <a:bodyPr wrap="square" rtlCol="0">
            <a:spAutoFit/>
          </a:bodyPr>
          <a:lstStyle/>
          <a:p>
            <a:pPr marL="0" indent="0" algn="just">
              <a:buNone/>
            </a:pPr>
            <a:r>
              <a:rPr lang="en-US" sz="2000" b="1" dirty="0">
                <a:latin typeface="Times New Roman" panose="02020603050405020304" pitchFamily="18" charset="0"/>
                <a:cs typeface="Times New Roman" panose="02020603050405020304" pitchFamily="18" charset="0"/>
              </a:rPr>
              <a:t>2. Crop Care – An AI-Integrated System for Smart Crop Protection and Disease Detection: </a:t>
            </a:r>
          </a:p>
          <a:p>
            <a:r>
              <a:rPr lang="en-US" sz="2000" dirty="0">
                <a:latin typeface="Times New Roman" panose="02020603050405020304" pitchFamily="18" charset="0"/>
                <a:cs typeface="Times New Roman" panose="02020603050405020304" pitchFamily="18" charset="0"/>
              </a:rPr>
              <a:t>Agriculture plays a vital role in sustaining human life by ensuring food security for a growing population. However, plant diseases and improper fertilizer application often lead to reduced crop yield, economic losses, and environmental damage. To overcome these challenges, Crop Care proposes an AI-integrated automated agricultural robot designed to detect plant disease severity and perform precision fertilizer spraying without direct human intervention.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utilizes a Raspberry Pi integrated with a USB camera to capture real-time images of crops and analyze disease severity using advanced image processing and machine learning techniques. Based on the identified severity level, the system automatically regulates fertilizer spraying duration through three dedicated nozzles, ensuring accurate application while minimizing fertilizer wastage.</a:t>
            </a:r>
          </a:p>
          <a:p>
            <a:r>
              <a:rPr lang="en-US" sz="2000" dirty="0">
                <a:latin typeface="Times New Roman" panose="02020603050405020304" pitchFamily="18" charset="0"/>
                <a:cs typeface="Times New Roman" panose="02020603050405020304" pitchFamily="18" charset="0"/>
              </a:rPr>
              <a:t>An Arduino microcontroller is employed to control the robot’s movement and manage hardware components such as DC motors, water pumps, relays, and the chassis, enabling efficient navigation across the field. The system is powered by a 12V battery supported by a 9V solar panel, ensuring energy-efficient and sustainable operation. Additionally, Bluetooth connectivity enables wireless monitoring and control of the robot.</a:t>
            </a:r>
          </a:p>
          <a:p>
            <a:r>
              <a:rPr lang="en-US" sz="2000" dirty="0">
                <a:latin typeface="Times New Roman" panose="02020603050405020304" pitchFamily="18" charset="0"/>
                <a:cs typeface="Times New Roman" panose="02020603050405020304" pitchFamily="18" charset="0"/>
              </a:rPr>
              <a:t>By combining plant disease severity detection with intelligent and automated fertilizer management, the proposed system significantly reduces human effort, optimizes resource utilization, prevents overuse of fertilizers, and supports eco-friendly and sustainable farming practices.</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56A8-D484-B9B9-F523-A3B65DE55474}"/>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326A738C-0EFB-0579-2A81-A608F050D368}"/>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id="{BE0A08C1-D240-BE32-CCB5-558BB67B84C0}"/>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E7F9EA04-6273-62C0-073F-04779AE503CE}"/>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E89D641-3A81-7688-7651-67DC9DA0577F}"/>
              </a:ext>
            </a:extLst>
          </p:cNvPr>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Existing System</a:t>
            </a:r>
            <a:endParaRPr spc="-10" dirty="0"/>
          </a:p>
        </p:txBody>
      </p:sp>
      <p:sp>
        <p:nvSpPr>
          <p:cNvPr id="8" name="object 8">
            <a:extLst>
              <a:ext uri="{FF2B5EF4-FFF2-40B4-BE49-F238E27FC236}">
                <a16:creationId xmlns:a16="http://schemas.microsoft.com/office/drawing/2014/main" id="{D8FF0DD2-CF2B-DB03-4799-FA92DC7ED7C5}"/>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id="{2488AF73-9DEF-D4EA-7543-59F4CBD8C92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FA9AE410-5E6A-330A-665C-4231BB3444A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8</a:t>
            </a:fld>
            <a:endParaRPr spc="-25" dirty="0"/>
          </a:p>
        </p:txBody>
      </p:sp>
      <p:sp>
        <p:nvSpPr>
          <p:cNvPr id="12" name="object 9">
            <a:extLst>
              <a:ext uri="{FF2B5EF4-FFF2-40B4-BE49-F238E27FC236}">
                <a16:creationId xmlns:a16="http://schemas.microsoft.com/office/drawing/2014/main" id="{24A3AE38-89BA-16A0-15B7-BD5A6F78CD8A}"/>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id="{7F0DE90C-D6D3-08AE-9D5A-1A0DE666DCB6}"/>
              </a:ext>
            </a:extLst>
          </p:cNvPr>
          <p:cNvSpPr txBox="1"/>
          <p:nvPr/>
        </p:nvSpPr>
        <p:spPr>
          <a:xfrm>
            <a:off x="-1" y="1056571"/>
            <a:ext cx="12165957" cy="4832092"/>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Traditionally, crop health monitoring and fertilizer application rely on manual inspection, where farmers visually examine plants to identify diseases, pests, or nutrient deficiencies and then apply fertilizer or pesticides using hand-operated or tractor-mounted sprayers.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This approach is </a:t>
            </a:r>
            <a:r>
              <a:rPr lang="en-IN" sz="2800" dirty="0" err="1">
                <a:latin typeface="Times New Roman" panose="02020603050405020304" pitchFamily="18" charset="0"/>
                <a:cs typeface="Times New Roman" panose="02020603050405020304" pitchFamily="18" charset="0"/>
              </a:rPr>
              <a:t>labor-intensive</a:t>
            </a:r>
            <a:r>
              <a:rPr lang="en-IN" sz="2800" dirty="0">
                <a:latin typeface="Times New Roman" panose="02020603050405020304" pitchFamily="18" charset="0"/>
                <a:cs typeface="Times New Roman" panose="02020603050405020304" pitchFamily="18" charset="0"/>
              </a:rPr>
              <a:t>, time-consuming, and prone to human error, often resulting in under- or over-application of chemicals. Additionally, uniform spraying without considering disease severity leads to wastage of resources and potential environmental harm. Compared to this traditional method, automated systems that integrate disease severity detection with targeted fertilizer application offer greater efficiency, accuracy, and sustainability.</a:t>
            </a:r>
          </a:p>
        </p:txBody>
      </p:sp>
    </p:spTree>
    <p:extLst>
      <p:ext uri="{BB962C8B-B14F-4D97-AF65-F5344CB8AC3E}">
        <p14:creationId xmlns:p14="http://schemas.microsoft.com/office/powerpoint/2010/main" val="190243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9</a:t>
            </a:fld>
            <a:endParaRPr spc="-25" dirty="0"/>
          </a:p>
        </p:txBody>
      </p:sp>
      <p:sp>
        <p:nvSpPr>
          <p:cNvPr id="12" name="object 9">
            <a:extLst>
              <a:ext uri="{FF2B5EF4-FFF2-40B4-BE49-F238E27FC236}">
                <a16:creationId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id="{7288F165-7028-955D-D6CC-432D2AE064DE}"/>
              </a:ext>
            </a:extLst>
          </p:cNvPr>
          <p:cNvSpPr txBox="1"/>
          <p:nvPr/>
        </p:nvSpPr>
        <p:spPr>
          <a:xfrm>
            <a:off x="0" y="1094897"/>
            <a:ext cx="12191999" cy="4893647"/>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proposed Smart Fertilizer Spraying System integrates plant disease severity detection with precision fertilizer application to optimize crop management. The system uses a Raspberry Pi equipped with a USB camera to capture real-time images of plants. Image processing techniques are applied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these images and determine the severity of detected diseases. Based on the severity level, the system intelligently adjusts the spraying duration of three separate nozzles, ensuring precise fertilizer application and minimizing waste.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Arduino microcontroller controls the movement of the robot chassis, DC motors, water pumps, and relays to execute spraying operations efficiently. The system is powered by a 12V battery and supported by a 9V solar panel for sustainable operation. Bluetooth communication enables wireless monitoring and control, allowing farmers to track system performance and adjust settings remotely. This approach reduces human intervention, improves crop health, and promotes eco-friendly farming practices.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B3A63-8396-ED2F-3CD9-A1072F422C78}"/>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981F7BDF-4C8A-7955-4BA1-CE016E88645C}"/>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id="{AF5F28A8-2C54-6EEB-C12C-7F6EC2E9761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C6481701-C883-1054-6589-3DBCEBD5825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86C995E1-22B1-7E29-9C45-39FC942CF8A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10" name="object 10">
            <a:extLst>
              <a:ext uri="{FF2B5EF4-FFF2-40B4-BE49-F238E27FC236}">
                <a16:creationId xmlns:a16="http://schemas.microsoft.com/office/drawing/2014/main" id="{7AD41838-7DF3-4062-9FDE-010B8FE121E9}"/>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069C1D68-81B2-5232-455E-AFC5349FB38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10</a:t>
            </a:fld>
            <a:endParaRPr spc="-25" dirty="0"/>
          </a:p>
        </p:txBody>
      </p:sp>
      <p:sp>
        <p:nvSpPr>
          <p:cNvPr id="7" name="object 7">
            <a:extLst>
              <a:ext uri="{FF2B5EF4-FFF2-40B4-BE49-F238E27FC236}">
                <a16:creationId xmlns:a16="http://schemas.microsoft.com/office/drawing/2014/main" id="{6A6B85BB-B8C4-F7A9-7E28-493B24BCADCF}"/>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id="{A3C6434D-A982-D362-BB7A-2465AFDDEABE}"/>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4" name="TextBox 13">
            <a:extLst>
              <a:ext uri="{FF2B5EF4-FFF2-40B4-BE49-F238E27FC236}">
                <a16:creationId xmlns:a16="http://schemas.microsoft.com/office/drawing/2014/main" id="{E0AC08FB-EDB3-04A0-4EAA-FEB4F7340427}"/>
              </a:ext>
            </a:extLst>
          </p:cNvPr>
          <p:cNvSpPr txBox="1"/>
          <p:nvPr/>
        </p:nvSpPr>
        <p:spPr>
          <a:xfrm flipH="1">
            <a:off x="0" y="1115843"/>
            <a:ext cx="4905871" cy="594008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Hardware Components: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Raspberry pi</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Memory card</a:t>
            </a:r>
          </a:p>
          <a:p>
            <a:pPr marL="342900" indent="-34290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Usb</a:t>
            </a:r>
            <a:r>
              <a:rPr lang="en-IN" sz="2000" dirty="0">
                <a:latin typeface="Times New Roman" panose="02020603050405020304" pitchFamily="18" charset="0"/>
                <a:cs typeface="Times New Roman" panose="02020603050405020304" pitchFamily="18" charset="0"/>
              </a:rPr>
              <a:t> web camera</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Arduino</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Solar panel 9v</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Led</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Dc motor 2</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Robot chassis</a:t>
            </a:r>
          </a:p>
          <a:p>
            <a:pPr marL="342900" indent="-342900"/>
            <a:r>
              <a:rPr lang="en-IN" sz="2000" dirty="0">
                <a:latin typeface="Times New Roman" panose="02020603050405020304" pitchFamily="18" charset="0"/>
                <a:cs typeface="Times New Roman" panose="02020603050405020304" pitchFamily="18" charset="0"/>
              </a:rPr>
              <a:t>      Wheels-4</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dc water pump-3</a:t>
            </a:r>
          </a:p>
          <a:p>
            <a:pPr marL="17145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motor driver</a:t>
            </a:r>
          </a:p>
          <a:p>
            <a:pPr marL="171450" indent="-1714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relay-3</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nozzle spraying-3</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Bluetooth module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12v Battery</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12v Adapter 2 amp</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97F5360-7B2D-D141-D94F-1D81DBAB86CC}"/>
              </a:ext>
            </a:extLst>
          </p:cNvPr>
          <p:cNvSpPr txBox="1"/>
          <p:nvPr/>
        </p:nvSpPr>
        <p:spPr>
          <a:xfrm>
            <a:off x="4289851" y="1262034"/>
            <a:ext cx="2857726" cy="163121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Software Components:</a:t>
            </a:r>
          </a:p>
          <a:p>
            <a:pPr marL="342900" indent="-3429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Arduino IDE</a:t>
            </a:r>
          </a:p>
          <a:p>
            <a:pPr marL="342900" indent="-342900">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Embedded C</a:t>
            </a:r>
          </a:p>
          <a:p>
            <a:pPr marL="342900" indent="-3429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python</a:t>
            </a: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89B072C-28A9-0686-A994-4865CC0B849E}"/>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Tree>
    <p:extLst>
      <p:ext uri="{BB962C8B-B14F-4D97-AF65-F5344CB8AC3E}">
        <p14:creationId xmlns:p14="http://schemas.microsoft.com/office/powerpoint/2010/main" val="363819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259-3B4B-A37A-97F7-3AF71A23E972}"/>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8" name="object 8">
            <a:extLst>
              <a:ext uri="{FF2B5EF4-FFF2-40B4-BE49-F238E27FC236}">
                <a16:creationId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11</a:t>
            </a:fld>
            <a:endParaRPr spc="-25" dirty="0"/>
          </a:p>
        </p:txBody>
      </p:sp>
      <p:sp>
        <p:nvSpPr>
          <p:cNvPr id="7" name="object 7">
            <a:extLst>
              <a:ext uri="{FF2B5EF4-FFF2-40B4-BE49-F238E27FC236}">
                <a16:creationId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9" name="Content Placeholder 4">
            <a:extLst>
              <a:ext uri="{FF2B5EF4-FFF2-40B4-BE49-F238E27FC236}">
                <a16:creationId xmlns:a16="http://schemas.microsoft.com/office/drawing/2014/main" id="{DFBF0C03-838C-311A-05CA-EE4A4E718AF8}"/>
              </a:ext>
            </a:extLst>
          </p:cNvPr>
          <p:cNvPicPr>
            <a:picLocks noChangeAspect="1"/>
          </p:cNvPicPr>
          <p:nvPr/>
        </p:nvPicPr>
        <p:blipFill>
          <a:blip r:embed="rId4"/>
          <a:stretch>
            <a:fillRect/>
          </a:stretch>
        </p:blipFill>
        <p:spPr>
          <a:xfrm>
            <a:off x="414198" y="1056571"/>
            <a:ext cx="3404382" cy="2372429"/>
          </a:xfrm>
          <a:prstGeom prst="rect">
            <a:avLst/>
          </a:prstGeom>
        </p:spPr>
      </p:pic>
      <p:sp>
        <p:nvSpPr>
          <p:cNvPr id="16" name="TextBox 15">
            <a:extLst>
              <a:ext uri="{FF2B5EF4-FFF2-40B4-BE49-F238E27FC236}">
                <a16:creationId xmlns:a16="http://schemas.microsoft.com/office/drawing/2014/main" id="{318B849A-DC09-0A65-B7F0-BDF6CE3502B7}"/>
              </a:ext>
            </a:extLst>
          </p:cNvPr>
          <p:cNvSpPr txBox="1"/>
          <p:nvPr/>
        </p:nvSpPr>
        <p:spPr>
          <a:xfrm>
            <a:off x="197346" y="1077368"/>
            <a:ext cx="843452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Arduino Uno</a:t>
            </a:r>
            <a:endParaRPr lang="en-IN" sz="20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BA1B4BC-97D6-736B-19FA-6D19AB6F45CA}"/>
              </a:ext>
            </a:extLst>
          </p:cNvPr>
          <p:cNvSpPr txBox="1"/>
          <p:nvPr/>
        </p:nvSpPr>
        <p:spPr>
          <a:xfrm>
            <a:off x="5257800" y="2057400"/>
            <a:ext cx="1729961" cy="707886"/>
          </a:xfrm>
          <a:prstGeom prst="rect">
            <a:avLst/>
          </a:prstGeom>
          <a:noFill/>
        </p:spPr>
        <p:txBody>
          <a:bodyPr wrap="none" rtlCol="0">
            <a:spAutoFit/>
          </a:bodyPr>
          <a:lstStyle/>
          <a:p>
            <a:r>
              <a:rPr lang="en-US" altLang="en-US" sz="2000" b="1" dirty="0">
                <a:latin typeface="Times New Roman" panose="02020603050405020304" pitchFamily="18" charset="0"/>
                <a:cs typeface="Times New Roman" panose="02020603050405020304" pitchFamily="18" charset="0"/>
              </a:rPr>
              <a:t>Raspberry Pi:</a:t>
            </a:r>
          </a:p>
          <a:p>
            <a:endParaRPr lang="en-IN" sz="2000" b="1" dirty="0"/>
          </a:p>
        </p:txBody>
      </p:sp>
      <p:pic>
        <p:nvPicPr>
          <p:cNvPr id="18" name="Content Placeholder 9">
            <a:extLst>
              <a:ext uri="{FF2B5EF4-FFF2-40B4-BE49-F238E27FC236}">
                <a16:creationId xmlns:a16="http://schemas.microsoft.com/office/drawing/2014/main" id="{7C56853C-0554-ACD7-7B5E-D8A26DF3FC0D}"/>
              </a:ext>
            </a:extLst>
          </p:cNvPr>
          <p:cNvPicPr>
            <a:picLocks noGrp="1" noChangeAspect="1"/>
          </p:cNvPicPr>
          <p:nvPr/>
        </p:nvPicPr>
        <p:blipFill>
          <a:blip r:embed="rId5"/>
          <a:stretch>
            <a:fillRect/>
          </a:stretch>
        </p:blipFill>
        <p:spPr>
          <a:xfrm>
            <a:off x="3922330" y="1064633"/>
            <a:ext cx="3663462" cy="3052274"/>
          </a:xfrm>
          <a:prstGeom prst="rect">
            <a:avLst/>
          </a:prstGeom>
        </p:spPr>
      </p:pic>
      <p:sp>
        <p:nvSpPr>
          <p:cNvPr id="20" name="TextBox 19">
            <a:extLst>
              <a:ext uri="{FF2B5EF4-FFF2-40B4-BE49-F238E27FC236}">
                <a16:creationId xmlns:a16="http://schemas.microsoft.com/office/drawing/2014/main" id="{6E54945F-B7F9-02C8-0B94-A1A6BC1D4FF6}"/>
              </a:ext>
            </a:extLst>
          </p:cNvPr>
          <p:cNvSpPr txBox="1"/>
          <p:nvPr/>
        </p:nvSpPr>
        <p:spPr>
          <a:xfrm>
            <a:off x="3818580" y="1019741"/>
            <a:ext cx="6073140" cy="400110"/>
          </a:xfrm>
          <a:prstGeom prst="rect">
            <a:avLst/>
          </a:prstGeom>
          <a:noFill/>
        </p:spPr>
        <p:txBody>
          <a:bodyPr wrap="square">
            <a:spAutoFit/>
          </a:bodyPr>
          <a:lstStyle/>
          <a:p>
            <a:r>
              <a:rPr lang="en-US" altLang="en-US" sz="2000" b="1" dirty="0">
                <a:latin typeface="Times New Roman" panose="02020603050405020304" pitchFamily="18" charset="0"/>
                <a:cs typeface="Times New Roman" panose="02020603050405020304" pitchFamily="18" charset="0"/>
              </a:rPr>
              <a:t>Raspberry Pi</a:t>
            </a:r>
            <a:endParaRPr lang="en-IN" sz="2000" b="1" dirty="0"/>
          </a:p>
        </p:txBody>
      </p:sp>
      <p:pic>
        <p:nvPicPr>
          <p:cNvPr id="22" name="Content Placeholder 4">
            <a:extLst>
              <a:ext uri="{FF2B5EF4-FFF2-40B4-BE49-F238E27FC236}">
                <a16:creationId xmlns:a16="http://schemas.microsoft.com/office/drawing/2014/main" id="{EA59766E-BBA8-8219-ADF8-2C625070C29C}"/>
              </a:ext>
            </a:extLst>
          </p:cNvPr>
          <p:cNvPicPr>
            <a:picLocks noGrp="1" noChangeAspect="1"/>
          </p:cNvPicPr>
          <p:nvPr/>
        </p:nvPicPr>
        <p:blipFill>
          <a:blip r:embed="rId6" cstate="print"/>
          <a:stretch>
            <a:fillRect/>
          </a:stretch>
        </p:blipFill>
        <p:spPr>
          <a:xfrm>
            <a:off x="7754162" y="1219796"/>
            <a:ext cx="2659605" cy="2659605"/>
          </a:xfrm>
          <a:prstGeom prst="rect">
            <a:avLst/>
          </a:prstGeom>
        </p:spPr>
      </p:pic>
      <p:sp>
        <p:nvSpPr>
          <p:cNvPr id="24" name="TextBox 23">
            <a:extLst>
              <a:ext uri="{FF2B5EF4-FFF2-40B4-BE49-F238E27FC236}">
                <a16:creationId xmlns:a16="http://schemas.microsoft.com/office/drawing/2014/main" id="{9DA9579D-AA00-3AF3-7A8F-F6651106B23E}"/>
              </a:ext>
            </a:extLst>
          </p:cNvPr>
          <p:cNvSpPr txBox="1"/>
          <p:nvPr/>
        </p:nvSpPr>
        <p:spPr>
          <a:xfrm>
            <a:off x="8015178" y="970960"/>
            <a:ext cx="614172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Web cam</a:t>
            </a:r>
            <a:endParaRPr lang="en-IN" sz="2000" b="1" dirty="0"/>
          </a:p>
        </p:txBody>
      </p:sp>
      <p:pic>
        <p:nvPicPr>
          <p:cNvPr id="26" name="Content Placeholder 4">
            <a:extLst>
              <a:ext uri="{FF2B5EF4-FFF2-40B4-BE49-F238E27FC236}">
                <a16:creationId xmlns:a16="http://schemas.microsoft.com/office/drawing/2014/main" id="{CE98C2A1-05B9-0EF0-4076-CBE1192CAB93}"/>
              </a:ext>
            </a:extLst>
          </p:cNvPr>
          <p:cNvPicPr>
            <a:picLocks noGrp="1" noChangeAspect="1"/>
          </p:cNvPicPr>
          <p:nvPr/>
        </p:nvPicPr>
        <p:blipFill>
          <a:blip r:embed="rId7"/>
          <a:stretch>
            <a:fillRect/>
          </a:stretch>
        </p:blipFill>
        <p:spPr>
          <a:xfrm>
            <a:off x="2353184" y="3977089"/>
            <a:ext cx="2969923" cy="1988597"/>
          </a:xfrm>
          <a:prstGeom prst="rect">
            <a:avLst/>
          </a:prstGeom>
        </p:spPr>
      </p:pic>
      <p:sp>
        <p:nvSpPr>
          <p:cNvPr id="28" name="TextBox 27">
            <a:extLst>
              <a:ext uri="{FF2B5EF4-FFF2-40B4-BE49-F238E27FC236}">
                <a16:creationId xmlns:a16="http://schemas.microsoft.com/office/drawing/2014/main" id="{D0A16944-1A40-EB03-7400-9612103B40EA}"/>
              </a:ext>
            </a:extLst>
          </p:cNvPr>
          <p:cNvSpPr txBox="1"/>
          <p:nvPr/>
        </p:nvSpPr>
        <p:spPr>
          <a:xfrm>
            <a:off x="2720015" y="6092740"/>
            <a:ext cx="2969923"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Motor Driver</a:t>
            </a:r>
            <a:endParaRPr lang="en-IN" sz="2000" b="1" dirty="0"/>
          </a:p>
        </p:txBody>
      </p:sp>
      <p:pic>
        <p:nvPicPr>
          <p:cNvPr id="30" name="Content Placeholder 4">
            <a:extLst>
              <a:ext uri="{FF2B5EF4-FFF2-40B4-BE49-F238E27FC236}">
                <a16:creationId xmlns:a16="http://schemas.microsoft.com/office/drawing/2014/main" id="{423CABC3-7325-1864-870F-F51819C0BB1E}"/>
              </a:ext>
            </a:extLst>
          </p:cNvPr>
          <p:cNvPicPr>
            <a:picLocks noGrp="1" noChangeAspect="1"/>
          </p:cNvPicPr>
          <p:nvPr/>
        </p:nvPicPr>
        <p:blipFill>
          <a:blip r:embed="rId8"/>
          <a:stretch>
            <a:fillRect/>
          </a:stretch>
        </p:blipFill>
        <p:spPr>
          <a:xfrm>
            <a:off x="6682599" y="3813065"/>
            <a:ext cx="2143125" cy="2143125"/>
          </a:xfrm>
          <a:prstGeom prst="rect">
            <a:avLst/>
          </a:prstGeom>
        </p:spPr>
      </p:pic>
      <p:sp>
        <p:nvSpPr>
          <p:cNvPr id="32" name="TextBox 31">
            <a:extLst>
              <a:ext uri="{FF2B5EF4-FFF2-40B4-BE49-F238E27FC236}">
                <a16:creationId xmlns:a16="http://schemas.microsoft.com/office/drawing/2014/main" id="{CC39ADC6-B861-375D-3367-F2EDDE4B2DCB}"/>
              </a:ext>
            </a:extLst>
          </p:cNvPr>
          <p:cNvSpPr txBox="1"/>
          <p:nvPr/>
        </p:nvSpPr>
        <p:spPr>
          <a:xfrm>
            <a:off x="7090640" y="5771524"/>
            <a:ext cx="712216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12v Battery</a:t>
            </a:r>
            <a:endParaRPr lang="en-IN" sz="2000" b="1" dirty="0"/>
          </a:p>
        </p:txBody>
      </p:sp>
    </p:spTree>
    <p:extLst>
      <p:ext uri="{BB962C8B-B14F-4D97-AF65-F5344CB8AC3E}">
        <p14:creationId xmlns:p14="http://schemas.microsoft.com/office/powerpoint/2010/main" val="53167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Block Diagram</a:t>
            </a:r>
            <a:endParaRPr spc="-10" dirty="0"/>
          </a:p>
        </p:txBody>
      </p:sp>
      <p:sp>
        <p:nvSpPr>
          <p:cNvPr id="8" name="object 8">
            <a:extLst>
              <a:ext uri="{FF2B5EF4-FFF2-40B4-BE49-F238E27FC236}">
                <a16:creationId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12</a:t>
            </a:fld>
            <a:endParaRPr spc="-25" dirty="0"/>
          </a:p>
        </p:txBody>
      </p:sp>
      <p:sp>
        <p:nvSpPr>
          <p:cNvPr id="7" name="object 7">
            <a:extLst>
              <a:ext uri="{FF2B5EF4-FFF2-40B4-BE49-F238E27FC236}">
                <a16:creationId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23" name="Picture 22" descr="ChatGPT Image Jan 1, 2026, 05_54_58 PM.png"/>
          <p:cNvPicPr>
            <a:picLocks noChangeAspect="1"/>
          </p:cNvPicPr>
          <p:nvPr/>
        </p:nvPicPr>
        <p:blipFill>
          <a:blip r:embed="rId4"/>
          <a:stretch>
            <a:fillRect/>
          </a:stretch>
        </p:blipFill>
        <p:spPr>
          <a:xfrm>
            <a:off x="2133600" y="1295400"/>
            <a:ext cx="7620000" cy="5076825"/>
          </a:xfrm>
          <a:prstGeom prst="rect">
            <a:avLst/>
          </a:prstGeom>
        </p:spPr>
      </p:pic>
    </p:spTree>
    <p:extLst>
      <p:ext uri="{BB962C8B-B14F-4D97-AF65-F5344CB8AC3E}">
        <p14:creationId xmlns:p14="http://schemas.microsoft.com/office/powerpoint/2010/main" val="53167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Reference</a:t>
            </a: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13</a:t>
            </a:fld>
            <a:endParaRPr spc="-25" dirty="0"/>
          </a:p>
        </p:txBody>
      </p:sp>
      <p:sp>
        <p:nvSpPr>
          <p:cNvPr id="13" name="object 9">
            <a:extLst>
              <a:ext uri="{FF2B5EF4-FFF2-40B4-BE49-F238E27FC236}">
                <a16:creationId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id="{E98567D7-0835-E777-904C-4B43CBA57B04}"/>
              </a:ext>
            </a:extLst>
          </p:cNvPr>
          <p:cNvSpPr txBox="1"/>
          <p:nvPr/>
        </p:nvSpPr>
        <p:spPr>
          <a:xfrm>
            <a:off x="141784" y="1295400"/>
            <a:ext cx="12050214" cy="489364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Prakash M. </a:t>
            </a:r>
            <a:r>
              <a:rPr lang="en-IN" sz="2400" dirty="0" err="1">
                <a:latin typeface="Times New Roman" panose="02020603050405020304" pitchFamily="18" charset="0"/>
                <a:cs typeface="Times New Roman" panose="02020603050405020304" pitchFamily="18" charset="0"/>
              </a:rPr>
              <a:t>Manikar</a:t>
            </a:r>
            <a:r>
              <a:rPr lang="en-IN" sz="2400" dirty="0">
                <a:latin typeface="Times New Roman" panose="02020603050405020304" pitchFamily="18" charset="0"/>
                <a:cs typeface="Times New Roman" panose="02020603050405020304" pitchFamily="18" charset="0"/>
              </a:rPr>
              <a:t>, Shreekant Ghorpade, Mayur Adawadkar, "Plant Leaf Disease Detection and Classification Using Image Processing Techniques," International Engineering Journal, Volume 2, Issue 4, 2015.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 Prof. Bhavana Patil, Mr. Hemant Panchal, Mr. SHUBHAM Yadav, Mr. Arvind Singh, Mr. Dinesh Patil, "Plant Monitoring Using Image Processing, Raspberry PI and IOT," Journal of Engineering and Technology, Volume 4, Issue 10, 2017</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 Navin V. </a:t>
            </a:r>
            <a:r>
              <a:rPr lang="en-IN" sz="2400" dirty="0" err="1">
                <a:latin typeface="Times New Roman" panose="02020603050405020304" pitchFamily="18" charset="0"/>
                <a:cs typeface="Times New Roman" panose="02020603050405020304" pitchFamily="18" charset="0"/>
              </a:rPr>
              <a:t>Dumare</a:t>
            </a:r>
            <a:r>
              <a:rPr lang="en-IN" sz="2400" dirty="0">
                <a:latin typeface="Times New Roman" panose="02020603050405020304" pitchFamily="18" charset="0"/>
                <a:cs typeface="Times New Roman" panose="02020603050405020304" pitchFamily="18" charset="0"/>
              </a:rPr>
              <a:t>, Prof. S. S. </a:t>
            </a:r>
            <a:r>
              <a:rPr lang="en-IN" sz="2400" dirty="0" err="1">
                <a:latin typeface="Times New Roman" panose="02020603050405020304" pitchFamily="18" charset="0"/>
                <a:cs typeface="Times New Roman" panose="02020603050405020304" pitchFamily="18" charset="0"/>
              </a:rPr>
              <a:t>Mungona</a:t>
            </a:r>
            <a:r>
              <a:rPr lang="en-IN" sz="2400" dirty="0">
                <a:latin typeface="Times New Roman" panose="02020603050405020304" pitchFamily="18" charset="0"/>
                <a:cs typeface="Times New Roman" panose="02020603050405020304" pitchFamily="18" charset="0"/>
              </a:rPr>
              <a:t>, "Identification of Cotton Leaf Diseases Using Raspberry PI," Volume 5, Issue 5, 2017, International Journal on Recent and Technology Trends in Computing and Communication.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Prathamesh. K. </a:t>
            </a:r>
            <a:r>
              <a:rPr lang="en-IN" sz="2400" dirty="0" err="1">
                <a:latin typeface="Times New Roman" panose="02020603050405020304" pitchFamily="18" charset="0"/>
                <a:cs typeface="Times New Roman" panose="02020603050405020304" pitchFamily="18" charset="0"/>
              </a:rPr>
              <a:t>Kharde</a:t>
            </a:r>
            <a:r>
              <a:rPr lang="en-IN" sz="2400" dirty="0">
                <a:latin typeface="Times New Roman" panose="02020603050405020304" pitchFamily="18" charset="0"/>
                <a:cs typeface="Times New Roman" panose="02020603050405020304" pitchFamily="18" charset="0"/>
              </a:rPr>
              <a:t>, Hemangi. H. Kulkarni, "A Special Method for the Detection of Grape Leaf Diseases," International Journal of Scientific Research, Volume 2, Issue 4, 2016.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Jayaprakash Sethupathy, Veni S, International Journal of Engineering and Technology, Volume 8, No 5, 2016, "Open CV Based Disease Detection of Mango Leaves." </a:t>
            </a:r>
            <a:endParaRPr lang="en-I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Applications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14</a:t>
            </a:fld>
            <a:endParaRPr spc="-25" dirty="0"/>
          </a:p>
        </p:txBody>
      </p:sp>
      <p:sp>
        <p:nvSpPr>
          <p:cNvPr id="13" name="object 9">
            <a:extLst>
              <a:ext uri="{FF2B5EF4-FFF2-40B4-BE49-F238E27FC236}">
                <a16:creationId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id="{E98567D7-0835-E777-904C-4B43CBA57B04}"/>
              </a:ext>
            </a:extLst>
          </p:cNvPr>
          <p:cNvSpPr txBox="1"/>
          <p:nvPr/>
        </p:nvSpPr>
        <p:spPr>
          <a:xfrm>
            <a:off x="118138" y="1122410"/>
            <a:ext cx="12050214"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Precision Agriculture</a:t>
            </a:r>
            <a:r>
              <a:rPr lang="en-US" sz="2400" dirty="0">
                <a:latin typeface="Times New Roman" panose="02020603050405020304" pitchFamily="18" charset="0"/>
                <a:cs typeface="Times New Roman" panose="02020603050405020304" pitchFamily="18" charset="0"/>
              </a:rPr>
              <a:t> – Automatically applies the right amount of fertilizer based on plant disease severity, improving crop health and yield.</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Reduction of Fertilizer Wastage</a:t>
            </a:r>
            <a:r>
              <a:rPr lang="en-US" sz="2400" dirty="0">
                <a:latin typeface="Times New Roman" panose="02020603050405020304" pitchFamily="18" charset="0"/>
                <a:cs typeface="Times New Roman" panose="02020603050405020304" pitchFamily="18" charset="0"/>
              </a:rPr>
              <a:t> – Prevents overuse of fertilizers by spraying only where and when needed, saving cost and resources.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Smart Farming Automation</a:t>
            </a:r>
            <a:r>
              <a:rPr lang="en-US" sz="2400" dirty="0">
                <a:latin typeface="Times New Roman" panose="02020603050405020304" pitchFamily="18" charset="0"/>
                <a:cs typeface="Times New Roman" panose="02020603050405020304" pitchFamily="18" charset="0"/>
              </a:rPr>
              <a:t> – Reduces manual labor by automating disease detection, fertilizer spraying, and robot movement in agricultural fields.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Sustainable and Eco-friendly Farming</a:t>
            </a:r>
            <a:r>
              <a:rPr lang="en-US" sz="2400" dirty="0">
                <a:latin typeface="Times New Roman" panose="02020603050405020304" pitchFamily="18" charset="0"/>
                <a:cs typeface="Times New Roman" panose="02020603050405020304" pitchFamily="18" charset="0"/>
              </a:rPr>
              <a:t> – Uses solar power and optimized fertilizer usage to promote environmentally friendly agricultural practices.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Remote Monitoring and Control</a:t>
            </a:r>
            <a:r>
              <a:rPr lang="en-US" sz="2400" dirty="0">
                <a:latin typeface="Times New Roman" panose="02020603050405020304" pitchFamily="18" charset="0"/>
                <a:cs typeface="Times New Roman" panose="02020603050405020304" pitchFamily="18" charset="0"/>
              </a:rPr>
              <a:t> – Allows farmers to wirelessly monitor and control the fertilizer spraying system via Bluetooth for easy operation and decision-making.</a:t>
            </a:r>
          </a:p>
          <a:p>
            <a:pPr marL="285750" indent="-285750"/>
            <a:endParaRPr lang="en-IN" sz="2400" dirty="0"/>
          </a:p>
        </p:txBody>
      </p:sp>
      <p:sp>
        <p:nvSpPr>
          <p:cNvPr id="7" name="TextBox 6">
            <a:extLst>
              <a:ext uri="{FF2B5EF4-FFF2-40B4-BE49-F238E27FC236}">
                <a16:creationId xmlns:a16="http://schemas.microsoft.com/office/drawing/2014/main"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a16="http://schemas.microsoft.com/office/drawing/2014/main"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a16="http://schemas.microsoft.com/office/drawing/2014/main"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Conclusion</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15</a:t>
            </a:fld>
            <a:endParaRPr spc="-25" dirty="0"/>
          </a:p>
        </p:txBody>
      </p:sp>
      <p:sp>
        <p:nvSpPr>
          <p:cNvPr id="13" name="object 9">
            <a:extLst>
              <a:ext uri="{FF2B5EF4-FFF2-40B4-BE49-F238E27FC236}">
                <a16:creationId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id="{E98567D7-0835-E777-904C-4B43CBA57B04}"/>
              </a:ext>
            </a:extLst>
          </p:cNvPr>
          <p:cNvSpPr txBox="1"/>
          <p:nvPr/>
        </p:nvSpPr>
        <p:spPr>
          <a:xfrm>
            <a:off x="0" y="1020041"/>
            <a:ext cx="12050214" cy="5632311"/>
          </a:xfrm>
          <a:prstGeom prst="rect">
            <a:avLst/>
          </a:prstGeom>
          <a:noFill/>
        </p:spPr>
        <p:txBody>
          <a:bodyPr wrap="square" rtlCol="0">
            <a:spAutoFit/>
          </a:bodyPr>
          <a:lstStyle/>
          <a:p>
            <a:pPr marL="285750" indent="-285750" algn="just"/>
            <a:r>
              <a:rPr lang="en-US" sz="2400" dirty="0">
                <a:latin typeface="Times New Roman" panose="02020603050405020304" pitchFamily="18" charset="0"/>
                <a:cs typeface="Times New Roman" panose="02020603050405020304" pitchFamily="18" charset="0"/>
              </a:rPr>
              <a:t>The Smart Fertilizer Spraying System with Plant Disease Severity Analysis presents</a:t>
            </a:r>
          </a:p>
          <a:p>
            <a:pPr marL="285750" indent="-285750" algn="just"/>
            <a:r>
              <a:rPr lang="en-US" sz="2400" dirty="0">
                <a:latin typeface="Times New Roman" panose="02020603050405020304" pitchFamily="18" charset="0"/>
                <a:cs typeface="Times New Roman" panose="02020603050405020304" pitchFamily="18" charset="0"/>
              </a:rPr>
              <a:t>an effective and innovative solution for modern precision agriculture. By</a:t>
            </a:r>
          </a:p>
          <a:p>
            <a:pPr marL="285750" indent="-285750" algn="just"/>
            <a:r>
              <a:rPr lang="en-US" sz="2400" dirty="0">
                <a:latin typeface="Times New Roman" panose="02020603050405020304" pitchFamily="18" charset="0"/>
                <a:cs typeface="Times New Roman" panose="02020603050405020304" pitchFamily="18" charset="0"/>
              </a:rPr>
              <a:t>integrating image-based plant disease severity detection with automated fertilizer</a:t>
            </a:r>
          </a:p>
          <a:p>
            <a:pPr marL="285750" indent="-285750" algn="just"/>
            <a:r>
              <a:rPr lang="en-US" sz="2400" dirty="0">
                <a:latin typeface="Times New Roman" panose="02020603050405020304" pitchFamily="18" charset="0"/>
                <a:cs typeface="Times New Roman" panose="02020603050405020304" pitchFamily="18" charset="0"/>
              </a:rPr>
              <a:t>spraying, the system ensures accurate and need-based application of fertilizers,</a:t>
            </a:r>
          </a:p>
          <a:p>
            <a:pPr marL="285750" indent="-285750" algn="just"/>
            <a:r>
              <a:rPr lang="en-US" sz="2400" dirty="0">
                <a:latin typeface="Times New Roman" panose="02020603050405020304" pitchFamily="18" charset="0"/>
                <a:cs typeface="Times New Roman" panose="02020603050405020304" pitchFamily="18" charset="0"/>
              </a:rPr>
              <a:t>thereby reducing wastage and improving crop health. The coordinated operation of</a:t>
            </a:r>
          </a:p>
          <a:p>
            <a:pPr marL="285750" indent="-285750" algn="just"/>
            <a:r>
              <a:rPr lang="en-US" sz="2400" dirty="0">
                <a:latin typeface="Times New Roman" panose="02020603050405020304" pitchFamily="18" charset="0"/>
                <a:cs typeface="Times New Roman" panose="02020603050405020304" pitchFamily="18" charset="0"/>
              </a:rPr>
              <a:t>the Raspberry Pi for image processing and the </a:t>
            </a:r>
            <a:r>
              <a:rPr lang="en-US" sz="2400" dirty="0" err="1">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 microcontroller for</a:t>
            </a:r>
          </a:p>
          <a:p>
            <a:pPr marL="285750" indent="-285750" algn="just"/>
            <a:r>
              <a:rPr lang="en-US" sz="2400" dirty="0">
                <a:latin typeface="Times New Roman" panose="02020603050405020304" pitchFamily="18" charset="0"/>
                <a:cs typeface="Times New Roman" panose="02020603050405020304" pitchFamily="18" charset="0"/>
              </a:rPr>
              <a:t>hardware control enables efficient robot movement and reliable system</a:t>
            </a:r>
          </a:p>
          <a:p>
            <a:pPr marL="285750" indent="-285750" algn="just"/>
            <a:r>
              <a:rPr lang="en-US" sz="2400" dirty="0">
                <a:latin typeface="Times New Roman" panose="02020603050405020304" pitchFamily="18" charset="0"/>
                <a:cs typeface="Times New Roman" panose="02020603050405020304" pitchFamily="18" charset="0"/>
              </a:rPr>
              <a:t>performance. </a:t>
            </a:r>
          </a:p>
          <a:p>
            <a:pPr marL="285750" indent="-285750" algn="just"/>
            <a:endParaRPr lang="en-US" sz="2400" dirty="0">
              <a:latin typeface="Times New Roman" panose="02020603050405020304" pitchFamily="18" charset="0"/>
              <a:cs typeface="Times New Roman" panose="02020603050405020304" pitchFamily="18" charset="0"/>
            </a:endParaRPr>
          </a:p>
          <a:p>
            <a:pPr marL="285750" indent="-285750" algn="just"/>
            <a:r>
              <a:rPr lang="en-US" sz="2400" dirty="0">
                <a:latin typeface="Times New Roman" panose="02020603050405020304" pitchFamily="18" charset="0"/>
                <a:cs typeface="Times New Roman" panose="02020603050405020304" pitchFamily="18" charset="0"/>
              </a:rPr>
              <a:t>The use of solar-assisted power enhances sustainability, while</a:t>
            </a:r>
          </a:p>
          <a:p>
            <a:pPr marL="285750" indent="-285750" algn="just"/>
            <a:r>
              <a:rPr lang="en-US" sz="2400" dirty="0">
                <a:latin typeface="Times New Roman" panose="02020603050405020304" pitchFamily="18" charset="0"/>
                <a:cs typeface="Times New Roman" panose="02020603050405020304" pitchFamily="18" charset="0"/>
              </a:rPr>
              <a:t>Bluetooth connectivity provides convenient wireless monitoring and control.</a:t>
            </a:r>
          </a:p>
          <a:p>
            <a:pPr marL="285750" indent="-285750" algn="just"/>
            <a:r>
              <a:rPr lang="en-US" sz="2400" dirty="0">
                <a:latin typeface="Times New Roman" panose="02020603050405020304" pitchFamily="18" charset="0"/>
                <a:cs typeface="Times New Roman" panose="02020603050405020304" pitchFamily="18" charset="0"/>
              </a:rPr>
              <a:t>Overall, this system minimizes human intervention, optimizes resource utilization,</a:t>
            </a:r>
          </a:p>
          <a:p>
            <a:pPr marL="285750" indent="-285750" algn="just"/>
            <a:r>
              <a:rPr lang="en-US" sz="2400" dirty="0">
                <a:latin typeface="Times New Roman" panose="02020603050405020304" pitchFamily="18" charset="0"/>
                <a:cs typeface="Times New Roman" panose="02020603050405020304" pitchFamily="18" charset="0"/>
              </a:rPr>
              <a:t>and supports eco-friendly farming practices, making it a promising approach for</a:t>
            </a:r>
          </a:p>
          <a:p>
            <a:pPr marL="285750" indent="-285750" algn="just"/>
            <a:r>
              <a:rPr lang="en-US" sz="2400" dirty="0">
                <a:latin typeface="Times New Roman" panose="02020603050405020304" pitchFamily="18" charset="0"/>
                <a:cs typeface="Times New Roman" panose="02020603050405020304" pitchFamily="18" charset="0"/>
              </a:rPr>
              <a:t>improving agricultural productivity and sustainability in real-world farming</a:t>
            </a:r>
          </a:p>
          <a:p>
            <a:pPr marL="285750" indent="-285750" algn="just"/>
            <a:r>
              <a:rPr lang="en-US" sz="2400" dirty="0">
                <a:latin typeface="Times New Roman" panose="02020603050405020304" pitchFamily="18" charset="0"/>
                <a:cs typeface="Times New Roman" panose="02020603050405020304" pitchFamily="18" charset="0"/>
              </a:rPr>
              <a:t>environments.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4831" y="220980"/>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t>	Dashboard</a:t>
            </a:r>
            <a:endParaRPr spc="-10" dirty="0"/>
          </a:p>
        </p:txBody>
      </p:sp>
      <p:sp>
        <p:nvSpPr>
          <p:cNvPr id="13" name="object 13"/>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16</a:t>
            </a:fld>
            <a:endParaRPr spc="-25" dirty="0"/>
          </a:p>
        </p:txBody>
      </p:sp>
      <p:sp>
        <p:nvSpPr>
          <p:cNvPr id="17" name="object 9">
            <a:extLst>
              <a:ext uri="{FF2B5EF4-FFF2-40B4-BE49-F238E27FC236}">
                <a16:creationId xmlns:a16="http://schemas.microsoft.com/office/drawing/2014/main" id="{D6CEC1F6-617C-1215-8F71-FD4FF09C0AD7}"/>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2" name="Picture 11" descr="Screenshot (6).png"/>
          <p:cNvPicPr>
            <a:picLocks noChangeAspect="1"/>
          </p:cNvPicPr>
          <p:nvPr/>
        </p:nvPicPr>
        <p:blipFill>
          <a:blip r:embed="rId3"/>
          <a:stretch>
            <a:fillRect/>
          </a:stretch>
        </p:blipFill>
        <p:spPr>
          <a:xfrm>
            <a:off x="228600" y="1066800"/>
            <a:ext cx="11201400" cy="52577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7168"/>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17</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18</a:t>
            </a:fld>
            <a:endParaRPr spc="-25" dirty="0"/>
          </a:p>
        </p:txBody>
      </p:sp>
      <p:sp>
        <p:nvSpPr>
          <p:cNvPr id="3" name="object 3"/>
          <p:cNvSpPr txBox="1">
            <a:spLocks noGrp="1"/>
          </p:cNvSpPr>
          <p:nvPr>
            <p:ph type="title"/>
          </p:nvPr>
        </p:nvSpPr>
        <p:spPr>
          <a:xfrm>
            <a:off x="2826638" y="2249889"/>
            <a:ext cx="3140710" cy="3156585"/>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a:latin typeface="Times New Roman"/>
              <a:cs typeface="Times New Roman"/>
            </a:endParaRPr>
          </a:p>
        </p:txBody>
      </p:sp>
      <p:sp>
        <p:nvSpPr>
          <p:cNvPr id="8" name="object 9">
            <a:extLst>
              <a:ext uri="{FF2B5EF4-FFF2-40B4-BE49-F238E27FC236}">
                <a16:creationId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794</TotalTime>
  <Words>2192</Words>
  <Application>Microsoft Office PowerPoint</Application>
  <PresentationFormat>Widescreen</PresentationFormat>
  <Paragraphs>219</Paragraphs>
  <Slides>18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  Smart Fertilizer Spraying System Using Plant Disease Severity Analysis</vt:lpstr>
      <vt:lpstr>Contents</vt:lpstr>
      <vt:lpstr>Review-0 comments</vt:lpstr>
      <vt:lpstr>Abstract</vt:lpstr>
      <vt:lpstr>Introduction</vt:lpstr>
      <vt:lpstr>Literature Survey</vt:lpstr>
      <vt:lpstr>Literature Survey</vt:lpstr>
      <vt:lpstr>Existing System</vt:lpstr>
      <vt:lpstr>Proposed System</vt:lpstr>
      <vt:lpstr>Components</vt:lpstr>
      <vt:lpstr>Components</vt:lpstr>
      <vt:lpstr>Block Diagram</vt:lpstr>
      <vt:lpstr>Reference</vt:lpstr>
      <vt:lpstr>Applications</vt:lpstr>
      <vt:lpstr>Conclusion</vt:lpstr>
      <vt:lpstr>Git Hub Dashboard</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COMPREHENSIVE REAL-TIME CHILD MONITORING FOR                                  IMPROVED SAFETY AND OVERSIGHT</dc:title>
  <dc:creator>SARVAGNA VEMULA</dc:creator>
  <cp:lastModifiedBy>Revathi Bomma</cp:lastModifiedBy>
  <cp:revision>15</cp:revision>
  <dcterms:created xsi:type="dcterms:W3CDTF">2025-09-12T04:18:11Z</dcterms:created>
  <dcterms:modified xsi:type="dcterms:W3CDTF">2026-01-01T15:52:21Z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