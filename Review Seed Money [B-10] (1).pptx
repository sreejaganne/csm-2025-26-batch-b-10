
<file path=[Content_Types].xml><?xml version="1.0" encoding="utf-8"?>
<Types xmlns="http://schemas.openxmlformats.org/package/2006/content-types">
  <Override PartName="/ppt/slides/slide6.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ustom.xml" ContentType="application/vnd.openxmlformats-officedocument.custom-propertie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8" r:id="rId3"/>
    <p:sldId id="257" r:id="rId4"/>
    <p:sldId id="259" r:id="rId5"/>
    <p:sldId id="267" r:id="rId6"/>
    <p:sldId id="260" r:id="rId7"/>
    <p:sldId id="261" r:id="rId8"/>
    <p:sldId id="275" r:id="rId9"/>
    <p:sldId id="276" r:id="rId10"/>
    <p:sldId id="270" r:id="rId11"/>
    <p:sldId id="271" r:id="rId12"/>
    <p:sldId id="274" r:id="rId13"/>
    <p:sldId id="277" r:id="rId14"/>
    <p:sldId id="279" r:id="rId15"/>
    <p:sldId id="281" r:id="rId16"/>
    <p:sldId id="280" r:id="rId17"/>
    <p:sldId id="272" r:id="rId18"/>
    <p:sldId id="273" r:id="rId19"/>
    <p:sldId id="263" r:id="rId20"/>
    <p:sldId id="264" r:id="rId21"/>
    <p:sldId id="265" r:id="rId22"/>
  </p:sldIdLst>
  <p:sldSz cx="12192000" cy="6858000"/>
  <p:notesSz cx="12192000" cy="6858000"/>
  <p:defaultTextStyle>
    <a:defPPr>
      <a:defRPr kern="0"/>
    </a:defPPr>
  </p:defaultTextStyle>
  <p:extLst>
    <p:ext uri="{521415D9-36F7-43E2-AB2F-B90AF26B5E84}">
      <p14:sectionLst xmlns="" xmlns:p14="http://schemas.microsoft.com/office/powerpoint/2010/main">
        <p14:section name="Default Section" id="{A289E9F3-74E8-4CB1-A7E3-D4DEAB46E5B2}">
          <p14:sldIdLst>
            <p14:sldId id="256"/>
            <p14:sldId id="258"/>
            <p14:sldId id="266"/>
            <p14:sldId id="257"/>
            <p14:sldId id="259"/>
            <p14:sldId id="267"/>
            <p14:sldId id="260"/>
            <p14:sldId id="269"/>
            <p14:sldId id="261"/>
            <p14:sldId id="270"/>
            <p14:sldId id="271"/>
            <p14:sldId id="274"/>
            <p14:sldId id="262"/>
            <p14:sldId id="272"/>
            <p14:sldId id="273"/>
            <p14:sldId id="263"/>
            <p14:sldId id="264"/>
            <p14:sldId id="265"/>
          </p14:sldIdLst>
        </p14:section>
        <p14:section name="Untitled Section" id="{C6B00087-380B-4DEF-BDE3-E525EFBAC2FB}">
          <p14:sldIdLst/>
        </p14:section>
      </p14:sectionLst>
    </p:ext>
    <p:ext uri="{EFAFB233-063F-42B5-8137-9DF3F51BA10A}">
      <p15:sldGuideLst xmlns=""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4F81BD"/>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20428" autoAdjust="0"/>
    <p:restoredTop sz="88604" autoAdjust="0"/>
  </p:normalViewPr>
  <p:slideViewPr>
    <p:cSldViewPr>
      <p:cViewPr varScale="1">
        <p:scale>
          <a:sx n="60" d="100"/>
          <a:sy n="60" d="100"/>
        </p:scale>
        <p:origin x="-798" y="-96"/>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vathi Bomma" userId="071ddb6149ff7e44" providerId="LiveId" clId="{CF4DF93A-E27A-43F8-A3A3-DE667DFC5CB1}"/>
    <pc:docChg chg="modSld">
      <pc:chgData name="Revathi Bomma" userId="071ddb6149ff7e44" providerId="LiveId" clId="{CF4DF93A-E27A-43F8-A3A3-DE667DFC5CB1}" dt="2026-01-01T15:52:18.200" v="61" actId="2711"/>
      <pc:docMkLst>
        <pc:docMk/>
      </pc:docMkLst>
      <pc:sldChg chg="modSp mod">
        <pc:chgData name="Revathi Bomma" userId="071ddb6149ff7e44" providerId="LiveId" clId="{CF4DF93A-E27A-43F8-A3A3-DE667DFC5CB1}" dt="2026-01-01T15:49:27.153" v="6" actId="20577"/>
        <pc:sldMkLst>
          <pc:docMk/>
          <pc:sldMk cId="0" sldId="256"/>
        </pc:sldMkLst>
        <pc:spChg chg="mod">
          <ac:chgData name="Revathi Bomma" userId="071ddb6149ff7e44" providerId="LiveId" clId="{CF4DF93A-E27A-43F8-A3A3-DE667DFC5CB1}" dt="2026-01-01T15:49:27.153" v="6" actId="20577"/>
          <ac:spMkLst>
            <pc:docMk/>
            <pc:sldMk cId="0" sldId="256"/>
            <ac:spMk id="9" creationId="{00000000-0000-0000-0000-000000000000}"/>
          </ac:spMkLst>
        </pc:spChg>
        <pc:spChg chg="mod">
          <ac:chgData name="Revathi Bomma" userId="071ddb6149ff7e44" providerId="LiveId" clId="{CF4DF93A-E27A-43F8-A3A3-DE667DFC5CB1}" dt="2026-01-01T15:49:18.842" v="2" actId="20577"/>
          <ac:spMkLst>
            <pc:docMk/>
            <pc:sldMk cId="0" sldId="256"/>
            <ac:spMk id="13" creationId="{00000000-0000-0000-0000-000000000000}"/>
          </ac:spMkLst>
        </pc:spChg>
      </pc:sldChg>
      <pc:sldChg chg="modSp mod">
        <pc:chgData name="Revathi Bomma" userId="071ddb6149ff7e44" providerId="LiveId" clId="{CF4DF93A-E27A-43F8-A3A3-DE667DFC5CB1}" dt="2026-01-01T15:50:36.511" v="27" actId="20577"/>
        <pc:sldMkLst>
          <pc:docMk/>
          <pc:sldMk cId="0" sldId="257"/>
        </pc:sldMkLst>
        <pc:spChg chg="mod">
          <ac:chgData name="Revathi Bomma" userId="071ddb6149ff7e44" providerId="LiveId" clId="{CF4DF93A-E27A-43F8-A3A3-DE667DFC5CB1}" dt="2026-01-01T15:50:36.511" v="27" actId="20577"/>
          <ac:spMkLst>
            <pc:docMk/>
            <pc:sldMk cId="0" sldId="257"/>
            <ac:spMk id="14" creationId="{29A68E3C-6099-B180-7254-EAAF8399ED3B}"/>
          </ac:spMkLst>
        </pc:spChg>
      </pc:sldChg>
      <pc:sldChg chg="modSp mod">
        <pc:chgData name="Revathi Bomma" userId="071ddb6149ff7e44" providerId="LiveId" clId="{CF4DF93A-E27A-43F8-A3A3-DE667DFC5CB1}" dt="2026-01-01T15:49:37.499" v="25" actId="20577"/>
        <pc:sldMkLst>
          <pc:docMk/>
          <pc:sldMk cId="0" sldId="258"/>
        </pc:sldMkLst>
        <pc:spChg chg="mod">
          <ac:chgData name="Revathi Bomma" userId="071ddb6149ff7e44" providerId="LiveId" clId="{CF4DF93A-E27A-43F8-A3A3-DE667DFC5CB1}" dt="2026-01-01T15:49:37.499" v="25" actId="20577"/>
          <ac:spMkLst>
            <pc:docMk/>
            <pc:sldMk cId="0" sldId="258"/>
            <ac:spMk id="7" creationId="{00000000-0000-0000-0000-000000000000}"/>
          </ac:spMkLst>
        </pc:spChg>
      </pc:sldChg>
      <pc:sldChg chg="modSp mod">
        <pc:chgData name="Revathi Bomma" userId="071ddb6149ff7e44" providerId="LiveId" clId="{CF4DF93A-E27A-43F8-A3A3-DE667DFC5CB1}" dt="2026-01-01T15:50:56.100" v="31" actId="1076"/>
        <pc:sldMkLst>
          <pc:docMk/>
          <pc:sldMk cId="0" sldId="259"/>
        </pc:sldMkLst>
        <pc:spChg chg="mod">
          <ac:chgData name="Revathi Bomma" userId="071ddb6149ff7e44" providerId="LiveId" clId="{CF4DF93A-E27A-43F8-A3A3-DE667DFC5CB1}" dt="2026-01-01T15:50:56.100" v="31" actId="1076"/>
          <ac:spMkLst>
            <pc:docMk/>
            <pc:sldMk cId="0" sldId="259"/>
            <ac:spMk id="14" creationId="{4C1451A4-759F-E2B2-5571-50D7B7C9E59F}"/>
          </ac:spMkLst>
        </pc:spChg>
      </pc:sldChg>
      <pc:sldChg chg="modSp mod">
        <pc:chgData name="Revathi Bomma" userId="071ddb6149ff7e44" providerId="LiveId" clId="{CF4DF93A-E27A-43F8-A3A3-DE667DFC5CB1}" dt="2026-01-01T15:51:06.704" v="33" actId="20577"/>
        <pc:sldMkLst>
          <pc:docMk/>
          <pc:sldMk cId="0" sldId="260"/>
        </pc:sldMkLst>
        <pc:spChg chg="mod">
          <ac:chgData name="Revathi Bomma" userId="071ddb6149ff7e44" providerId="LiveId" clId="{CF4DF93A-E27A-43F8-A3A3-DE667DFC5CB1}" dt="2026-01-01T15:51:06.704" v="33" actId="20577"/>
          <ac:spMkLst>
            <pc:docMk/>
            <pc:sldMk cId="0" sldId="260"/>
            <ac:spMk id="12" creationId="{54DC6A21-A96F-02AA-6030-BED8C9E2DB5C}"/>
          </ac:spMkLst>
        </pc:spChg>
      </pc:sldChg>
      <pc:sldChg chg="modSp mod">
        <pc:chgData name="Revathi Bomma" userId="071ddb6149ff7e44" providerId="LiveId" clId="{CF4DF93A-E27A-43F8-A3A3-DE667DFC5CB1}" dt="2026-01-01T15:51:19.783" v="37" actId="20577"/>
        <pc:sldMkLst>
          <pc:docMk/>
          <pc:sldMk cId="0" sldId="261"/>
        </pc:sldMkLst>
        <pc:spChg chg="mod">
          <ac:chgData name="Revathi Bomma" userId="071ddb6149ff7e44" providerId="LiveId" clId="{CF4DF93A-E27A-43F8-A3A3-DE667DFC5CB1}" dt="2026-01-01T15:51:19.783" v="37" actId="20577"/>
          <ac:spMkLst>
            <pc:docMk/>
            <pc:sldMk cId="0" sldId="261"/>
            <ac:spMk id="9" creationId="{7288F165-7028-955D-D6CC-432D2AE064DE}"/>
          </ac:spMkLst>
        </pc:spChg>
      </pc:sldChg>
      <pc:sldChg chg="modSp mod">
        <pc:chgData name="Revathi Bomma" userId="071ddb6149ff7e44" providerId="LiveId" clId="{CF4DF93A-E27A-43F8-A3A3-DE667DFC5CB1}" dt="2026-01-01T15:51:01.656" v="32" actId="20577"/>
        <pc:sldMkLst>
          <pc:docMk/>
          <pc:sldMk cId="1868900862" sldId="267"/>
        </pc:sldMkLst>
        <pc:spChg chg="mod">
          <ac:chgData name="Revathi Bomma" userId="071ddb6149ff7e44" providerId="LiveId" clId="{CF4DF93A-E27A-43F8-A3A3-DE667DFC5CB1}" dt="2026-01-01T15:51:01.656" v="32" actId="20577"/>
          <ac:spMkLst>
            <pc:docMk/>
            <pc:sldMk cId="1868900862" sldId="267"/>
            <ac:spMk id="15" creationId="{06C27353-C81E-6D02-EDD9-9B798985605C}"/>
          </ac:spMkLst>
        </pc:spChg>
      </pc:sldChg>
      <pc:sldChg chg="modSp mod">
        <pc:chgData name="Revathi Bomma" userId="071ddb6149ff7e44" providerId="LiveId" clId="{CF4DF93A-E27A-43F8-A3A3-DE667DFC5CB1}" dt="2026-01-01T15:51:14.827" v="35" actId="20577"/>
        <pc:sldMkLst>
          <pc:docMk/>
          <pc:sldMk cId="1902439460" sldId="269"/>
        </pc:sldMkLst>
        <pc:spChg chg="mod">
          <ac:chgData name="Revathi Bomma" userId="071ddb6149ff7e44" providerId="LiveId" clId="{CF4DF93A-E27A-43F8-A3A3-DE667DFC5CB1}" dt="2026-01-01T15:51:14.827" v="35" actId="20577"/>
          <ac:spMkLst>
            <pc:docMk/>
            <pc:sldMk cId="1902439460" sldId="269"/>
            <ac:spMk id="9" creationId="{7F0DE90C-D6D3-08AE-9D5A-1A0DE666DCB6}"/>
          </ac:spMkLst>
        </pc:spChg>
      </pc:sldChg>
      <pc:sldChg chg="modSp mod">
        <pc:chgData name="Revathi Bomma" userId="071ddb6149ff7e44" providerId="LiveId" clId="{CF4DF93A-E27A-43F8-A3A3-DE667DFC5CB1}" dt="2026-01-01T15:52:05.301" v="60" actId="20577"/>
        <pc:sldMkLst>
          <pc:docMk/>
          <pc:sldMk cId="0" sldId="272"/>
        </pc:sldMkLst>
        <pc:spChg chg="mod">
          <ac:chgData name="Revathi Bomma" userId="071ddb6149ff7e44" providerId="LiveId" clId="{CF4DF93A-E27A-43F8-A3A3-DE667DFC5CB1}" dt="2026-01-01T15:51:39.552" v="39" actId="1076"/>
          <ac:spMkLst>
            <pc:docMk/>
            <pc:sldMk cId="0" sldId="272"/>
            <ac:spMk id="2" creationId="{E98567D7-0835-E777-904C-4B43CBA57B04}"/>
          </ac:spMkLst>
        </pc:spChg>
        <pc:spChg chg="mod">
          <ac:chgData name="Revathi Bomma" userId="071ddb6149ff7e44" providerId="LiveId" clId="{CF4DF93A-E27A-43F8-A3A3-DE667DFC5CB1}" dt="2026-01-01T15:52:05.301" v="60" actId="20577"/>
          <ac:spMkLst>
            <pc:docMk/>
            <pc:sldMk cId="0" sldId="272"/>
            <ac:spMk id="6" creationId="{00000000-0000-0000-0000-000000000000}"/>
          </ac:spMkLst>
        </pc:spChg>
      </pc:sldChg>
      <pc:sldChg chg="modSp mod">
        <pc:chgData name="Revathi Bomma" userId="071ddb6149ff7e44" providerId="LiveId" clId="{CF4DF93A-E27A-43F8-A3A3-DE667DFC5CB1}" dt="2026-01-01T15:52:18.200" v="61" actId="2711"/>
        <pc:sldMkLst>
          <pc:docMk/>
          <pc:sldMk cId="0" sldId="273"/>
        </pc:sldMkLst>
        <pc:spChg chg="mod">
          <ac:chgData name="Revathi Bomma" userId="071ddb6149ff7e44" providerId="LiveId" clId="{CF4DF93A-E27A-43F8-A3A3-DE667DFC5CB1}" dt="2026-01-01T15:52:18.200" v="61" actId="2711"/>
          <ac:spMkLst>
            <pc:docMk/>
            <pc:sldMk cId="0" sldId="273"/>
            <ac:spMk id="2" creationId="{E98567D7-0835-E777-904C-4B43CBA57B0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0E791910-4FED-4A69-9027-872062396EBD}" type="datetimeFigureOut">
              <a:rPr lang="en-IN" smtClean="0"/>
              <a:pPr/>
              <a:t>20-02-2026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23472F7-00EC-40F3-A111-228D446E4BD5}" type="slidenum">
              <a:rPr lang="en-IN" smtClean="0"/>
              <a:pPr/>
              <a:t>‹#›</a:t>
            </a:fld>
            <a:endParaRPr lang="en-IN"/>
          </a:p>
        </p:txBody>
      </p:sp>
    </p:spTree>
    <p:extLst>
      <p:ext uri="{BB962C8B-B14F-4D97-AF65-F5344CB8AC3E}">
        <p14:creationId xmlns="" xmlns:p14="http://schemas.microsoft.com/office/powerpoint/2010/main" val="1855936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2</a:t>
            </a:fld>
            <a:endParaRPr lang="en-IN"/>
          </a:p>
        </p:txBody>
      </p:sp>
    </p:spTree>
    <p:extLst>
      <p:ext uri="{BB962C8B-B14F-4D97-AF65-F5344CB8AC3E}">
        <p14:creationId xmlns="" xmlns:p14="http://schemas.microsoft.com/office/powerpoint/2010/main" val="2929346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3</a:t>
            </a:fld>
            <a:endParaRPr lang="en-IN"/>
          </a:p>
        </p:txBody>
      </p:sp>
    </p:spTree>
    <p:extLst>
      <p:ext uri="{BB962C8B-B14F-4D97-AF65-F5344CB8AC3E}">
        <p14:creationId xmlns="" xmlns:p14="http://schemas.microsoft.com/office/powerpoint/2010/main" val="19249324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058D635-A96C-BAE6-CE74-26160F097ECF}"/>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9ECE9739-2EB2-B507-39FF-9609A659561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C16A283D-1F89-3B3D-18FE-DA3228D616E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F6C3B33B-8296-1550-FF38-02DB2D092164}"/>
              </a:ext>
            </a:extLst>
          </p:cNvPr>
          <p:cNvSpPr>
            <a:spLocks noGrp="1"/>
          </p:cNvSpPr>
          <p:nvPr>
            <p:ph type="sldNum" sz="quarter" idx="5"/>
          </p:nvPr>
        </p:nvSpPr>
        <p:spPr/>
        <p:txBody>
          <a:bodyPr/>
          <a:lstStyle/>
          <a:p>
            <a:fld id="{623472F7-00EC-40F3-A111-228D446E4BD5}" type="slidenum">
              <a:rPr lang="en-IN" smtClean="0"/>
              <a:pPr/>
              <a:t>5</a:t>
            </a:fld>
            <a:endParaRPr lang="en-IN"/>
          </a:p>
        </p:txBody>
      </p:sp>
    </p:spTree>
    <p:extLst>
      <p:ext uri="{BB962C8B-B14F-4D97-AF65-F5344CB8AC3E}">
        <p14:creationId xmlns="" xmlns:p14="http://schemas.microsoft.com/office/powerpoint/2010/main" val="11206437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6</a:t>
            </a:fld>
            <a:endParaRPr lang="en-IN"/>
          </a:p>
        </p:txBody>
      </p:sp>
    </p:spTree>
    <p:extLst>
      <p:ext uri="{BB962C8B-B14F-4D97-AF65-F5344CB8AC3E}">
        <p14:creationId xmlns="" xmlns:p14="http://schemas.microsoft.com/office/powerpoint/2010/main" val="23506751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7</a:t>
            </a:fld>
            <a:endParaRPr lang="en-IN"/>
          </a:p>
        </p:txBody>
      </p:sp>
    </p:spTree>
    <p:extLst>
      <p:ext uri="{BB962C8B-B14F-4D97-AF65-F5344CB8AC3E}">
        <p14:creationId xmlns="" xmlns:p14="http://schemas.microsoft.com/office/powerpoint/2010/main" val="31122810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8</a:t>
            </a:fld>
            <a:endParaRPr lang="en-IN"/>
          </a:p>
        </p:txBody>
      </p:sp>
    </p:spTree>
    <p:extLst>
      <p:ext uri="{BB962C8B-B14F-4D97-AF65-F5344CB8AC3E}">
        <p14:creationId xmlns="" xmlns:p14="http://schemas.microsoft.com/office/powerpoint/2010/main" val="31122810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9</a:t>
            </a:fld>
            <a:endParaRPr lang="en-IN"/>
          </a:p>
        </p:txBody>
      </p:sp>
    </p:spTree>
    <p:extLst>
      <p:ext uri="{BB962C8B-B14F-4D97-AF65-F5344CB8AC3E}">
        <p14:creationId xmlns="" xmlns:p14="http://schemas.microsoft.com/office/powerpoint/2010/main" val="3112281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F895C7D-8089-3950-CC57-8FD06EBB1955}"/>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950D2808-40BE-889D-B39E-741353B2EEC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698C2AE4-78B9-072F-68D1-34E31FEDEB0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2F0DE719-3D56-9CB5-3F3E-360884A1B0A4}"/>
              </a:ext>
            </a:extLst>
          </p:cNvPr>
          <p:cNvSpPr>
            <a:spLocks noGrp="1"/>
          </p:cNvSpPr>
          <p:nvPr>
            <p:ph type="sldNum" sz="quarter" idx="5"/>
          </p:nvPr>
        </p:nvSpPr>
        <p:spPr/>
        <p:txBody>
          <a:bodyPr/>
          <a:lstStyle/>
          <a:p>
            <a:fld id="{623472F7-00EC-40F3-A111-228D446E4BD5}" type="slidenum">
              <a:rPr lang="en-IN" smtClean="0"/>
              <a:pPr/>
              <a:t>10</a:t>
            </a:fld>
            <a:endParaRPr lang="en-IN"/>
          </a:p>
        </p:txBody>
      </p:sp>
    </p:spTree>
    <p:extLst>
      <p:ext uri="{BB962C8B-B14F-4D97-AF65-F5344CB8AC3E}">
        <p14:creationId xmlns="" xmlns:p14="http://schemas.microsoft.com/office/powerpoint/2010/main" val="24998609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3C3BBDE-145B-051A-5C31-6289C7FE8D61}"/>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298973A6-1F41-08CD-EB40-1F38002B978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156886FC-4EB9-C83B-7A2E-917EE63499E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C97FAEC8-30ED-53D4-C23D-5EFAF7CE6EB4}"/>
              </a:ext>
            </a:extLst>
          </p:cNvPr>
          <p:cNvSpPr>
            <a:spLocks noGrp="1"/>
          </p:cNvSpPr>
          <p:nvPr>
            <p:ph type="sldNum" sz="quarter" idx="5"/>
          </p:nvPr>
        </p:nvSpPr>
        <p:spPr/>
        <p:txBody>
          <a:bodyPr/>
          <a:lstStyle/>
          <a:p>
            <a:fld id="{623472F7-00EC-40F3-A111-228D446E4BD5}" type="slidenum">
              <a:rPr lang="en-IN" smtClean="0"/>
              <a:pPr/>
              <a:t>11</a:t>
            </a:fld>
            <a:endParaRPr lang="en-IN"/>
          </a:p>
        </p:txBody>
      </p:sp>
    </p:spTree>
    <p:extLst>
      <p:ext uri="{BB962C8B-B14F-4D97-AF65-F5344CB8AC3E}">
        <p14:creationId xmlns="" xmlns:p14="http://schemas.microsoft.com/office/powerpoint/2010/main" val="9880912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3C3BBDE-145B-051A-5C31-6289C7FE8D61}"/>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298973A6-1F41-08CD-EB40-1F38002B978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156886FC-4EB9-C83B-7A2E-917EE63499E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C97FAEC8-30ED-53D4-C23D-5EFAF7CE6EB4}"/>
              </a:ext>
            </a:extLst>
          </p:cNvPr>
          <p:cNvSpPr>
            <a:spLocks noGrp="1"/>
          </p:cNvSpPr>
          <p:nvPr>
            <p:ph type="sldNum" sz="quarter" idx="5"/>
          </p:nvPr>
        </p:nvSpPr>
        <p:spPr/>
        <p:txBody>
          <a:bodyPr/>
          <a:lstStyle/>
          <a:p>
            <a:fld id="{623472F7-00EC-40F3-A111-228D446E4BD5}" type="slidenum">
              <a:rPr lang="en-IN" smtClean="0"/>
              <a:pPr/>
              <a:t>12</a:t>
            </a:fld>
            <a:endParaRPr lang="en-IN"/>
          </a:p>
        </p:txBody>
      </p:sp>
    </p:spTree>
    <p:extLst>
      <p:ext uri="{BB962C8B-B14F-4D97-AF65-F5344CB8AC3E}">
        <p14:creationId xmlns="" xmlns:p14="http://schemas.microsoft.com/office/powerpoint/2010/main" val="9880912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3C3BBDE-145B-051A-5C31-6289C7FE8D61}"/>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298973A6-1F41-08CD-EB40-1F38002B978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156886FC-4EB9-C83B-7A2E-917EE63499E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C97FAEC8-30ED-53D4-C23D-5EFAF7CE6EB4}"/>
              </a:ext>
            </a:extLst>
          </p:cNvPr>
          <p:cNvSpPr>
            <a:spLocks noGrp="1"/>
          </p:cNvSpPr>
          <p:nvPr>
            <p:ph type="sldNum" sz="quarter" idx="5"/>
          </p:nvPr>
        </p:nvSpPr>
        <p:spPr/>
        <p:txBody>
          <a:bodyPr/>
          <a:lstStyle/>
          <a:p>
            <a:fld id="{623472F7-00EC-40F3-A111-228D446E4BD5}" type="slidenum">
              <a:rPr lang="en-IN" smtClean="0"/>
              <a:pPr/>
              <a:t>13</a:t>
            </a:fld>
            <a:endParaRPr lang="en-IN"/>
          </a:p>
        </p:txBody>
      </p:sp>
    </p:spTree>
    <p:extLst>
      <p:ext uri="{BB962C8B-B14F-4D97-AF65-F5344CB8AC3E}">
        <p14:creationId xmlns="" xmlns:p14="http://schemas.microsoft.com/office/powerpoint/2010/main" val="9880912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3C3BBDE-145B-051A-5C31-6289C7FE8D61}"/>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298973A6-1F41-08CD-EB40-1F38002B978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156886FC-4EB9-C83B-7A2E-917EE63499E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C97FAEC8-30ED-53D4-C23D-5EFAF7CE6EB4}"/>
              </a:ext>
            </a:extLst>
          </p:cNvPr>
          <p:cNvSpPr>
            <a:spLocks noGrp="1"/>
          </p:cNvSpPr>
          <p:nvPr>
            <p:ph type="sldNum" sz="quarter" idx="5"/>
          </p:nvPr>
        </p:nvSpPr>
        <p:spPr/>
        <p:txBody>
          <a:bodyPr/>
          <a:lstStyle/>
          <a:p>
            <a:fld id="{623472F7-00EC-40F3-A111-228D446E4BD5}" type="slidenum">
              <a:rPr lang="en-IN" smtClean="0"/>
              <a:pPr/>
              <a:t>14</a:t>
            </a:fld>
            <a:endParaRPr lang="en-IN"/>
          </a:p>
        </p:txBody>
      </p:sp>
    </p:spTree>
    <p:extLst>
      <p:ext uri="{BB962C8B-B14F-4D97-AF65-F5344CB8AC3E}">
        <p14:creationId xmlns="" xmlns:p14="http://schemas.microsoft.com/office/powerpoint/2010/main" val="9880912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15</a:t>
            </a:fld>
            <a:endParaRPr lang="en-IN"/>
          </a:p>
        </p:txBody>
      </p:sp>
    </p:spTree>
    <p:extLst>
      <p:ext uri="{BB962C8B-B14F-4D97-AF65-F5344CB8AC3E}">
        <p14:creationId xmlns="" xmlns:p14="http://schemas.microsoft.com/office/powerpoint/2010/main" val="31122810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20</a:t>
            </a:fld>
            <a:endParaRPr lang="en-IN"/>
          </a:p>
        </p:txBody>
      </p:sp>
    </p:spTree>
    <p:extLst>
      <p:ext uri="{BB962C8B-B14F-4D97-AF65-F5344CB8AC3E}">
        <p14:creationId xmlns="" xmlns:p14="http://schemas.microsoft.com/office/powerpoint/2010/main" val="824020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6" name="Holder 6"/>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7" name="Holder 7"/>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4" name="Holder 4"/>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5" name="Holder 5"/>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3" name="Holder 3"/>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4" name="Holder 4"/>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77238" y="6642827"/>
            <a:ext cx="5654040" cy="215265"/>
          </a:xfrm>
          <a:custGeom>
            <a:avLst/>
            <a:gdLst/>
            <a:ahLst/>
            <a:cxnLst/>
            <a:rect l="l" t="t" r="r" b="b"/>
            <a:pathLst>
              <a:path w="5654040" h="215265">
                <a:moveTo>
                  <a:pt x="5654038" y="215171"/>
                </a:moveTo>
                <a:lnTo>
                  <a:pt x="0" y="215171"/>
                </a:lnTo>
                <a:lnTo>
                  <a:pt x="0" y="0"/>
                </a:lnTo>
                <a:lnTo>
                  <a:pt x="5654038" y="0"/>
                </a:lnTo>
                <a:lnTo>
                  <a:pt x="5654038" y="215171"/>
                </a:lnTo>
                <a:close/>
              </a:path>
            </a:pathLst>
          </a:custGeom>
          <a:solidFill>
            <a:srgbClr val="002060"/>
          </a:solidFill>
        </p:spPr>
        <p:txBody>
          <a:bodyPr wrap="square" lIns="0" tIns="0" rIns="0" bIns="0" rtlCol="0"/>
          <a:lstStyle/>
          <a:p>
            <a:endParaRPr/>
          </a:p>
        </p:txBody>
      </p:sp>
      <p:sp>
        <p:nvSpPr>
          <p:cNvPr id="17" name="bg object 17"/>
          <p:cNvSpPr/>
          <p:nvPr/>
        </p:nvSpPr>
        <p:spPr>
          <a:xfrm>
            <a:off x="6431277" y="6641865"/>
            <a:ext cx="5323205" cy="216535"/>
          </a:xfrm>
          <a:custGeom>
            <a:avLst/>
            <a:gdLst/>
            <a:ahLst/>
            <a:cxnLst/>
            <a:rect l="l" t="t" r="r" b="b"/>
            <a:pathLst>
              <a:path w="5323205" h="216534">
                <a:moveTo>
                  <a:pt x="5322916" y="216133"/>
                </a:moveTo>
                <a:lnTo>
                  <a:pt x="0" y="216133"/>
                </a:lnTo>
                <a:lnTo>
                  <a:pt x="0" y="0"/>
                </a:lnTo>
                <a:lnTo>
                  <a:pt x="5322916" y="0"/>
                </a:lnTo>
                <a:lnTo>
                  <a:pt x="5322916" y="216133"/>
                </a:lnTo>
                <a:close/>
              </a:path>
            </a:pathLst>
          </a:custGeom>
          <a:solidFill>
            <a:srgbClr val="008080"/>
          </a:solidFill>
        </p:spPr>
        <p:txBody>
          <a:bodyPr wrap="square" lIns="0" tIns="0" rIns="0" bIns="0" rtlCol="0"/>
          <a:lstStyle/>
          <a:p>
            <a:endParaRPr/>
          </a:p>
        </p:txBody>
      </p:sp>
      <p:sp>
        <p:nvSpPr>
          <p:cNvPr id="18" name="bg object 18"/>
          <p:cNvSpPr/>
          <p:nvPr/>
        </p:nvSpPr>
        <p:spPr>
          <a:xfrm>
            <a:off x="11754195" y="6641864"/>
            <a:ext cx="438150" cy="216535"/>
          </a:xfrm>
          <a:custGeom>
            <a:avLst/>
            <a:gdLst/>
            <a:ahLst/>
            <a:cxnLst/>
            <a:rect l="l" t="t" r="r" b="b"/>
            <a:pathLst>
              <a:path w="438150" h="216534">
                <a:moveTo>
                  <a:pt x="437803" y="216132"/>
                </a:moveTo>
                <a:lnTo>
                  <a:pt x="0" y="216132"/>
                </a:lnTo>
                <a:lnTo>
                  <a:pt x="0" y="0"/>
                </a:lnTo>
                <a:lnTo>
                  <a:pt x="437803" y="0"/>
                </a:lnTo>
                <a:lnTo>
                  <a:pt x="437803" y="216132"/>
                </a:lnTo>
                <a:close/>
              </a:path>
            </a:pathLst>
          </a:custGeom>
          <a:solidFill>
            <a:srgbClr val="FFC000"/>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11506200" y="5956065"/>
            <a:ext cx="685799" cy="681643"/>
          </a:xfrm>
          <a:prstGeom prst="rect">
            <a:avLst/>
          </a:prstGeom>
        </p:spPr>
      </p:pic>
      <p:sp>
        <p:nvSpPr>
          <p:cNvPr id="20" name="bg object 20"/>
          <p:cNvSpPr/>
          <p:nvPr/>
        </p:nvSpPr>
        <p:spPr>
          <a:xfrm>
            <a:off x="0" y="6642827"/>
            <a:ext cx="777240" cy="215265"/>
          </a:xfrm>
          <a:custGeom>
            <a:avLst/>
            <a:gdLst/>
            <a:ahLst/>
            <a:cxnLst/>
            <a:rect l="l" t="t" r="r" b="b"/>
            <a:pathLst>
              <a:path w="777240" h="215265">
                <a:moveTo>
                  <a:pt x="777238" y="215171"/>
                </a:moveTo>
                <a:lnTo>
                  <a:pt x="0" y="215171"/>
                </a:lnTo>
                <a:lnTo>
                  <a:pt x="0" y="0"/>
                </a:lnTo>
                <a:lnTo>
                  <a:pt x="777238" y="0"/>
                </a:lnTo>
                <a:lnTo>
                  <a:pt x="777238" y="215171"/>
                </a:lnTo>
                <a:close/>
              </a:path>
            </a:pathLst>
          </a:custGeom>
          <a:solidFill>
            <a:srgbClr val="C55A11"/>
          </a:solidFill>
        </p:spPr>
        <p:txBody>
          <a:bodyPr wrap="square" lIns="0" tIns="0" rIns="0" bIns="0" rtlCol="0"/>
          <a:lstStyle/>
          <a:p>
            <a:endParaRPr/>
          </a:p>
        </p:txBody>
      </p:sp>
      <p:sp>
        <p:nvSpPr>
          <p:cNvPr id="21" name="bg object 21"/>
          <p:cNvSpPr/>
          <p:nvPr/>
        </p:nvSpPr>
        <p:spPr>
          <a:xfrm>
            <a:off x="-1" y="0"/>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a:p>
        </p:txBody>
      </p:sp>
      <p:sp>
        <p:nvSpPr>
          <p:cNvPr id="2" name="Holder 2"/>
          <p:cNvSpPr>
            <a:spLocks noGrp="1"/>
          </p:cNvSpPr>
          <p:nvPr>
            <p:ph type="title"/>
          </p:nvPr>
        </p:nvSpPr>
        <p:spPr>
          <a:xfrm>
            <a:off x="73025" y="-50596"/>
            <a:ext cx="3888104" cy="69596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41783" y="6629792"/>
            <a:ext cx="54483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a:xfrm>
            <a:off x="1123125" y="6629792"/>
            <a:ext cx="4962525"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a:xfrm>
            <a:off x="11858823" y="6629309"/>
            <a:ext cx="228600" cy="250825"/>
          </a:xfrm>
          <a:prstGeom prst="rect">
            <a:avLst/>
          </a:prstGeom>
        </p:spPr>
        <p:txBody>
          <a:bodyPr wrap="square" lIns="0" tIns="0" rIns="0" bIns="0">
            <a:spAutoFit/>
          </a:bodyPr>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77238" y="6634572"/>
            <a:ext cx="11414760" cy="223520"/>
            <a:chOff x="777238" y="6634572"/>
            <a:chExt cx="11414760" cy="223520"/>
          </a:xfrm>
        </p:grpSpPr>
        <p:sp>
          <p:nvSpPr>
            <p:cNvPr id="3" name="object 3"/>
            <p:cNvSpPr/>
            <p:nvPr/>
          </p:nvSpPr>
          <p:spPr>
            <a:xfrm>
              <a:off x="777238" y="6634572"/>
              <a:ext cx="5782310" cy="220979"/>
            </a:xfrm>
            <a:custGeom>
              <a:avLst/>
              <a:gdLst/>
              <a:ahLst/>
              <a:cxnLst/>
              <a:rect l="l" t="t" r="r" b="b"/>
              <a:pathLst>
                <a:path w="5782309" h="220979">
                  <a:moveTo>
                    <a:pt x="5781821" y="220979"/>
                  </a:moveTo>
                  <a:lnTo>
                    <a:pt x="0" y="220979"/>
                  </a:lnTo>
                  <a:lnTo>
                    <a:pt x="0" y="0"/>
                  </a:lnTo>
                  <a:lnTo>
                    <a:pt x="5781821" y="0"/>
                  </a:lnTo>
                  <a:lnTo>
                    <a:pt x="5781821" y="220979"/>
                  </a:lnTo>
                  <a:close/>
                </a:path>
              </a:pathLst>
            </a:custGeom>
            <a:solidFill>
              <a:srgbClr val="002060"/>
            </a:solidFill>
          </p:spPr>
          <p:txBody>
            <a:bodyPr wrap="square" lIns="0" tIns="0" rIns="0" bIns="0" rtlCol="0"/>
            <a:lstStyle/>
            <a:p>
              <a:endParaRPr/>
            </a:p>
          </p:txBody>
        </p:sp>
        <p:sp>
          <p:nvSpPr>
            <p:cNvPr id="4" name="object 4"/>
            <p:cNvSpPr/>
            <p:nvPr/>
          </p:nvSpPr>
          <p:spPr>
            <a:xfrm>
              <a:off x="6559061" y="6634572"/>
              <a:ext cx="5195570" cy="220979"/>
            </a:xfrm>
            <a:custGeom>
              <a:avLst/>
              <a:gdLst/>
              <a:ahLst/>
              <a:cxnLst/>
              <a:rect l="l" t="t" r="r" b="b"/>
              <a:pathLst>
                <a:path w="5195570" h="220979">
                  <a:moveTo>
                    <a:pt x="5195133" y="220979"/>
                  </a:moveTo>
                  <a:lnTo>
                    <a:pt x="0" y="220979"/>
                  </a:lnTo>
                  <a:lnTo>
                    <a:pt x="0" y="0"/>
                  </a:lnTo>
                  <a:lnTo>
                    <a:pt x="5195133" y="0"/>
                  </a:lnTo>
                  <a:lnTo>
                    <a:pt x="5195133" y="220979"/>
                  </a:lnTo>
                  <a:close/>
                </a:path>
              </a:pathLst>
            </a:custGeom>
            <a:solidFill>
              <a:srgbClr val="008080"/>
            </a:solidFill>
          </p:spPr>
          <p:txBody>
            <a:bodyPr wrap="square" lIns="0" tIns="0" rIns="0" bIns="0" rtlCol="0"/>
            <a:lstStyle/>
            <a:p>
              <a:endParaRPr/>
            </a:p>
          </p:txBody>
        </p:sp>
        <p:sp>
          <p:nvSpPr>
            <p:cNvPr id="5" name="object 5"/>
            <p:cNvSpPr/>
            <p:nvPr/>
          </p:nvSpPr>
          <p:spPr>
            <a:xfrm>
              <a:off x="11754196" y="6637020"/>
              <a:ext cx="438150" cy="220979"/>
            </a:xfrm>
            <a:custGeom>
              <a:avLst/>
              <a:gdLst/>
              <a:ahLst/>
              <a:cxnLst/>
              <a:rect l="l" t="t" r="r" b="b"/>
              <a:pathLst>
                <a:path w="438150" h="220979">
                  <a:moveTo>
                    <a:pt x="437803" y="220979"/>
                  </a:moveTo>
                  <a:lnTo>
                    <a:pt x="0" y="220979"/>
                  </a:lnTo>
                  <a:lnTo>
                    <a:pt x="0" y="0"/>
                  </a:lnTo>
                  <a:lnTo>
                    <a:pt x="437803" y="0"/>
                  </a:lnTo>
                  <a:lnTo>
                    <a:pt x="437803" y="220979"/>
                  </a:lnTo>
                  <a:close/>
                </a:path>
              </a:pathLst>
            </a:custGeom>
            <a:solidFill>
              <a:srgbClr val="FFC000"/>
            </a:solidFill>
          </p:spPr>
          <p:txBody>
            <a:bodyPr wrap="square" lIns="0" tIns="0" rIns="0" bIns="0" rtlCol="0"/>
            <a:lstStyle/>
            <a:p>
              <a:endParaRPr/>
            </a:p>
          </p:txBody>
        </p:sp>
      </p:grpSp>
      <p:sp>
        <p:nvSpPr>
          <p:cNvPr id="6" name="object 6"/>
          <p:cNvSpPr/>
          <p:nvPr/>
        </p:nvSpPr>
        <p:spPr>
          <a:xfrm>
            <a:off x="35564" y="-12787"/>
            <a:ext cx="12192000" cy="308246"/>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pPr algn="ctr"/>
            <a:r>
              <a:rPr lang="en-US" dirty="0">
                <a:solidFill>
                  <a:schemeClr val="bg1"/>
                </a:solidFill>
              </a:rPr>
              <a:t>Smart Fertilizer Spraying System Using Plant Disease Severity Analysis</a:t>
            </a:r>
            <a:endParaRPr dirty="0">
              <a:solidFill>
                <a:schemeClr val="bg1"/>
              </a:solidFill>
            </a:endParaRPr>
          </a:p>
        </p:txBody>
      </p:sp>
      <p:sp>
        <p:nvSpPr>
          <p:cNvPr id="7" name="object 7"/>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algn="ctr"/>
            <a:r>
              <a:rPr lang="en-US" dirty="0">
                <a:solidFill>
                  <a:schemeClr val="bg1"/>
                </a:solidFill>
              </a:rPr>
              <a:t>B-10</a:t>
            </a:r>
            <a:endParaRPr dirty="0">
              <a:solidFill>
                <a:schemeClr val="bg1"/>
              </a:solidFill>
            </a:endParaRPr>
          </a:p>
        </p:txBody>
      </p:sp>
      <p:sp>
        <p:nvSpPr>
          <p:cNvPr id="8" name="object 8"/>
          <p:cNvSpPr txBox="1"/>
          <p:nvPr/>
        </p:nvSpPr>
        <p:spPr>
          <a:xfrm>
            <a:off x="8821037" y="1686288"/>
            <a:ext cx="1990725" cy="564515"/>
          </a:xfrm>
          <a:prstGeom prst="rect">
            <a:avLst/>
          </a:prstGeom>
        </p:spPr>
        <p:txBody>
          <a:bodyPr vert="horz" wrap="square" lIns="0" tIns="13335" rIns="0" bIns="0" rtlCol="0">
            <a:spAutoFit/>
          </a:bodyPr>
          <a:lstStyle/>
          <a:p>
            <a:pPr algn="ctr">
              <a:lnSpc>
                <a:spcPct val="100000"/>
              </a:lnSpc>
              <a:spcBef>
                <a:spcPts val="105"/>
              </a:spcBef>
            </a:pPr>
            <a:r>
              <a:rPr lang="en-IN" sz="2400" dirty="0">
                <a:latin typeface="Times New Roman"/>
                <a:cs typeface="Times New Roman"/>
              </a:rPr>
              <a:t>Y Sravani</a:t>
            </a:r>
            <a:endParaRPr sz="2400" dirty="0">
              <a:latin typeface="Times New Roman"/>
              <a:cs typeface="Times New Roman"/>
            </a:endParaRPr>
          </a:p>
          <a:p>
            <a:pPr marL="1905" algn="ctr">
              <a:lnSpc>
                <a:spcPct val="100000"/>
              </a:lnSpc>
              <a:spcBef>
                <a:spcPts val="35"/>
              </a:spcBef>
            </a:pPr>
            <a:r>
              <a:rPr sz="1100" dirty="0">
                <a:latin typeface="Times New Roman"/>
                <a:cs typeface="Times New Roman"/>
              </a:rPr>
              <a:t>Roll No. </a:t>
            </a:r>
            <a:r>
              <a:rPr sz="1100" spc="-10" dirty="0">
                <a:latin typeface="Times New Roman"/>
                <a:cs typeface="Times New Roman"/>
              </a:rPr>
              <a:t>2</a:t>
            </a:r>
            <a:r>
              <a:rPr lang="en-IN" sz="1100" spc="-10" dirty="0">
                <a:latin typeface="Times New Roman"/>
                <a:cs typeface="Times New Roman"/>
              </a:rPr>
              <a:t>24G1A33A4</a:t>
            </a:r>
            <a:endParaRPr sz="1100" dirty="0">
              <a:latin typeface="Times New Roman"/>
              <a:cs typeface="Times New Roman"/>
            </a:endParaRPr>
          </a:p>
        </p:txBody>
      </p:sp>
      <p:sp>
        <p:nvSpPr>
          <p:cNvPr id="9" name="object 9"/>
          <p:cNvSpPr txBox="1"/>
          <p:nvPr/>
        </p:nvSpPr>
        <p:spPr>
          <a:xfrm>
            <a:off x="2362200" y="2512042"/>
            <a:ext cx="6629400" cy="744435"/>
          </a:xfrm>
          <a:prstGeom prst="rect">
            <a:avLst/>
          </a:prstGeom>
        </p:spPr>
        <p:txBody>
          <a:bodyPr vert="horz" wrap="square" lIns="0" tIns="71755" rIns="0" bIns="0" rtlCol="0">
            <a:spAutoFit/>
          </a:bodyPr>
          <a:lstStyle/>
          <a:p>
            <a:pPr>
              <a:spcBef>
                <a:spcPts val="300"/>
              </a:spcBef>
            </a:pPr>
            <a:r>
              <a:rPr lang="en-US" sz="1400" b="0" i="1" dirty="0"/>
              <a:t>                              		Under the guidance of</a:t>
            </a:r>
          </a:p>
          <a:p>
            <a:pPr algn="ctr">
              <a:spcBef>
                <a:spcPts val="200"/>
              </a:spcBef>
            </a:pPr>
            <a:r>
              <a:rPr lang="en-US" sz="2400" b="0" dirty="0">
                <a:effectLst>
                  <a:outerShdw blurRad="38100" dist="38100" dir="2700000" algn="tl">
                    <a:srgbClr val="000000">
                      <a:alpha val="43137"/>
                    </a:srgbClr>
                  </a:outerShdw>
                </a:effectLst>
              </a:rPr>
              <a:t>          </a:t>
            </a:r>
            <a:r>
              <a:rPr lang="en-US" sz="1600" b="0" dirty="0">
                <a:effectLst>
                  <a:outerShdw blurRad="38100" dist="38100" dir="2700000" algn="tl">
                    <a:srgbClr val="000000">
                      <a:alpha val="43137"/>
                    </a:srgbClr>
                  </a:outerShdw>
                </a:effectLst>
              </a:rPr>
              <a:t> </a:t>
            </a:r>
            <a:r>
              <a:rPr lang="en-US" sz="2800" dirty="0"/>
              <a:t>Dr. C. Sasikala </a:t>
            </a:r>
            <a:r>
              <a:rPr lang="en-US" sz="1600" dirty="0" err="1"/>
              <a:t>M.Tech</a:t>
            </a:r>
            <a:r>
              <a:rPr lang="en-US" sz="1600" dirty="0"/>
              <a:t>., Ph.D.  </a:t>
            </a:r>
            <a:endParaRPr lang="en-IN" sz="1600" b="0" baseline="-25000" dirty="0">
              <a:effectLst>
                <a:outerShdw blurRad="38100" dist="38100" dir="2700000" algn="tl">
                  <a:srgbClr val="000000">
                    <a:alpha val="43137"/>
                  </a:srgbClr>
                </a:outerShdw>
              </a:effectLst>
            </a:endParaRPr>
          </a:p>
        </p:txBody>
      </p:sp>
      <p:sp>
        <p:nvSpPr>
          <p:cNvPr id="11" name="object 11"/>
          <p:cNvSpPr txBox="1"/>
          <p:nvPr/>
        </p:nvSpPr>
        <p:spPr>
          <a:xfrm>
            <a:off x="2709823" y="5109203"/>
            <a:ext cx="6767195" cy="1220470"/>
          </a:xfrm>
          <a:prstGeom prst="rect">
            <a:avLst/>
          </a:prstGeom>
        </p:spPr>
        <p:txBody>
          <a:bodyPr vert="horz" wrap="square" lIns="0" tIns="17780" rIns="0" bIns="0" rtlCol="0">
            <a:spAutoFit/>
          </a:bodyPr>
          <a:lstStyle/>
          <a:p>
            <a:pPr marL="4445" algn="ctr">
              <a:lnSpc>
                <a:spcPts val="1975"/>
              </a:lnSpc>
              <a:spcBef>
                <a:spcPts val="140"/>
              </a:spcBef>
            </a:pPr>
            <a:r>
              <a:rPr sz="1850" dirty="0">
                <a:latin typeface="Times New Roman"/>
                <a:cs typeface="Times New Roman"/>
              </a:rPr>
              <a:t>Department</a:t>
            </a:r>
            <a:r>
              <a:rPr sz="1850" spc="85" dirty="0">
                <a:latin typeface="Times New Roman"/>
                <a:cs typeface="Times New Roman"/>
              </a:rPr>
              <a:t> </a:t>
            </a:r>
            <a:r>
              <a:rPr sz="1850" dirty="0">
                <a:latin typeface="Times New Roman"/>
                <a:cs typeface="Times New Roman"/>
              </a:rPr>
              <a:t>of</a:t>
            </a:r>
            <a:r>
              <a:rPr sz="1850" spc="90" dirty="0">
                <a:latin typeface="Times New Roman"/>
                <a:cs typeface="Times New Roman"/>
              </a:rPr>
              <a:t> </a:t>
            </a:r>
            <a:r>
              <a:rPr sz="1850" dirty="0">
                <a:latin typeface="Times New Roman"/>
                <a:cs typeface="Times New Roman"/>
              </a:rPr>
              <a:t>Computer</a:t>
            </a:r>
            <a:r>
              <a:rPr sz="1850" spc="90" dirty="0">
                <a:latin typeface="Times New Roman"/>
                <a:cs typeface="Times New Roman"/>
              </a:rPr>
              <a:t> </a:t>
            </a:r>
            <a:r>
              <a:rPr sz="1850" dirty="0">
                <a:latin typeface="Times New Roman"/>
                <a:cs typeface="Times New Roman"/>
              </a:rPr>
              <a:t>Science</a:t>
            </a:r>
            <a:r>
              <a:rPr sz="1850" spc="85" dirty="0">
                <a:latin typeface="Times New Roman"/>
                <a:cs typeface="Times New Roman"/>
              </a:rPr>
              <a:t> </a:t>
            </a:r>
            <a:r>
              <a:rPr sz="1850" dirty="0">
                <a:latin typeface="Times New Roman"/>
                <a:cs typeface="Times New Roman"/>
              </a:rPr>
              <a:t>and</a:t>
            </a:r>
            <a:r>
              <a:rPr sz="1850" spc="95" dirty="0">
                <a:latin typeface="Times New Roman"/>
                <a:cs typeface="Times New Roman"/>
              </a:rPr>
              <a:t> </a:t>
            </a:r>
            <a:r>
              <a:rPr sz="1850" dirty="0">
                <a:latin typeface="Times New Roman"/>
                <a:cs typeface="Times New Roman"/>
              </a:rPr>
              <a:t>Engineering</a:t>
            </a:r>
            <a:r>
              <a:rPr sz="1850" spc="90" dirty="0">
                <a:latin typeface="Times New Roman"/>
                <a:cs typeface="Times New Roman"/>
              </a:rPr>
              <a:t> </a:t>
            </a:r>
            <a:r>
              <a:rPr sz="1850" dirty="0">
                <a:latin typeface="Times New Roman"/>
                <a:cs typeface="Times New Roman"/>
              </a:rPr>
              <a:t>(AI</a:t>
            </a:r>
            <a:r>
              <a:rPr sz="1850" spc="90" dirty="0">
                <a:latin typeface="Times New Roman"/>
                <a:cs typeface="Times New Roman"/>
              </a:rPr>
              <a:t> </a:t>
            </a:r>
            <a:r>
              <a:rPr sz="1850" dirty="0">
                <a:latin typeface="Times New Roman"/>
                <a:cs typeface="Times New Roman"/>
              </a:rPr>
              <a:t>&amp;</a:t>
            </a:r>
            <a:r>
              <a:rPr sz="1850" spc="90" dirty="0">
                <a:latin typeface="Times New Roman"/>
                <a:cs typeface="Times New Roman"/>
              </a:rPr>
              <a:t> </a:t>
            </a:r>
            <a:r>
              <a:rPr sz="1850" spc="-25" dirty="0">
                <a:latin typeface="Times New Roman"/>
                <a:cs typeface="Times New Roman"/>
              </a:rPr>
              <a:t>ML)</a:t>
            </a:r>
            <a:endParaRPr sz="1850" dirty="0">
              <a:latin typeface="Times New Roman"/>
              <a:cs typeface="Times New Roman"/>
            </a:endParaRPr>
          </a:p>
          <a:p>
            <a:pPr algn="ctr">
              <a:lnSpc>
                <a:spcPts val="3185"/>
              </a:lnSpc>
            </a:pPr>
            <a:r>
              <a:rPr sz="2900" dirty="0">
                <a:solidFill>
                  <a:srgbClr val="FF0000"/>
                </a:solidFill>
                <a:latin typeface="Times New Roman"/>
                <a:cs typeface="Times New Roman"/>
              </a:rPr>
              <a:t>Srinivasa</a:t>
            </a:r>
            <a:r>
              <a:rPr sz="2900" spc="30" dirty="0">
                <a:solidFill>
                  <a:srgbClr val="FF0000"/>
                </a:solidFill>
                <a:latin typeface="Times New Roman"/>
                <a:cs typeface="Times New Roman"/>
              </a:rPr>
              <a:t> </a:t>
            </a:r>
            <a:r>
              <a:rPr sz="2900" dirty="0">
                <a:solidFill>
                  <a:srgbClr val="FF0000"/>
                </a:solidFill>
                <a:latin typeface="Times New Roman"/>
                <a:cs typeface="Times New Roman"/>
              </a:rPr>
              <a:t>Ramanujan</a:t>
            </a:r>
            <a:r>
              <a:rPr sz="2900" spc="35" dirty="0">
                <a:solidFill>
                  <a:srgbClr val="FF0000"/>
                </a:solidFill>
                <a:latin typeface="Times New Roman"/>
                <a:cs typeface="Times New Roman"/>
              </a:rPr>
              <a:t> </a:t>
            </a:r>
            <a:r>
              <a:rPr sz="2900" dirty="0">
                <a:solidFill>
                  <a:srgbClr val="FF0000"/>
                </a:solidFill>
                <a:latin typeface="Times New Roman"/>
                <a:cs typeface="Times New Roman"/>
              </a:rPr>
              <a:t>Institute</a:t>
            </a:r>
            <a:r>
              <a:rPr sz="2900" spc="30" dirty="0">
                <a:solidFill>
                  <a:srgbClr val="FF0000"/>
                </a:solidFill>
                <a:latin typeface="Times New Roman"/>
                <a:cs typeface="Times New Roman"/>
              </a:rPr>
              <a:t> </a:t>
            </a:r>
            <a:r>
              <a:rPr sz="2900" dirty="0">
                <a:solidFill>
                  <a:srgbClr val="FF0000"/>
                </a:solidFill>
                <a:latin typeface="Times New Roman"/>
                <a:cs typeface="Times New Roman"/>
              </a:rPr>
              <a:t>of</a:t>
            </a:r>
            <a:r>
              <a:rPr sz="2900" spc="35" dirty="0">
                <a:solidFill>
                  <a:srgbClr val="FF0000"/>
                </a:solidFill>
                <a:latin typeface="Times New Roman"/>
                <a:cs typeface="Times New Roman"/>
              </a:rPr>
              <a:t> </a:t>
            </a:r>
            <a:r>
              <a:rPr sz="2900" spc="-10" dirty="0">
                <a:solidFill>
                  <a:srgbClr val="FF0000"/>
                </a:solidFill>
                <a:latin typeface="Times New Roman"/>
                <a:cs typeface="Times New Roman"/>
              </a:rPr>
              <a:t>Technology</a:t>
            </a:r>
            <a:endParaRPr sz="2900" dirty="0">
              <a:latin typeface="Times New Roman"/>
              <a:cs typeface="Times New Roman"/>
            </a:endParaRPr>
          </a:p>
          <a:p>
            <a:pPr marL="6985" algn="ctr">
              <a:lnSpc>
                <a:spcPts val="1070"/>
              </a:lnSpc>
            </a:pPr>
            <a:r>
              <a:rPr sz="950" b="1" spc="-10" dirty="0">
                <a:latin typeface="Times New Roman"/>
                <a:cs typeface="Times New Roman"/>
              </a:rPr>
              <a:t>(Affiliated</a:t>
            </a:r>
            <a:r>
              <a:rPr sz="950" b="1" spc="-25" dirty="0">
                <a:latin typeface="Times New Roman"/>
                <a:cs typeface="Times New Roman"/>
              </a:rPr>
              <a:t> </a:t>
            </a:r>
            <a:r>
              <a:rPr sz="950" b="1" dirty="0">
                <a:latin typeface="Times New Roman"/>
                <a:cs typeface="Times New Roman"/>
              </a:rPr>
              <a:t>to</a:t>
            </a:r>
            <a:r>
              <a:rPr sz="950" b="1" spc="-20" dirty="0">
                <a:latin typeface="Times New Roman"/>
                <a:cs typeface="Times New Roman"/>
              </a:rPr>
              <a:t> </a:t>
            </a:r>
            <a:r>
              <a:rPr sz="950" b="1" dirty="0">
                <a:latin typeface="Times New Roman"/>
                <a:cs typeface="Times New Roman"/>
              </a:rPr>
              <a:t>JNTUA</a:t>
            </a:r>
            <a:r>
              <a:rPr sz="950" b="1" spc="-20" dirty="0">
                <a:latin typeface="Times New Roman"/>
                <a:cs typeface="Times New Roman"/>
              </a:rPr>
              <a:t> </a:t>
            </a:r>
            <a:r>
              <a:rPr sz="950" b="1" dirty="0">
                <a:latin typeface="Times New Roman"/>
                <a:cs typeface="Times New Roman"/>
              </a:rPr>
              <a:t>&amp;</a:t>
            </a:r>
            <a:r>
              <a:rPr sz="950" b="1" spc="-20" dirty="0">
                <a:latin typeface="Times New Roman"/>
                <a:cs typeface="Times New Roman"/>
              </a:rPr>
              <a:t> </a:t>
            </a:r>
            <a:r>
              <a:rPr sz="950" b="1" spc="-10" dirty="0">
                <a:latin typeface="Times New Roman"/>
                <a:cs typeface="Times New Roman"/>
              </a:rPr>
              <a:t>Approved</a:t>
            </a:r>
            <a:r>
              <a:rPr sz="950" b="1" spc="-20" dirty="0">
                <a:latin typeface="Times New Roman"/>
                <a:cs typeface="Times New Roman"/>
              </a:rPr>
              <a:t> </a:t>
            </a:r>
            <a:r>
              <a:rPr sz="950" b="1" dirty="0">
                <a:latin typeface="Times New Roman"/>
                <a:cs typeface="Times New Roman"/>
              </a:rPr>
              <a:t>by</a:t>
            </a:r>
            <a:r>
              <a:rPr sz="950" b="1" spc="-25" dirty="0">
                <a:latin typeface="Times New Roman"/>
                <a:cs typeface="Times New Roman"/>
              </a:rPr>
              <a:t> </a:t>
            </a:r>
            <a:r>
              <a:rPr sz="950" b="1" dirty="0">
                <a:latin typeface="Times New Roman"/>
                <a:cs typeface="Times New Roman"/>
              </a:rPr>
              <a:t>AICTE)</a:t>
            </a:r>
            <a:r>
              <a:rPr sz="950" b="1" spc="-20" dirty="0">
                <a:latin typeface="Times New Roman"/>
                <a:cs typeface="Times New Roman"/>
              </a:rPr>
              <a:t> </a:t>
            </a:r>
            <a:r>
              <a:rPr sz="950" b="1" spc="-10" dirty="0">
                <a:latin typeface="Times New Roman"/>
                <a:cs typeface="Times New Roman"/>
              </a:rPr>
              <a:t>(Accredited</a:t>
            </a:r>
            <a:r>
              <a:rPr sz="950" b="1" spc="-20" dirty="0">
                <a:latin typeface="Times New Roman"/>
                <a:cs typeface="Times New Roman"/>
              </a:rPr>
              <a:t> </a:t>
            </a:r>
            <a:r>
              <a:rPr sz="950" b="1" dirty="0">
                <a:latin typeface="Times New Roman"/>
                <a:cs typeface="Times New Roman"/>
              </a:rPr>
              <a:t>by</a:t>
            </a:r>
            <a:r>
              <a:rPr sz="950" b="1" spc="-20" dirty="0">
                <a:latin typeface="Times New Roman"/>
                <a:cs typeface="Times New Roman"/>
              </a:rPr>
              <a:t> </a:t>
            </a:r>
            <a:r>
              <a:rPr sz="950" b="1" dirty="0">
                <a:latin typeface="Times New Roman"/>
                <a:cs typeface="Times New Roman"/>
              </a:rPr>
              <a:t>NAAC</a:t>
            </a:r>
            <a:r>
              <a:rPr sz="950" b="1" spc="-20" dirty="0">
                <a:latin typeface="Times New Roman"/>
                <a:cs typeface="Times New Roman"/>
              </a:rPr>
              <a:t> </a:t>
            </a:r>
            <a:r>
              <a:rPr sz="950" b="1" dirty="0">
                <a:latin typeface="Times New Roman"/>
                <a:cs typeface="Times New Roman"/>
              </a:rPr>
              <a:t>with</a:t>
            </a:r>
            <a:r>
              <a:rPr sz="950" b="1" spc="-25" dirty="0">
                <a:latin typeface="Times New Roman"/>
                <a:cs typeface="Times New Roman"/>
              </a:rPr>
              <a:t> </a:t>
            </a:r>
            <a:r>
              <a:rPr sz="950" b="1" dirty="0">
                <a:latin typeface="Times New Roman"/>
                <a:cs typeface="Times New Roman"/>
              </a:rPr>
              <a:t>‘A’</a:t>
            </a:r>
            <a:r>
              <a:rPr sz="950" b="1" spc="-20" dirty="0">
                <a:latin typeface="Times New Roman"/>
                <a:cs typeface="Times New Roman"/>
              </a:rPr>
              <a:t> </a:t>
            </a:r>
            <a:r>
              <a:rPr sz="950" b="1" dirty="0">
                <a:latin typeface="Times New Roman"/>
                <a:cs typeface="Times New Roman"/>
              </a:rPr>
              <a:t>Grade</a:t>
            </a:r>
            <a:r>
              <a:rPr sz="950" b="1" spc="-20" dirty="0">
                <a:latin typeface="Times New Roman"/>
                <a:cs typeface="Times New Roman"/>
              </a:rPr>
              <a:t> </a:t>
            </a:r>
            <a:r>
              <a:rPr sz="950" b="1" dirty="0">
                <a:latin typeface="Times New Roman"/>
                <a:cs typeface="Times New Roman"/>
              </a:rPr>
              <a:t>&amp;</a:t>
            </a:r>
            <a:r>
              <a:rPr sz="950" b="1" spc="-20" dirty="0">
                <a:latin typeface="Times New Roman"/>
                <a:cs typeface="Times New Roman"/>
              </a:rPr>
              <a:t> </a:t>
            </a:r>
            <a:r>
              <a:rPr sz="950" b="1" spc="-10" dirty="0">
                <a:latin typeface="Times New Roman"/>
                <a:cs typeface="Times New Roman"/>
              </a:rPr>
              <a:t>Accredited</a:t>
            </a:r>
            <a:r>
              <a:rPr sz="950" b="1" spc="-20" dirty="0">
                <a:latin typeface="Times New Roman"/>
                <a:cs typeface="Times New Roman"/>
              </a:rPr>
              <a:t> </a:t>
            </a:r>
            <a:r>
              <a:rPr sz="950" b="1" dirty="0">
                <a:latin typeface="Times New Roman"/>
                <a:cs typeface="Times New Roman"/>
              </a:rPr>
              <a:t>by</a:t>
            </a:r>
            <a:r>
              <a:rPr sz="950" b="1" spc="-25" dirty="0">
                <a:latin typeface="Times New Roman"/>
                <a:cs typeface="Times New Roman"/>
              </a:rPr>
              <a:t> </a:t>
            </a:r>
            <a:r>
              <a:rPr sz="950" b="1" dirty="0">
                <a:latin typeface="Times New Roman"/>
                <a:cs typeface="Times New Roman"/>
              </a:rPr>
              <a:t>NBA</a:t>
            </a:r>
            <a:r>
              <a:rPr sz="950" b="1" spc="-20" dirty="0">
                <a:latin typeface="Times New Roman"/>
                <a:cs typeface="Times New Roman"/>
              </a:rPr>
              <a:t> </a:t>
            </a:r>
            <a:r>
              <a:rPr sz="950" b="1" dirty="0">
                <a:latin typeface="Times New Roman"/>
                <a:cs typeface="Times New Roman"/>
              </a:rPr>
              <a:t>(EEE,</a:t>
            </a:r>
            <a:r>
              <a:rPr sz="950" b="1" spc="-20" dirty="0">
                <a:latin typeface="Times New Roman"/>
                <a:cs typeface="Times New Roman"/>
              </a:rPr>
              <a:t> </a:t>
            </a:r>
            <a:r>
              <a:rPr sz="950" b="1" dirty="0">
                <a:latin typeface="Times New Roman"/>
                <a:cs typeface="Times New Roman"/>
              </a:rPr>
              <a:t>ECE</a:t>
            </a:r>
            <a:r>
              <a:rPr sz="950" b="1" spc="-20" dirty="0">
                <a:latin typeface="Times New Roman"/>
                <a:cs typeface="Times New Roman"/>
              </a:rPr>
              <a:t> </a:t>
            </a:r>
            <a:r>
              <a:rPr sz="950" b="1" dirty="0">
                <a:latin typeface="Times New Roman"/>
                <a:cs typeface="Times New Roman"/>
              </a:rPr>
              <a:t>&amp;</a:t>
            </a:r>
            <a:r>
              <a:rPr sz="950" b="1" spc="-20" dirty="0">
                <a:latin typeface="Times New Roman"/>
                <a:cs typeface="Times New Roman"/>
              </a:rPr>
              <a:t> CSE)</a:t>
            </a:r>
            <a:endParaRPr sz="950" dirty="0">
              <a:latin typeface="Times New Roman"/>
              <a:cs typeface="Times New Roman"/>
            </a:endParaRPr>
          </a:p>
          <a:p>
            <a:pPr marL="5715" algn="ctr">
              <a:lnSpc>
                <a:spcPts val="1180"/>
              </a:lnSpc>
            </a:pPr>
            <a:r>
              <a:rPr sz="1000" b="1" dirty="0">
                <a:latin typeface="Times New Roman"/>
                <a:cs typeface="Times New Roman"/>
              </a:rPr>
              <a:t>Rotarypuram</a:t>
            </a:r>
            <a:r>
              <a:rPr sz="1000" b="1" spc="95" dirty="0">
                <a:latin typeface="Times New Roman"/>
                <a:cs typeface="Times New Roman"/>
              </a:rPr>
              <a:t> </a:t>
            </a:r>
            <a:r>
              <a:rPr sz="1000" b="1" dirty="0">
                <a:latin typeface="Times New Roman"/>
                <a:cs typeface="Times New Roman"/>
              </a:rPr>
              <a:t>Village,</a:t>
            </a:r>
            <a:r>
              <a:rPr sz="1000" b="1" spc="100" dirty="0">
                <a:latin typeface="Times New Roman"/>
                <a:cs typeface="Times New Roman"/>
              </a:rPr>
              <a:t> </a:t>
            </a:r>
            <a:r>
              <a:rPr sz="1000" b="1" dirty="0">
                <a:latin typeface="Times New Roman"/>
                <a:cs typeface="Times New Roman"/>
              </a:rPr>
              <a:t>B</a:t>
            </a:r>
            <a:r>
              <a:rPr sz="1000" b="1" spc="95" dirty="0">
                <a:latin typeface="Times New Roman"/>
                <a:cs typeface="Times New Roman"/>
              </a:rPr>
              <a:t> </a:t>
            </a:r>
            <a:r>
              <a:rPr sz="1000" b="1" dirty="0">
                <a:latin typeface="Times New Roman"/>
                <a:cs typeface="Times New Roman"/>
              </a:rPr>
              <a:t>K</a:t>
            </a:r>
            <a:r>
              <a:rPr sz="1000" b="1" spc="100" dirty="0">
                <a:latin typeface="Times New Roman"/>
                <a:cs typeface="Times New Roman"/>
              </a:rPr>
              <a:t> </a:t>
            </a:r>
            <a:r>
              <a:rPr sz="1000" b="1" dirty="0">
                <a:latin typeface="Times New Roman"/>
                <a:cs typeface="Times New Roman"/>
              </a:rPr>
              <a:t>Samudram</a:t>
            </a:r>
            <a:r>
              <a:rPr sz="1000" b="1" spc="100" dirty="0">
                <a:latin typeface="Times New Roman"/>
                <a:cs typeface="Times New Roman"/>
              </a:rPr>
              <a:t> </a:t>
            </a:r>
            <a:r>
              <a:rPr sz="1000" b="1" dirty="0">
                <a:latin typeface="Times New Roman"/>
                <a:cs typeface="Times New Roman"/>
              </a:rPr>
              <a:t>Mandal,</a:t>
            </a:r>
            <a:r>
              <a:rPr sz="1000" b="1" spc="95" dirty="0">
                <a:latin typeface="Times New Roman"/>
                <a:cs typeface="Times New Roman"/>
              </a:rPr>
              <a:t> </a:t>
            </a:r>
            <a:r>
              <a:rPr sz="1000" b="1" dirty="0">
                <a:latin typeface="Times New Roman"/>
                <a:cs typeface="Times New Roman"/>
              </a:rPr>
              <a:t>Ananthapuramu</a:t>
            </a:r>
            <a:r>
              <a:rPr sz="1000" b="1" spc="100" dirty="0">
                <a:latin typeface="Times New Roman"/>
                <a:cs typeface="Times New Roman"/>
              </a:rPr>
              <a:t> </a:t>
            </a:r>
            <a:r>
              <a:rPr sz="1000" b="1" dirty="0">
                <a:latin typeface="Times New Roman"/>
                <a:cs typeface="Times New Roman"/>
              </a:rPr>
              <a:t>–</a:t>
            </a:r>
            <a:r>
              <a:rPr sz="1000" b="1" spc="95" dirty="0">
                <a:latin typeface="Times New Roman"/>
                <a:cs typeface="Times New Roman"/>
              </a:rPr>
              <a:t> </a:t>
            </a:r>
            <a:r>
              <a:rPr sz="1000" b="1" spc="-10" dirty="0">
                <a:latin typeface="Times New Roman"/>
                <a:cs typeface="Times New Roman"/>
              </a:rPr>
              <a:t>515701.</a:t>
            </a:r>
            <a:endParaRPr sz="1000" dirty="0">
              <a:latin typeface="Times New Roman"/>
              <a:cs typeface="Times New Roman"/>
            </a:endParaRPr>
          </a:p>
          <a:p>
            <a:pPr marL="5080" algn="ctr">
              <a:lnSpc>
                <a:spcPct val="100000"/>
              </a:lnSpc>
              <a:spcBef>
                <a:spcPts val="630"/>
              </a:spcBef>
            </a:pPr>
            <a:r>
              <a:rPr sz="1100" b="1" dirty="0">
                <a:solidFill>
                  <a:srgbClr val="1E4E78"/>
                </a:solidFill>
                <a:latin typeface="Times New Roman"/>
                <a:cs typeface="Times New Roman"/>
              </a:rPr>
              <a:t>202</a:t>
            </a:r>
            <a:r>
              <a:rPr lang="en-IN" sz="1100" b="1" dirty="0">
                <a:solidFill>
                  <a:srgbClr val="1E4E78"/>
                </a:solidFill>
                <a:latin typeface="Times New Roman"/>
                <a:cs typeface="Times New Roman"/>
              </a:rPr>
              <a:t>5</a:t>
            </a:r>
            <a:r>
              <a:rPr sz="1100" b="1" spc="30" dirty="0">
                <a:solidFill>
                  <a:srgbClr val="1E4E78"/>
                </a:solidFill>
                <a:latin typeface="Times New Roman"/>
                <a:cs typeface="Times New Roman"/>
              </a:rPr>
              <a:t> </a:t>
            </a:r>
            <a:r>
              <a:rPr sz="1100" b="1" dirty="0">
                <a:solidFill>
                  <a:srgbClr val="1E4E78"/>
                </a:solidFill>
                <a:latin typeface="Times New Roman"/>
                <a:cs typeface="Times New Roman"/>
              </a:rPr>
              <a:t>-</a:t>
            </a:r>
            <a:r>
              <a:rPr sz="1100" b="1" spc="30" dirty="0">
                <a:solidFill>
                  <a:srgbClr val="1E4E78"/>
                </a:solidFill>
                <a:latin typeface="Times New Roman"/>
                <a:cs typeface="Times New Roman"/>
              </a:rPr>
              <a:t> </a:t>
            </a:r>
            <a:r>
              <a:rPr sz="1100" b="1" spc="-20" dirty="0">
                <a:solidFill>
                  <a:srgbClr val="1E4E78"/>
                </a:solidFill>
                <a:latin typeface="Times New Roman"/>
                <a:cs typeface="Times New Roman"/>
              </a:rPr>
              <a:t>202</a:t>
            </a:r>
            <a:r>
              <a:rPr lang="en-IN" sz="1100" b="1" spc="-20" dirty="0">
                <a:solidFill>
                  <a:srgbClr val="1E4E78"/>
                </a:solidFill>
                <a:latin typeface="Times New Roman"/>
                <a:cs typeface="Times New Roman"/>
              </a:rPr>
              <a:t>6</a:t>
            </a:r>
            <a:endParaRPr sz="1100" dirty="0">
              <a:latin typeface="Times New Roman"/>
              <a:cs typeface="Times New Roman"/>
            </a:endParaRPr>
          </a:p>
        </p:txBody>
      </p:sp>
      <p:sp>
        <p:nvSpPr>
          <p:cNvPr id="12" name="object 12"/>
          <p:cNvSpPr txBox="1"/>
          <p:nvPr/>
        </p:nvSpPr>
        <p:spPr>
          <a:xfrm>
            <a:off x="4140839" y="1704327"/>
            <a:ext cx="1990725" cy="552074"/>
          </a:xfrm>
          <a:prstGeom prst="rect">
            <a:avLst/>
          </a:prstGeom>
        </p:spPr>
        <p:txBody>
          <a:bodyPr vert="horz" wrap="square" lIns="0" tIns="13335" rIns="0" bIns="0" rtlCol="0">
            <a:spAutoFit/>
          </a:bodyPr>
          <a:lstStyle/>
          <a:p>
            <a:pPr algn="ctr">
              <a:lnSpc>
                <a:spcPct val="100000"/>
              </a:lnSpc>
              <a:spcBef>
                <a:spcPts val="105"/>
              </a:spcBef>
            </a:pPr>
            <a:r>
              <a:rPr lang="en-IN" sz="2400" dirty="0">
                <a:latin typeface="Times New Roman"/>
                <a:cs typeface="Times New Roman"/>
              </a:rPr>
              <a:t>G Sreeja</a:t>
            </a:r>
            <a:endParaRPr sz="2400" dirty="0">
              <a:latin typeface="Times New Roman"/>
              <a:cs typeface="Times New Roman"/>
            </a:endParaRPr>
          </a:p>
          <a:p>
            <a:pPr marL="1905" algn="ctr">
              <a:lnSpc>
                <a:spcPct val="100000"/>
              </a:lnSpc>
              <a:spcBef>
                <a:spcPts val="35"/>
              </a:spcBef>
            </a:pPr>
            <a:r>
              <a:rPr sz="1100" dirty="0">
                <a:latin typeface="Times New Roman"/>
                <a:cs typeface="Times New Roman"/>
              </a:rPr>
              <a:t>Roll No. </a:t>
            </a:r>
            <a:r>
              <a:rPr sz="1100" spc="-10" dirty="0">
                <a:latin typeface="Times New Roman"/>
                <a:cs typeface="Times New Roman"/>
              </a:rPr>
              <a:t>2</a:t>
            </a:r>
            <a:r>
              <a:rPr lang="en-IN" sz="1100" spc="-10" dirty="0">
                <a:latin typeface="Times New Roman"/>
                <a:cs typeface="Times New Roman"/>
              </a:rPr>
              <a:t>24G1A33A9</a:t>
            </a:r>
            <a:endParaRPr sz="1100" dirty="0">
              <a:latin typeface="Times New Roman"/>
              <a:cs typeface="Times New Roman"/>
            </a:endParaRPr>
          </a:p>
        </p:txBody>
      </p:sp>
      <p:sp>
        <p:nvSpPr>
          <p:cNvPr id="13" name="object 13"/>
          <p:cNvSpPr txBox="1"/>
          <p:nvPr/>
        </p:nvSpPr>
        <p:spPr>
          <a:xfrm>
            <a:off x="1399594" y="1704327"/>
            <a:ext cx="2268799" cy="552074"/>
          </a:xfrm>
          <a:prstGeom prst="rect">
            <a:avLst/>
          </a:prstGeom>
        </p:spPr>
        <p:txBody>
          <a:bodyPr vert="horz" wrap="square" lIns="0" tIns="13335" rIns="0" bIns="0" rtlCol="0">
            <a:spAutoFit/>
          </a:bodyPr>
          <a:lstStyle/>
          <a:p>
            <a:pPr algn="ctr">
              <a:lnSpc>
                <a:spcPct val="100000"/>
              </a:lnSpc>
              <a:spcBef>
                <a:spcPts val="105"/>
              </a:spcBef>
            </a:pPr>
            <a:r>
              <a:rPr lang="en-IN" sz="2400" dirty="0">
                <a:latin typeface="Times New Roman"/>
                <a:cs typeface="Times New Roman"/>
              </a:rPr>
              <a:t>Y  Trinesh Reddy</a:t>
            </a:r>
            <a:endParaRPr sz="2400" dirty="0">
              <a:latin typeface="Times New Roman"/>
              <a:cs typeface="Times New Roman"/>
            </a:endParaRPr>
          </a:p>
          <a:p>
            <a:pPr marL="1905" algn="ctr">
              <a:lnSpc>
                <a:spcPct val="100000"/>
              </a:lnSpc>
              <a:spcBef>
                <a:spcPts val="35"/>
              </a:spcBef>
            </a:pPr>
            <a:r>
              <a:rPr sz="1100" dirty="0">
                <a:latin typeface="Times New Roman"/>
                <a:cs typeface="Times New Roman"/>
              </a:rPr>
              <a:t>Roll No. </a:t>
            </a:r>
            <a:r>
              <a:rPr sz="1100" spc="-10" dirty="0">
                <a:latin typeface="Times New Roman"/>
                <a:cs typeface="Times New Roman"/>
              </a:rPr>
              <a:t>2</a:t>
            </a:r>
            <a:r>
              <a:rPr lang="en-IN" sz="1100" spc="-10" dirty="0">
                <a:latin typeface="Times New Roman"/>
                <a:cs typeface="Times New Roman"/>
              </a:rPr>
              <a:t>34G5A3311</a:t>
            </a:r>
            <a:endParaRPr sz="1100" dirty="0">
              <a:latin typeface="Times New Roman"/>
              <a:cs typeface="Times New Roman"/>
            </a:endParaRPr>
          </a:p>
        </p:txBody>
      </p:sp>
      <p:sp>
        <p:nvSpPr>
          <p:cNvPr id="14" name="object 14"/>
          <p:cNvSpPr txBox="1"/>
          <p:nvPr/>
        </p:nvSpPr>
        <p:spPr>
          <a:xfrm>
            <a:off x="6604010" y="1674584"/>
            <a:ext cx="1990725" cy="552074"/>
          </a:xfrm>
          <a:prstGeom prst="rect">
            <a:avLst/>
          </a:prstGeom>
        </p:spPr>
        <p:txBody>
          <a:bodyPr vert="horz" wrap="square" lIns="0" tIns="13335" rIns="0" bIns="0" rtlCol="0">
            <a:spAutoFit/>
          </a:bodyPr>
          <a:lstStyle/>
          <a:p>
            <a:pPr algn="ctr">
              <a:lnSpc>
                <a:spcPct val="100000"/>
              </a:lnSpc>
              <a:spcBef>
                <a:spcPts val="105"/>
              </a:spcBef>
            </a:pPr>
            <a:r>
              <a:rPr lang="en-IN" sz="2400" dirty="0">
                <a:latin typeface="Times New Roman"/>
                <a:cs typeface="Times New Roman"/>
              </a:rPr>
              <a:t>B Revathi</a:t>
            </a:r>
            <a:endParaRPr sz="2400" dirty="0">
              <a:latin typeface="Times New Roman"/>
              <a:cs typeface="Times New Roman"/>
            </a:endParaRPr>
          </a:p>
          <a:p>
            <a:pPr marL="1905" algn="ctr">
              <a:lnSpc>
                <a:spcPct val="100000"/>
              </a:lnSpc>
              <a:spcBef>
                <a:spcPts val="35"/>
              </a:spcBef>
            </a:pPr>
            <a:r>
              <a:rPr sz="1100" dirty="0">
                <a:latin typeface="Times New Roman"/>
                <a:cs typeface="Times New Roman"/>
              </a:rPr>
              <a:t>Roll No. </a:t>
            </a:r>
            <a:r>
              <a:rPr sz="1100" spc="-10" dirty="0">
                <a:latin typeface="Times New Roman"/>
                <a:cs typeface="Times New Roman"/>
              </a:rPr>
              <a:t>2</a:t>
            </a:r>
            <a:r>
              <a:rPr lang="en-IN" sz="1100" spc="-10" dirty="0">
                <a:latin typeface="Times New Roman"/>
                <a:cs typeface="Times New Roman"/>
              </a:rPr>
              <a:t>24G1A3380</a:t>
            </a:r>
            <a:endParaRPr sz="1100" dirty="0">
              <a:latin typeface="Times New Roman"/>
              <a:cs typeface="Times New Roman"/>
            </a:endParaRPr>
          </a:p>
        </p:txBody>
      </p:sp>
      <p:grpSp>
        <p:nvGrpSpPr>
          <p:cNvPr id="15" name="object 15"/>
          <p:cNvGrpSpPr/>
          <p:nvPr/>
        </p:nvGrpSpPr>
        <p:grpSpPr>
          <a:xfrm>
            <a:off x="262722" y="253730"/>
            <a:ext cx="11449396" cy="1125770"/>
            <a:chOff x="697859" y="297171"/>
            <a:chExt cx="10642600" cy="972185"/>
          </a:xfrm>
        </p:grpSpPr>
        <p:pic>
          <p:nvPicPr>
            <p:cNvPr id="16" name="object 16"/>
            <p:cNvPicPr/>
            <p:nvPr/>
          </p:nvPicPr>
          <p:blipFill>
            <a:blip r:embed="rId2" cstate="print"/>
            <a:stretch>
              <a:fillRect/>
            </a:stretch>
          </p:blipFill>
          <p:spPr>
            <a:xfrm>
              <a:off x="697859" y="297171"/>
              <a:ext cx="10642482" cy="972164"/>
            </a:xfrm>
            <a:prstGeom prst="rect">
              <a:avLst/>
            </a:prstGeom>
          </p:spPr>
        </p:pic>
        <p:sp>
          <p:nvSpPr>
            <p:cNvPr id="17" name="object 17"/>
            <p:cNvSpPr/>
            <p:nvPr/>
          </p:nvSpPr>
          <p:spPr>
            <a:xfrm>
              <a:off x="755008" y="335270"/>
              <a:ext cx="10528300" cy="857885"/>
            </a:xfrm>
            <a:custGeom>
              <a:avLst/>
              <a:gdLst/>
              <a:ahLst/>
              <a:cxnLst/>
              <a:rect l="l" t="t" r="r" b="b"/>
              <a:pathLst>
                <a:path w="10528300" h="857885">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solidFill>
          </p:spPr>
          <p:txBody>
            <a:bodyPr wrap="square" lIns="0" tIns="0" rIns="0" bIns="0" rtlCol="0"/>
            <a:lstStyle/>
            <a:p>
              <a:endParaRPr/>
            </a:p>
          </p:txBody>
        </p:sp>
      </p:grpSp>
      <p:sp>
        <p:nvSpPr>
          <p:cNvPr id="18" name="object 18"/>
          <p:cNvSpPr txBox="1">
            <a:spLocks noGrp="1"/>
          </p:cNvSpPr>
          <p:nvPr>
            <p:ph type="title"/>
          </p:nvPr>
        </p:nvSpPr>
        <p:spPr>
          <a:xfrm>
            <a:off x="777238" y="524621"/>
            <a:ext cx="11951340" cy="443711"/>
          </a:xfrm>
          <a:prstGeom prst="rect">
            <a:avLst/>
          </a:prstGeom>
        </p:spPr>
        <p:txBody>
          <a:bodyPr vert="horz" wrap="square" lIns="0" tIns="12700" rIns="0" bIns="0" rtlCol="0">
            <a:spAutoFit/>
          </a:bodyPr>
          <a:lstStyle/>
          <a:p>
            <a:pPr marL="12700">
              <a:lnSpc>
                <a:spcPct val="100000"/>
              </a:lnSpc>
              <a:spcBef>
                <a:spcPts val="100"/>
              </a:spcBef>
            </a:pPr>
            <a:r>
              <a:rPr lang="en-US" sz="2800" dirty="0"/>
              <a:t>  Smart Fertilizer Spraying System Using Plant Disease Severity Analysis</a:t>
            </a:r>
            <a:endParaRPr sz="2800" dirty="0"/>
          </a:p>
        </p:txBody>
      </p:sp>
      <p:sp>
        <p:nvSpPr>
          <p:cNvPr id="19" name="object 19"/>
          <p:cNvSpPr txBox="1"/>
          <p:nvPr/>
        </p:nvSpPr>
        <p:spPr>
          <a:xfrm>
            <a:off x="5987420" y="1278968"/>
            <a:ext cx="217170" cy="269240"/>
          </a:xfrm>
          <a:prstGeom prst="rect">
            <a:avLst/>
          </a:prstGeom>
        </p:spPr>
        <p:txBody>
          <a:bodyPr vert="horz" wrap="square" lIns="0" tIns="12700" rIns="0" bIns="0" rtlCol="0">
            <a:spAutoFit/>
          </a:bodyPr>
          <a:lstStyle/>
          <a:p>
            <a:pPr marL="12700">
              <a:lnSpc>
                <a:spcPct val="100000"/>
              </a:lnSpc>
              <a:spcBef>
                <a:spcPts val="100"/>
              </a:spcBef>
            </a:pPr>
            <a:r>
              <a:rPr sz="1600" i="1" spc="-25" dirty="0">
                <a:latin typeface="Times New Roman"/>
                <a:cs typeface="Times New Roman"/>
              </a:rPr>
              <a:t>by</a:t>
            </a:r>
            <a:endParaRPr sz="1600">
              <a:latin typeface="Times New Roman"/>
              <a:cs typeface="Times New Roman"/>
            </a:endParaRPr>
          </a:p>
        </p:txBody>
      </p:sp>
      <p:pic>
        <p:nvPicPr>
          <p:cNvPr id="20" name="object 20"/>
          <p:cNvPicPr/>
          <p:nvPr/>
        </p:nvPicPr>
        <p:blipFill>
          <a:blip r:embed="rId3" cstate="print"/>
          <a:stretch>
            <a:fillRect/>
          </a:stretch>
        </p:blipFill>
        <p:spPr>
          <a:xfrm>
            <a:off x="5342105" y="3477045"/>
            <a:ext cx="1843672" cy="1685486"/>
          </a:xfrm>
          <a:prstGeom prst="rect">
            <a:avLst/>
          </a:prstGeom>
        </p:spPr>
      </p:pic>
      <p:sp>
        <p:nvSpPr>
          <p:cNvPr id="25" name="object 9">
            <a:extLst>
              <a:ext uri="{FF2B5EF4-FFF2-40B4-BE49-F238E27FC236}">
                <a16:creationId xmlns="" xmlns:a16="http://schemas.microsoft.com/office/drawing/2014/main" id="{D4A2D25B-33EC-CC7B-AF2F-5309C2997632}"/>
              </a:ext>
            </a:extLst>
          </p:cNvPr>
          <p:cNvSpPr txBox="1">
            <a:spLocks noGrp="1"/>
          </p:cNvSpPr>
          <p:nvPr>
            <p:ph type="dt" sz="half" idx="6"/>
          </p:nvPr>
        </p:nvSpPr>
        <p:spPr>
          <a:xfrm>
            <a:off x="1123125" y="6629792"/>
            <a:ext cx="496252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27" name="TextBox 26">
            <a:extLst>
              <a:ext uri="{FF2B5EF4-FFF2-40B4-BE49-F238E27FC236}">
                <a16:creationId xmlns="" xmlns:a16="http://schemas.microsoft.com/office/drawing/2014/main" id="{359CF6B6-5F8C-ABC8-2607-C8A5865035DA}"/>
              </a:ext>
            </a:extLst>
          </p:cNvPr>
          <p:cNvSpPr txBox="1"/>
          <p:nvPr/>
        </p:nvSpPr>
        <p:spPr>
          <a:xfrm>
            <a:off x="6183186" y="6581001"/>
            <a:ext cx="6190180" cy="323165"/>
          </a:xfrm>
          <a:prstGeom prst="rect">
            <a:avLst/>
          </a:prstGeom>
          <a:noFill/>
        </p:spPr>
        <p:txBody>
          <a:bodyPr wrap="square">
            <a:spAutoFit/>
          </a:bodyPr>
          <a:lstStyle/>
          <a:p>
            <a:pPr marL="12700">
              <a:lnSpc>
                <a:spcPts val="1845"/>
              </a:lnSpc>
            </a:pPr>
            <a:r>
              <a:rPr lang="en-US" sz="1800" cap="small" spc="-105" dirty="0">
                <a:solidFill>
                  <a:srgbClr val="FFFFFF"/>
                </a:solidFill>
                <a:latin typeface="Times New Roman"/>
                <a:cs typeface="Times New Roman"/>
              </a:rPr>
              <a:t>Srinivasa</a:t>
            </a:r>
            <a:r>
              <a:rPr lang="en-US" sz="1800" cap="small" spc="70" dirty="0">
                <a:solidFill>
                  <a:srgbClr val="FFFFFF"/>
                </a:solidFill>
                <a:latin typeface="Times New Roman"/>
                <a:cs typeface="Times New Roman"/>
              </a:rPr>
              <a:t> </a:t>
            </a:r>
            <a:r>
              <a:rPr lang="en-US" sz="1800" cap="small" spc="-120" dirty="0">
                <a:solidFill>
                  <a:srgbClr val="FFFFFF"/>
                </a:solidFill>
                <a:latin typeface="Times New Roman"/>
                <a:cs typeface="Times New Roman"/>
              </a:rPr>
              <a:t>Ramanujan</a:t>
            </a:r>
            <a:r>
              <a:rPr lang="en-US" sz="1800" cap="small" spc="75" dirty="0">
                <a:solidFill>
                  <a:srgbClr val="FFFFFF"/>
                </a:solidFill>
                <a:latin typeface="Times New Roman"/>
                <a:cs typeface="Times New Roman"/>
              </a:rPr>
              <a:t> </a:t>
            </a:r>
            <a:r>
              <a:rPr lang="en-US" sz="1800" cap="small" spc="-110" dirty="0">
                <a:solidFill>
                  <a:srgbClr val="FFFFFF"/>
                </a:solidFill>
                <a:latin typeface="Times New Roman"/>
                <a:cs typeface="Times New Roman"/>
              </a:rPr>
              <a:t>Institute</a:t>
            </a:r>
            <a:r>
              <a:rPr lang="en-US" sz="1800" cap="small" spc="75" dirty="0">
                <a:solidFill>
                  <a:srgbClr val="FFFFFF"/>
                </a:solidFill>
                <a:latin typeface="Times New Roman"/>
                <a:cs typeface="Times New Roman"/>
              </a:rPr>
              <a:t> </a:t>
            </a:r>
            <a:r>
              <a:rPr lang="en-US" sz="1800" cap="small" spc="-100" dirty="0">
                <a:solidFill>
                  <a:srgbClr val="FFFFFF"/>
                </a:solidFill>
                <a:latin typeface="Times New Roman"/>
                <a:cs typeface="Times New Roman"/>
              </a:rPr>
              <a:t>of</a:t>
            </a:r>
            <a:r>
              <a:rPr lang="en-US" sz="1800" cap="small" spc="75" dirty="0">
                <a:solidFill>
                  <a:srgbClr val="FFFFFF"/>
                </a:solidFill>
                <a:latin typeface="Times New Roman"/>
                <a:cs typeface="Times New Roman"/>
              </a:rPr>
              <a:t> </a:t>
            </a:r>
            <a:r>
              <a:rPr lang="en-US" sz="1800" cap="small" spc="-140" dirty="0">
                <a:solidFill>
                  <a:srgbClr val="FFFFFF"/>
                </a:solidFill>
                <a:latin typeface="Times New Roman"/>
                <a:cs typeface="Times New Roman"/>
              </a:rPr>
              <a:t>Technology                              1</a:t>
            </a:r>
            <a:endParaRPr lang="en-US" sz="1800" dirty="0">
              <a:latin typeface="Times New Roman"/>
              <a:cs typeface="Times New Roman"/>
            </a:endParaRPr>
          </a:p>
        </p:txBody>
      </p:sp>
      <p:sp>
        <p:nvSpPr>
          <p:cNvPr id="21" name="TextBox 20">
            <a:extLst>
              <a:ext uri="{FF2B5EF4-FFF2-40B4-BE49-F238E27FC236}">
                <a16:creationId xmlns="" xmlns:a16="http://schemas.microsoft.com/office/drawing/2014/main" id="{00D44161-CDDD-7E98-7A6C-7DBBFAF7BAA2}"/>
              </a:ext>
            </a:extLst>
          </p:cNvPr>
          <p:cNvSpPr txBox="1"/>
          <p:nvPr/>
        </p:nvSpPr>
        <p:spPr>
          <a:xfrm>
            <a:off x="2913036" y="3221871"/>
            <a:ext cx="6365240" cy="369332"/>
          </a:xfrm>
          <a:prstGeom prst="rect">
            <a:avLst/>
          </a:prstGeom>
          <a:noFill/>
        </p:spPr>
        <p:txBody>
          <a:bodyPr wrap="square">
            <a:spAutoFit/>
          </a:bodyPr>
          <a:lstStyle/>
          <a:p>
            <a:pPr algn="ctr"/>
            <a:r>
              <a:rPr lang="en-US" dirty="0"/>
              <a:t>Associate Professor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14861" y="0"/>
            <a:ext cx="4562274" cy="250999"/>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 </a:t>
            </a:r>
            <a:endParaRPr sz="1500" dirty="0">
              <a:latin typeface="Times New Roman"/>
              <a:cs typeface="Times New Roman"/>
            </a:endParaRPr>
          </a:p>
        </p:txBody>
      </p:sp>
      <p:grpSp>
        <p:nvGrpSpPr>
          <p:cNvPr id="3" name="object 3"/>
          <p:cNvGrpSpPr/>
          <p:nvPr/>
        </p:nvGrpSpPr>
        <p:grpSpPr>
          <a:xfrm>
            <a:off x="-2" y="216249"/>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60071" y="209470"/>
            <a:ext cx="3888104" cy="695960"/>
          </a:xfrm>
          <a:prstGeom prst="rect">
            <a:avLst/>
          </a:prstGeom>
        </p:spPr>
        <p:txBody>
          <a:bodyPr vert="horz" wrap="square" lIns="0" tIns="12700" rIns="0" bIns="0" rtlCol="0">
            <a:spAutoFit/>
          </a:bodyPr>
          <a:lstStyle/>
          <a:p>
            <a:pPr marL="12700">
              <a:lnSpc>
                <a:spcPct val="100000"/>
              </a:lnSpc>
              <a:spcBef>
                <a:spcPts val="100"/>
              </a:spcBef>
            </a:pPr>
            <a:r>
              <a:rPr spc="-10" dirty="0"/>
              <a:t>Contents</a:t>
            </a:r>
          </a:p>
        </p:txBody>
      </p:sp>
      <p:sp>
        <p:nvSpPr>
          <p:cNvPr id="9" name="object 9"/>
          <p:cNvSpPr txBox="1">
            <a:spLocks noGrp="1"/>
          </p:cNvSpPr>
          <p:nvPr>
            <p:ph type="dt" sz="half" idx="6"/>
          </p:nvPr>
        </p:nvSpPr>
        <p:spPr>
          <a:xfrm>
            <a:off x="1123125" y="6629792"/>
            <a:ext cx="496252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0" name="object 10"/>
          <p:cNvSpPr txBox="1"/>
          <p:nvPr/>
        </p:nvSpPr>
        <p:spPr>
          <a:xfrm>
            <a:off x="6809329" y="6651444"/>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p:nvPr/>
        </p:nvSpPr>
        <p:spPr>
          <a:xfrm>
            <a:off x="11909611" y="6629309"/>
            <a:ext cx="127000" cy="230832"/>
          </a:xfrm>
          <a:prstGeom prst="rect">
            <a:avLst/>
          </a:prstGeom>
        </p:spPr>
        <p:txBody>
          <a:bodyPr vert="horz" wrap="square" lIns="0" tIns="0" rIns="0" bIns="0" rtlCol="0">
            <a:spAutoFit/>
          </a:bodyPr>
          <a:lstStyle/>
          <a:p>
            <a:pPr marL="12700">
              <a:lnSpc>
                <a:spcPts val="1845"/>
              </a:lnSpc>
            </a:pPr>
            <a:r>
              <a:rPr lang="en-US" sz="1600" b="1" spc="-50" dirty="0">
                <a:solidFill>
                  <a:srgbClr val="002060"/>
                </a:solidFill>
                <a:latin typeface="Times New Roman"/>
                <a:cs typeface="Times New Roman"/>
              </a:rPr>
              <a:t>2</a:t>
            </a:r>
            <a:endParaRPr sz="1600" dirty="0">
              <a:latin typeface="Times New Roman"/>
              <a:cs typeface="Times New Roman"/>
            </a:endParaRPr>
          </a:p>
        </p:txBody>
      </p:sp>
      <p:sp>
        <p:nvSpPr>
          <p:cNvPr id="7" name="object 7"/>
          <p:cNvSpPr txBox="1"/>
          <p:nvPr/>
        </p:nvSpPr>
        <p:spPr>
          <a:xfrm>
            <a:off x="144305" y="1066801"/>
            <a:ext cx="7370348" cy="4547399"/>
          </a:xfrm>
          <a:prstGeom prst="rect">
            <a:avLst/>
          </a:prstGeom>
        </p:spPr>
        <p:txBody>
          <a:bodyPr vert="horz" wrap="square" lIns="0" tIns="12700" rIns="0" bIns="0" rtlCol="0">
            <a:spAutoFit/>
          </a:bodyPr>
          <a:lstStyle/>
          <a:p>
            <a:pPr marL="421005" indent="-408305">
              <a:lnSpc>
                <a:spcPct val="100000"/>
              </a:lnSpc>
              <a:spcBef>
                <a:spcPts val="100"/>
              </a:spcBef>
              <a:buChar char="•"/>
              <a:tabLst>
                <a:tab pos="421005" algn="l"/>
              </a:tabLst>
            </a:pPr>
            <a:endParaRPr lang="en-US" sz="3200" dirty="0" smtClean="0">
              <a:latin typeface="Times New Roman" panose="02020603050405020304" pitchFamily="18" charset="0"/>
              <a:cs typeface="Times New Roman" panose="02020603050405020304" pitchFamily="18" charset="0"/>
            </a:endParaRPr>
          </a:p>
          <a:p>
            <a:pPr marL="421005" indent="-408305">
              <a:lnSpc>
                <a:spcPct val="100000"/>
              </a:lnSpc>
              <a:spcBef>
                <a:spcPts val="100"/>
              </a:spcBef>
              <a:buChar char="•"/>
              <a:tabLst>
                <a:tab pos="421005" algn="l"/>
              </a:tabLst>
            </a:pPr>
            <a:r>
              <a:rPr lang="en-IN" sz="3200" spc="-10" dirty="0" smtClean="0"/>
              <a:t>Abstract</a:t>
            </a:r>
          </a:p>
          <a:p>
            <a:pPr marL="421005" indent="-408305">
              <a:lnSpc>
                <a:spcPct val="100000"/>
              </a:lnSpc>
              <a:spcBef>
                <a:spcPts val="100"/>
              </a:spcBef>
              <a:buChar char="•"/>
              <a:tabLst>
                <a:tab pos="421005" algn="l"/>
              </a:tabLst>
            </a:pPr>
            <a:r>
              <a:rPr lang="en-US" sz="3200" spc="-10" dirty="0" smtClean="0"/>
              <a:t>Introduction</a:t>
            </a:r>
            <a:endParaRPr lang="en-US" sz="3200" dirty="0">
              <a:latin typeface="Times New Roman" panose="02020603050405020304" pitchFamily="18" charset="0"/>
              <a:cs typeface="Times New Roman" panose="02020603050405020304" pitchFamily="18" charset="0"/>
            </a:endParaRPr>
          </a:p>
          <a:p>
            <a:pPr marL="421005" indent="-408305">
              <a:lnSpc>
                <a:spcPct val="100000"/>
              </a:lnSpc>
              <a:spcBef>
                <a:spcPts val="100"/>
              </a:spcBef>
              <a:buChar char="•"/>
              <a:tabLst>
                <a:tab pos="421005" algn="l"/>
              </a:tabLst>
            </a:pPr>
            <a:r>
              <a:rPr lang="en-US" sz="3200" dirty="0" smtClean="0">
                <a:latin typeface="Times New Roman" panose="02020603050405020304" pitchFamily="18" charset="0"/>
                <a:cs typeface="Times New Roman" panose="02020603050405020304" pitchFamily="18" charset="0"/>
              </a:rPr>
              <a:t>Problem statement               </a:t>
            </a:r>
          </a:p>
          <a:p>
            <a:pPr marL="421005" indent="-408305">
              <a:lnSpc>
                <a:spcPct val="100000"/>
              </a:lnSpc>
              <a:spcBef>
                <a:spcPts val="100"/>
              </a:spcBef>
              <a:buChar char="•"/>
              <a:tabLst>
                <a:tab pos="421005" algn="l"/>
              </a:tabLst>
            </a:pPr>
            <a:r>
              <a:rPr lang="en-US" sz="3200" dirty="0" smtClean="0">
                <a:latin typeface="Times New Roman" panose="02020603050405020304" pitchFamily="18" charset="0"/>
                <a:cs typeface="Times New Roman" panose="02020603050405020304" pitchFamily="18" charset="0"/>
              </a:rPr>
              <a:t>Objectives               </a:t>
            </a:r>
          </a:p>
          <a:p>
            <a:pPr marL="421005" indent="-408305">
              <a:lnSpc>
                <a:spcPct val="100000"/>
              </a:lnSpc>
              <a:spcBef>
                <a:spcPts val="100"/>
              </a:spcBef>
              <a:buChar char="•"/>
              <a:tabLst>
                <a:tab pos="421005" algn="l"/>
              </a:tabLst>
            </a:pPr>
            <a:r>
              <a:rPr lang="en-US" sz="3200" dirty="0" smtClean="0">
                <a:latin typeface="Times New Roman" panose="02020603050405020304" pitchFamily="18" charset="0"/>
                <a:cs typeface="Times New Roman" panose="02020603050405020304" pitchFamily="18" charset="0"/>
              </a:rPr>
              <a:t>Methodology              </a:t>
            </a:r>
          </a:p>
          <a:p>
            <a:pPr marL="421005" indent="-408305">
              <a:lnSpc>
                <a:spcPct val="100000"/>
              </a:lnSpc>
              <a:spcBef>
                <a:spcPts val="100"/>
              </a:spcBef>
              <a:buChar char="•"/>
              <a:tabLst>
                <a:tab pos="421005" algn="l"/>
              </a:tabLst>
            </a:pPr>
            <a:r>
              <a:rPr lang="en-US" sz="3200" dirty="0" smtClean="0">
                <a:latin typeface="Times New Roman" panose="02020603050405020304" pitchFamily="18" charset="0"/>
                <a:cs typeface="Times New Roman" panose="02020603050405020304" pitchFamily="18" charset="0"/>
              </a:rPr>
              <a:t>Implementation details            </a:t>
            </a:r>
          </a:p>
          <a:p>
            <a:pPr marL="421005" indent="-408305">
              <a:lnSpc>
                <a:spcPct val="100000"/>
              </a:lnSpc>
              <a:spcBef>
                <a:spcPts val="100"/>
              </a:spcBef>
              <a:buChar char="•"/>
              <a:tabLst>
                <a:tab pos="421005" algn="l"/>
              </a:tabLst>
            </a:pPr>
            <a:r>
              <a:rPr lang="en-US" sz="3200" dirty="0" smtClean="0">
                <a:latin typeface="Times New Roman" panose="02020603050405020304" pitchFamily="18" charset="0"/>
                <a:cs typeface="Times New Roman" panose="02020603050405020304" pitchFamily="18" charset="0"/>
              </a:rPr>
              <a:t>Expected outcomes / Results</a:t>
            </a:r>
          </a:p>
          <a:p>
            <a:pPr marL="421005" indent="-408305">
              <a:lnSpc>
                <a:spcPct val="100000"/>
              </a:lnSpc>
              <a:spcBef>
                <a:spcPts val="100"/>
              </a:spcBef>
              <a:buChar char="•"/>
              <a:tabLst>
                <a:tab pos="421005" algn="l"/>
              </a:tabLst>
            </a:pPr>
            <a:r>
              <a:rPr lang="en-US" sz="3200" dirty="0">
                <a:latin typeface="Times New Roman" panose="02020603050405020304" pitchFamily="18" charset="0"/>
                <a:cs typeface="Times New Roman" panose="02020603050405020304" pitchFamily="18" charset="0"/>
              </a:rPr>
              <a:t>B</a:t>
            </a:r>
            <a:r>
              <a:rPr lang="en-US" sz="3200" dirty="0" smtClean="0">
                <a:latin typeface="Times New Roman" panose="02020603050405020304" pitchFamily="18" charset="0"/>
                <a:cs typeface="Times New Roman" panose="02020603050405020304" pitchFamily="18" charset="0"/>
              </a:rPr>
              <a:t>udget estimation </a:t>
            </a:r>
            <a:endParaRPr sz="32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 xmlns:a16="http://schemas.microsoft.com/office/drawing/2014/main" id="{F9701E11-DBAB-CE68-E741-A3B1A4F51729}"/>
              </a:ext>
            </a:extLst>
          </p:cNvPr>
          <p:cNvSpPr txBox="1"/>
          <p:nvPr/>
        </p:nvSpPr>
        <p:spPr>
          <a:xfrm>
            <a:off x="33448" y="6560059"/>
            <a:ext cx="914400" cy="369332"/>
          </a:xfrm>
          <a:prstGeom prst="rect">
            <a:avLst/>
          </a:prstGeom>
          <a:noFill/>
        </p:spPr>
        <p:txBody>
          <a:bodyPr wrap="square" rtlCol="0">
            <a:spAutoFit/>
          </a:bodyPr>
          <a:lstStyle/>
          <a:p>
            <a:r>
              <a:rPr lang="en-US" dirty="0">
                <a:solidFill>
                  <a:schemeClr val="bg1"/>
                </a:solidFill>
              </a:rPr>
              <a:t>B-10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77238" y="6624956"/>
            <a:ext cx="11395712" cy="233039"/>
            <a:chOff x="777238" y="6634572"/>
            <a:chExt cx="11395710" cy="223427"/>
          </a:xfrm>
        </p:grpSpPr>
        <p:sp>
          <p:nvSpPr>
            <p:cNvPr id="3" name="object 3"/>
            <p:cNvSpPr/>
            <p:nvPr/>
          </p:nvSpPr>
          <p:spPr>
            <a:xfrm>
              <a:off x="777238" y="6634572"/>
              <a:ext cx="5782310" cy="220979"/>
            </a:xfrm>
            <a:custGeom>
              <a:avLst/>
              <a:gdLst/>
              <a:ahLst/>
              <a:cxnLst/>
              <a:rect l="l" t="t" r="r" b="b"/>
              <a:pathLst>
                <a:path w="5782309" h="220979">
                  <a:moveTo>
                    <a:pt x="5781821" y="220979"/>
                  </a:moveTo>
                  <a:lnTo>
                    <a:pt x="0" y="220979"/>
                  </a:lnTo>
                  <a:lnTo>
                    <a:pt x="0" y="0"/>
                  </a:lnTo>
                  <a:lnTo>
                    <a:pt x="5781821" y="0"/>
                  </a:lnTo>
                  <a:lnTo>
                    <a:pt x="5781821" y="220979"/>
                  </a:lnTo>
                  <a:close/>
                </a:path>
              </a:pathLst>
            </a:custGeom>
            <a:solidFill>
              <a:srgbClr val="002060"/>
            </a:solidFill>
          </p:spPr>
          <p:txBody>
            <a:bodyPr wrap="square" lIns="0" tIns="0" rIns="0" bIns="0" rtlCol="0"/>
            <a:lstStyle/>
            <a:p>
              <a:endParaRPr/>
            </a:p>
          </p:txBody>
        </p:sp>
        <p:sp>
          <p:nvSpPr>
            <p:cNvPr id="4" name="object 4"/>
            <p:cNvSpPr/>
            <p:nvPr/>
          </p:nvSpPr>
          <p:spPr>
            <a:xfrm>
              <a:off x="6559061" y="6634572"/>
              <a:ext cx="5195570" cy="220979"/>
            </a:xfrm>
            <a:custGeom>
              <a:avLst/>
              <a:gdLst/>
              <a:ahLst/>
              <a:cxnLst/>
              <a:rect l="l" t="t" r="r" b="b"/>
              <a:pathLst>
                <a:path w="5195570" h="220979">
                  <a:moveTo>
                    <a:pt x="5195133" y="220979"/>
                  </a:moveTo>
                  <a:lnTo>
                    <a:pt x="0" y="220979"/>
                  </a:lnTo>
                  <a:lnTo>
                    <a:pt x="0" y="0"/>
                  </a:lnTo>
                  <a:lnTo>
                    <a:pt x="5195133" y="0"/>
                  </a:lnTo>
                  <a:lnTo>
                    <a:pt x="5195133" y="220979"/>
                  </a:lnTo>
                  <a:close/>
                </a:path>
              </a:pathLst>
            </a:custGeom>
            <a:solidFill>
              <a:srgbClr val="008080"/>
            </a:solidFill>
          </p:spPr>
          <p:txBody>
            <a:bodyPr wrap="square" lIns="0" tIns="0" rIns="0" bIns="0" rtlCol="0"/>
            <a:lstStyle/>
            <a:p>
              <a:endParaRPr/>
            </a:p>
          </p:txBody>
        </p:sp>
        <p:sp>
          <p:nvSpPr>
            <p:cNvPr id="5" name="object 5"/>
            <p:cNvSpPr/>
            <p:nvPr/>
          </p:nvSpPr>
          <p:spPr>
            <a:xfrm>
              <a:off x="11734798" y="6637020"/>
              <a:ext cx="438150" cy="220979"/>
            </a:xfrm>
            <a:custGeom>
              <a:avLst/>
              <a:gdLst/>
              <a:ahLst/>
              <a:cxnLst/>
              <a:rect l="l" t="t" r="r" b="b"/>
              <a:pathLst>
                <a:path w="438150" h="220979">
                  <a:moveTo>
                    <a:pt x="437803" y="220979"/>
                  </a:moveTo>
                  <a:lnTo>
                    <a:pt x="0" y="220979"/>
                  </a:lnTo>
                  <a:lnTo>
                    <a:pt x="0" y="0"/>
                  </a:lnTo>
                  <a:lnTo>
                    <a:pt x="437803" y="0"/>
                  </a:lnTo>
                  <a:lnTo>
                    <a:pt x="437803" y="220979"/>
                  </a:lnTo>
                  <a:close/>
                </a:path>
              </a:pathLst>
            </a:custGeom>
            <a:solidFill>
              <a:srgbClr val="FFC000"/>
            </a:solidFill>
          </p:spPr>
          <p:txBody>
            <a:bodyPr wrap="square" lIns="0" tIns="0" rIns="0" bIns="0" rtlCol="0"/>
            <a:lstStyle/>
            <a:p>
              <a:r>
                <a:rPr lang="en-US" dirty="0"/>
                <a:t>  </a:t>
              </a:r>
              <a:r>
                <a:rPr lang="en-US" sz="1600" dirty="0"/>
                <a:t> 4</a:t>
              </a:r>
              <a:endParaRPr sz="1600" dirty="0"/>
            </a:p>
          </p:txBody>
        </p:sp>
      </p:grpSp>
      <p:sp>
        <p:nvSpPr>
          <p:cNvPr id="6" name="object 6"/>
          <p:cNvSpPr/>
          <p:nvPr/>
        </p:nvSpPr>
        <p:spPr>
          <a:xfrm>
            <a:off x="0" y="-5183"/>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r>
              <a:rPr lang="en-US" sz="1800" b="1" i="1" dirty="0">
                <a:solidFill>
                  <a:srgbClr val="FFFFFF"/>
                </a:solidFill>
                <a:latin typeface="Times New Roman"/>
                <a:cs typeface="Times New Roman"/>
              </a:rPr>
              <a:t>                                                                   </a:t>
            </a:r>
            <a:endParaRPr lang="en-US" sz="1500" b="1" dirty="0">
              <a:latin typeface="Times New Roman"/>
              <a:cs typeface="Times New Roman"/>
            </a:endParaRPr>
          </a:p>
          <a:p>
            <a:endParaRPr dirty="0"/>
          </a:p>
        </p:txBody>
      </p:sp>
      <p:sp>
        <p:nvSpPr>
          <p:cNvPr id="7" name="object 7"/>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marL="12700">
              <a:lnSpc>
                <a:spcPts val="1845"/>
              </a:lnSpc>
            </a:pPr>
            <a:r>
              <a:rPr lang="en-US" sz="1600" spc="-25" dirty="0">
                <a:solidFill>
                  <a:schemeClr val="bg1"/>
                </a:solidFill>
              </a:rPr>
              <a:t>  B - 10</a:t>
            </a:r>
          </a:p>
        </p:txBody>
      </p:sp>
      <p:sp>
        <p:nvSpPr>
          <p:cNvPr id="10" name="object 9">
            <a:extLst>
              <a:ext uri="{FF2B5EF4-FFF2-40B4-BE49-F238E27FC236}">
                <a16:creationId xmlns="" xmlns:a16="http://schemas.microsoft.com/office/drawing/2014/main" id="{541F5DB9-DC70-842B-1465-3F4E1CFFEA66}"/>
              </a:ext>
            </a:extLst>
          </p:cNvPr>
          <p:cNvSpPr txBox="1">
            <a:spLocks noGrp="1"/>
          </p:cNvSpPr>
          <p:nvPr>
            <p:ph type="dt" sz="half" idx="6"/>
          </p:nvPr>
        </p:nvSpPr>
        <p:spPr>
          <a:xfrm>
            <a:off x="1123125" y="6629792"/>
            <a:ext cx="496252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3" name="object 5">
            <a:extLst>
              <a:ext uri="{FF2B5EF4-FFF2-40B4-BE49-F238E27FC236}">
                <a16:creationId xmlns="" xmlns:a16="http://schemas.microsoft.com/office/drawing/2014/main" id="{1F8162E0-03D8-FFC9-68AC-DDFC70A7433A}"/>
              </a:ext>
            </a:extLst>
          </p:cNvPr>
          <p:cNvSpPr/>
          <p:nvPr/>
        </p:nvSpPr>
        <p:spPr>
          <a:xfrm>
            <a:off x="-10350" y="233044"/>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sp>
        <p:nvSpPr>
          <p:cNvPr id="12" name="TextBox 11">
            <a:extLst>
              <a:ext uri="{FF2B5EF4-FFF2-40B4-BE49-F238E27FC236}">
                <a16:creationId xmlns="" xmlns:a16="http://schemas.microsoft.com/office/drawing/2014/main" id="{5CF40C25-388B-8BFE-A772-519ED202E660}"/>
              </a:ext>
            </a:extLst>
          </p:cNvPr>
          <p:cNvSpPr txBox="1"/>
          <p:nvPr/>
        </p:nvSpPr>
        <p:spPr>
          <a:xfrm>
            <a:off x="6559061" y="6629793"/>
            <a:ext cx="5195135" cy="553998"/>
          </a:xfrm>
          <a:prstGeom prst="rect">
            <a:avLst/>
          </a:prstGeom>
          <a:noFill/>
        </p:spPr>
        <p:txBody>
          <a:bodyPr wrap="square">
            <a:spAutoFit/>
          </a:bodyPr>
          <a:lstStyle/>
          <a:p>
            <a:pPr marL="12700">
              <a:lnSpc>
                <a:spcPts val="1845"/>
              </a:lnSpc>
            </a:pPr>
            <a:r>
              <a:rPr lang="en-US" sz="1800" cap="small" spc="-105" dirty="0">
                <a:solidFill>
                  <a:srgbClr val="FFFFFF"/>
                </a:solidFill>
                <a:latin typeface="Times New Roman"/>
                <a:cs typeface="Times New Roman"/>
              </a:rPr>
              <a:t>Srinivasa</a:t>
            </a:r>
            <a:r>
              <a:rPr lang="en-US" sz="1800" cap="small" spc="70" dirty="0">
                <a:solidFill>
                  <a:srgbClr val="FFFFFF"/>
                </a:solidFill>
                <a:latin typeface="Times New Roman"/>
                <a:cs typeface="Times New Roman"/>
              </a:rPr>
              <a:t> </a:t>
            </a:r>
            <a:r>
              <a:rPr lang="en-US" sz="1800" cap="small" spc="-120" dirty="0">
                <a:solidFill>
                  <a:srgbClr val="FFFFFF"/>
                </a:solidFill>
                <a:latin typeface="Times New Roman"/>
                <a:cs typeface="Times New Roman"/>
              </a:rPr>
              <a:t>Ramanujan</a:t>
            </a:r>
            <a:r>
              <a:rPr lang="en-US" sz="1800" cap="small" spc="75" dirty="0">
                <a:solidFill>
                  <a:srgbClr val="FFFFFF"/>
                </a:solidFill>
                <a:latin typeface="Times New Roman"/>
                <a:cs typeface="Times New Roman"/>
              </a:rPr>
              <a:t> </a:t>
            </a:r>
            <a:r>
              <a:rPr lang="en-US" sz="1800" cap="small" spc="-110" dirty="0">
                <a:solidFill>
                  <a:srgbClr val="FFFFFF"/>
                </a:solidFill>
                <a:latin typeface="Times New Roman"/>
                <a:cs typeface="Times New Roman"/>
              </a:rPr>
              <a:t>Institute</a:t>
            </a:r>
            <a:r>
              <a:rPr lang="en-US" sz="1800" cap="small" spc="75" dirty="0">
                <a:solidFill>
                  <a:srgbClr val="FFFFFF"/>
                </a:solidFill>
                <a:latin typeface="Times New Roman"/>
                <a:cs typeface="Times New Roman"/>
              </a:rPr>
              <a:t> </a:t>
            </a:r>
            <a:r>
              <a:rPr lang="en-US" sz="1800" cap="small" spc="-100" dirty="0">
                <a:solidFill>
                  <a:srgbClr val="FFFFFF"/>
                </a:solidFill>
                <a:latin typeface="Times New Roman"/>
                <a:cs typeface="Times New Roman"/>
              </a:rPr>
              <a:t>of</a:t>
            </a:r>
            <a:r>
              <a:rPr lang="en-US" sz="1800" cap="small" spc="75" dirty="0">
                <a:solidFill>
                  <a:srgbClr val="FFFFFF"/>
                </a:solidFill>
                <a:latin typeface="Times New Roman"/>
                <a:cs typeface="Times New Roman"/>
              </a:rPr>
              <a:t> </a:t>
            </a:r>
            <a:r>
              <a:rPr lang="en-US" sz="1800" cap="small" spc="-140" dirty="0">
                <a:solidFill>
                  <a:srgbClr val="FFFFFF"/>
                </a:solidFill>
                <a:latin typeface="Times New Roman"/>
                <a:cs typeface="Times New Roman"/>
              </a:rPr>
              <a:t>Technology</a:t>
            </a:r>
            <a:endParaRPr lang="en-US" sz="1800" dirty="0">
              <a:latin typeface="Times New Roman"/>
              <a:cs typeface="Times New Roman"/>
            </a:endParaRPr>
          </a:p>
          <a:p>
            <a:pPr marL="12700">
              <a:lnSpc>
                <a:spcPts val="1845"/>
              </a:lnSpc>
            </a:pPr>
            <a:endParaRPr lang="en-US" sz="1800" dirty="0">
              <a:latin typeface="Times New Roman"/>
              <a:cs typeface="Times New Roman"/>
            </a:endParaRPr>
          </a:p>
        </p:txBody>
      </p:sp>
      <p:sp>
        <p:nvSpPr>
          <p:cNvPr id="8" name="object 8"/>
          <p:cNvSpPr txBox="1">
            <a:spLocks noGrp="1"/>
          </p:cNvSpPr>
          <p:nvPr>
            <p:ph type="title"/>
          </p:nvPr>
        </p:nvSpPr>
        <p:spPr>
          <a:xfrm>
            <a:off x="379193" y="176499"/>
            <a:ext cx="1915160" cy="695960"/>
          </a:xfrm>
          <a:prstGeom prst="rect">
            <a:avLst/>
          </a:prstGeom>
        </p:spPr>
        <p:txBody>
          <a:bodyPr vert="horz" wrap="square" lIns="0" tIns="12700" rIns="0" bIns="0" rtlCol="0">
            <a:spAutoFit/>
          </a:bodyPr>
          <a:lstStyle/>
          <a:p>
            <a:pPr marL="12700">
              <a:lnSpc>
                <a:spcPct val="100000"/>
              </a:lnSpc>
              <a:spcBef>
                <a:spcPts val="100"/>
              </a:spcBef>
            </a:pPr>
            <a:r>
              <a:rPr lang="en-IN" spc="-10" dirty="0"/>
              <a:t>Abstract</a:t>
            </a:r>
            <a:endParaRPr spc="-10" dirty="0"/>
          </a:p>
        </p:txBody>
      </p:sp>
      <p:sp>
        <p:nvSpPr>
          <p:cNvPr id="14" name="TextBox 13">
            <a:extLst>
              <a:ext uri="{FF2B5EF4-FFF2-40B4-BE49-F238E27FC236}">
                <a16:creationId xmlns="" xmlns:a16="http://schemas.microsoft.com/office/drawing/2014/main" id="{29A68E3C-6099-B180-7254-EAAF8399ED3B}"/>
              </a:ext>
            </a:extLst>
          </p:cNvPr>
          <p:cNvSpPr txBox="1"/>
          <p:nvPr/>
        </p:nvSpPr>
        <p:spPr>
          <a:xfrm>
            <a:off x="203010" y="1448752"/>
            <a:ext cx="11963400" cy="4893647"/>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The Smart Fertilizer Spraying System with Plant Disease Severity Analysis is an automated agricultural robot designed to enhance crop management through precision farming. The system employs a Raspberry Pi equipped with a USB camera to capture plant images and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disease severity using advanced image processing techniques. Based on the detected severity levels, the system dynamically regulates fertilizer spraying duration through three dedicated nozzles, ensuring precise application and minimizing wastage.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An Arduino microcontroller manages the operation of DC motors, water pumps, relays, and the robot chassis for efficient movement. Powered by a 12V battery and supported by a 9V solar panel, the system offers sustainable and energy-efficient operation. Bluetooth connectivity facilitates wireless monitoring and control. By combining disease severity detection with intelligent fertilizer management, this system reduces human intervention, optimizes resource utilization, and promotes eco-friendly farming practices</a:t>
            </a:r>
            <a:endParaRPr lang="en-IN"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4111" y="78755"/>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04577" y="201000"/>
            <a:ext cx="3856552" cy="689932"/>
          </a:xfrm>
          <a:prstGeom prst="rect">
            <a:avLst/>
          </a:prstGeom>
        </p:spPr>
        <p:txBody>
          <a:bodyPr vert="horz" wrap="square" lIns="0" tIns="12700" rIns="0" bIns="0" rtlCol="0">
            <a:spAutoFit/>
          </a:bodyPr>
          <a:lstStyle/>
          <a:p>
            <a:pPr marL="12700">
              <a:lnSpc>
                <a:spcPct val="100000"/>
              </a:lnSpc>
              <a:spcBef>
                <a:spcPts val="100"/>
              </a:spcBef>
            </a:pPr>
            <a:r>
              <a:rPr spc="-10" dirty="0"/>
              <a:t>Introduction</a:t>
            </a:r>
          </a:p>
        </p:txBody>
      </p:sp>
      <p:sp>
        <p:nvSpPr>
          <p:cNvPr id="8" name="object 8"/>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9" name="object 9"/>
          <p:cNvSpPr txBox="1">
            <a:spLocks noGrp="1"/>
          </p:cNvSpPr>
          <p:nvPr>
            <p:ph type="dt" sz="half" idx="6"/>
          </p:nvPr>
        </p:nvSpPr>
        <p:spPr>
          <a:prstGeom prst="rect">
            <a:avLst/>
          </a:prstGeom>
        </p:spPr>
        <p:txBody>
          <a:bodyPr vert="horz" wrap="square" lIns="0" tIns="0" rIns="0" bIns="0" rtlCol="0">
            <a:spAutoFit/>
          </a:bodyPr>
          <a:lstStyle/>
          <a:p>
            <a:pPr marL="12700">
              <a:lnSpc>
                <a:spcPts val="1845"/>
              </a:lnSpc>
            </a:pPr>
            <a:r>
              <a:rPr lang="en-US" cap="small" spc="-75" dirty="0"/>
              <a:t>Dept.</a:t>
            </a:r>
            <a:r>
              <a:rPr lang="en-US" cap="small" spc="-10" dirty="0"/>
              <a:t> </a:t>
            </a:r>
            <a:r>
              <a:rPr lang="en-US" cap="small" spc="-100" dirty="0"/>
              <a:t>of</a:t>
            </a:r>
            <a:r>
              <a:rPr lang="en-US" cap="small" spc="25" dirty="0"/>
              <a:t> </a:t>
            </a:r>
            <a:r>
              <a:rPr lang="en-US" cap="small" spc="-114" dirty="0"/>
              <a:t>Computer</a:t>
            </a:r>
            <a:r>
              <a:rPr lang="en-US" cap="small" spc="50" dirty="0"/>
              <a:t> </a:t>
            </a:r>
            <a:r>
              <a:rPr lang="en-US" cap="small" spc="-95" dirty="0"/>
              <a:t>Science</a:t>
            </a:r>
            <a:r>
              <a:rPr lang="en-US" cap="small" spc="50" dirty="0"/>
              <a:t> </a:t>
            </a:r>
            <a:r>
              <a:rPr lang="en-US" cap="small" spc="-130" dirty="0"/>
              <a:t>and</a:t>
            </a:r>
            <a:r>
              <a:rPr lang="en-US" cap="small" spc="45" dirty="0"/>
              <a:t> </a:t>
            </a:r>
            <a:r>
              <a:rPr lang="en-US" cap="small" spc="-110" dirty="0"/>
              <a:t>Engineering</a:t>
            </a:r>
            <a:r>
              <a:rPr lang="en-US" cap="small" spc="45" dirty="0"/>
              <a:t> </a:t>
            </a:r>
            <a:r>
              <a:rPr lang="en-US" cap="small" spc="-70" dirty="0"/>
              <a:t>(</a:t>
            </a:r>
            <a:r>
              <a:rPr lang="en-US" cap="small" spc="-70" dirty="0" err="1"/>
              <a:t>AI&amp;ml</a:t>
            </a:r>
            <a:r>
              <a:rPr lang="en-US" cap="small" spc="-95" dirty="0"/>
              <a:t>)</a:t>
            </a:r>
          </a:p>
          <a:p>
            <a:pPr marL="12700">
              <a:lnSpc>
                <a:spcPts val="1845"/>
              </a:lnSpc>
            </a:pPr>
            <a:r>
              <a:rPr cap="small" spc="-95" dirty="0"/>
              <a:t>Science)</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4</a:t>
            </a:fld>
            <a:endParaRPr spc="-25" dirty="0"/>
          </a:p>
        </p:txBody>
      </p:sp>
      <p:sp>
        <p:nvSpPr>
          <p:cNvPr id="10" name="object 10"/>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4" name="TextBox 13">
            <a:extLst>
              <a:ext uri="{FF2B5EF4-FFF2-40B4-BE49-F238E27FC236}">
                <a16:creationId xmlns="" xmlns:a16="http://schemas.microsoft.com/office/drawing/2014/main" id="{4C1451A4-759F-E2B2-5571-50D7B7C9E59F}"/>
              </a:ext>
            </a:extLst>
          </p:cNvPr>
          <p:cNvSpPr txBox="1"/>
          <p:nvPr/>
        </p:nvSpPr>
        <p:spPr>
          <a:xfrm>
            <a:off x="-28224" y="904312"/>
            <a:ext cx="12206113" cy="5632311"/>
          </a:xfrm>
          <a:prstGeom prst="rect">
            <a:avLst/>
          </a:prstGeom>
          <a:noFill/>
        </p:spPr>
        <p:txBody>
          <a:bodyPr wrap="square">
            <a:spAutoFit/>
          </a:bodyPr>
          <a:lstStyle/>
          <a:p>
            <a:pPr marL="0" lvl="0" indent="0" algn="just" defTabSz="914400" eaLnBrk="0" fontAlgn="base" hangingPunct="0">
              <a:spcBef>
                <a:spcPct val="0"/>
              </a:spcBef>
              <a:spcAft>
                <a:spcPct val="0"/>
              </a:spcAft>
              <a:buClrTx/>
              <a:buSzTx/>
              <a:buNone/>
            </a:pPr>
            <a:r>
              <a:rPr lang="en-US" sz="2400" dirty="0">
                <a:latin typeface="Times New Roman" panose="02020603050405020304" pitchFamily="18" charset="0"/>
                <a:cs typeface="Times New Roman" panose="02020603050405020304" pitchFamily="18" charset="0"/>
              </a:rPr>
              <a:t>The Smart Fertilizer Spraying System with Plant Disease Severity Analysis is an automated agricultural robot developed to improve crop management through precision farming. The system uses a Raspberry Pi integrated with a USB camera to capture plant images and analyze disease severity using advanced image processing techniques. Based on the detected severity levels, the system automatically controls the fertilizer spraying process by adjusting the spray duration through three dedicated nozzles, ensuring accurate application while minimizing fertilizer wastage. </a:t>
            </a:r>
          </a:p>
          <a:p>
            <a:pPr marL="0" lvl="0" indent="0" algn="just" defTabSz="914400" eaLnBrk="0" fontAlgn="base" hangingPunct="0">
              <a:spcBef>
                <a:spcPct val="0"/>
              </a:spcBef>
              <a:spcAft>
                <a:spcPct val="0"/>
              </a:spcAft>
              <a:buClrTx/>
              <a:buSzTx/>
              <a:buNone/>
            </a:pPr>
            <a:endParaRPr lang="en-US" sz="2400" dirty="0">
              <a:latin typeface="Times New Roman" panose="02020603050405020304" pitchFamily="18" charset="0"/>
              <a:cs typeface="Times New Roman" panose="02020603050405020304" pitchFamily="18" charset="0"/>
            </a:endParaRPr>
          </a:p>
          <a:p>
            <a:pPr marL="0" lvl="0" indent="0" algn="just" defTabSz="914400" eaLnBrk="0" fontAlgn="base" hangingPunct="0">
              <a:spcBef>
                <a:spcPct val="0"/>
              </a:spcBef>
              <a:spcAft>
                <a:spcPct val="0"/>
              </a:spcAft>
              <a:buClrTx/>
              <a:buSzTx/>
              <a:buNone/>
            </a:pPr>
            <a:r>
              <a:rPr lang="en-US" sz="2400" dirty="0">
                <a:latin typeface="Times New Roman" panose="02020603050405020304" pitchFamily="18" charset="0"/>
                <a:cs typeface="Times New Roman" panose="02020603050405020304" pitchFamily="18" charset="0"/>
              </a:rPr>
              <a:t>An Arduino microcontroller manages the robot’s movement and controls hardware components such as DC motors, water pumps, relays, and the chassis to enable efficient field navigation. The system is powered by a 12V battery supported by a 9V solar panel, providing sustainable and energy-efficient operation. Bluetooth connectivity allows wireless monitoring and control of the system. By integrating plant disease severity detection with intelligent fertilizer management, the proposed system reduces human intervention, optimizes resource utilization, and promotes eco-friendly and sustainable agricultural practices.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A5AF4F7-60A0-8052-A532-FAAF8F770F32}"/>
            </a:ext>
          </a:extLst>
        </p:cNvPr>
        <p:cNvGrpSpPr/>
        <p:nvPr/>
      </p:nvGrpSpPr>
      <p:grpSpPr>
        <a:xfrm>
          <a:off x="0" y="0"/>
          <a:ext cx="0" cy="0"/>
          <a:chOff x="0" y="0"/>
          <a:chExt cx="0" cy="0"/>
        </a:xfrm>
      </p:grpSpPr>
      <p:sp>
        <p:nvSpPr>
          <p:cNvPr id="2" name="object 2">
            <a:extLst>
              <a:ext uri="{FF2B5EF4-FFF2-40B4-BE49-F238E27FC236}">
                <a16:creationId xmlns="" xmlns:a16="http://schemas.microsoft.com/office/drawing/2014/main" id="{BF17AB8C-28FD-416E-B7EA-F84C0D321917}"/>
              </a:ext>
            </a:extLst>
          </p:cNvPr>
          <p:cNvSpPr txBox="1"/>
          <p:nvPr/>
        </p:nvSpPr>
        <p:spPr>
          <a:xfrm>
            <a:off x="3814861" y="0"/>
            <a:ext cx="4562274" cy="250999"/>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 </a:t>
            </a:r>
            <a:endParaRPr sz="1500" dirty="0">
              <a:latin typeface="Times New Roman"/>
              <a:cs typeface="Times New Roman"/>
            </a:endParaRPr>
          </a:p>
        </p:txBody>
      </p:sp>
      <p:grpSp>
        <p:nvGrpSpPr>
          <p:cNvPr id="3" name="object 3">
            <a:extLst>
              <a:ext uri="{FF2B5EF4-FFF2-40B4-BE49-F238E27FC236}">
                <a16:creationId xmlns="" xmlns:a16="http://schemas.microsoft.com/office/drawing/2014/main" id="{9FD2D5D8-2FFC-F7C0-1C82-C95AE79F97A3}"/>
              </a:ext>
            </a:extLst>
          </p:cNvPr>
          <p:cNvGrpSpPr/>
          <p:nvPr/>
        </p:nvGrpSpPr>
        <p:grpSpPr>
          <a:xfrm>
            <a:off x="-2" y="216249"/>
            <a:ext cx="12192000" cy="803910"/>
            <a:chOff x="-2" y="216249"/>
            <a:chExt cx="12192000" cy="803910"/>
          </a:xfrm>
        </p:grpSpPr>
        <p:pic>
          <p:nvPicPr>
            <p:cNvPr id="4" name="object 4">
              <a:extLst>
                <a:ext uri="{FF2B5EF4-FFF2-40B4-BE49-F238E27FC236}">
                  <a16:creationId xmlns="" xmlns:a16="http://schemas.microsoft.com/office/drawing/2014/main" id="{51E6B5A9-CE76-F315-F1C8-B29B33219D72}"/>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955BC3F1-7437-0EC6-2797-23AE2C4A7772}"/>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 xmlns:a16="http://schemas.microsoft.com/office/drawing/2014/main" id="{0093C833-898A-E91C-40A3-1287C9945E2B}"/>
              </a:ext>
            </a:extLst>
          </p:cNvPr>
          <p:cNvSpPr txBox="1">
            <a:spLocks noGrp="1"/>
          </p:cNvSpPr>
          <p:nvPr>
            <p:ph type="title"/>
          </p:nvPr>
        </p:nvSpPr>
        <p:spPr>
          <a:xfrm>
            <a:off x="160070" y="209470"/>
            <a:ext cx="6088329" cy="1367041"/>
          </a:xfrm>
          <a:prstGeom prst="rect">
            <a:avLst/>
          </a:prstGeom>
        </p:spPr>
        <p:txBody>
          <a:bodyPr vert="horz" wrap="square" lIns="0" tIns="12700" rIns="0" bIns="0" rtlCol="0">
            <a:spAutoFit/>
          </a:bodyPr>
          <a:lstStyle/>
          <a:p>
            <a:pPr marL="12700">
              <a:spcBef>
                <a:spcPts val="100"/>
              </a:spcBef>
            </a:pPr>
            <a:r>
              <a:rPr lang="en-US" dirty="0" smtClean="0">
                <a:latin typeface="Times New Roman" panose="02020603050405020304" pitchFamily="18" charset="0"/>
                <a:cs typeface="Times New Roman" panose="02020603050405020304" pitchFamily="18" charset="0"/>
              </a:rPr>
              <a:t>Problem statement               </a:t>
            </a:r>
            <a:br>
              <a:rPr lang="en-US" dirty="0" smtClean="0">
                <a:latin typeface="Times New Roman" panose="02020603050405020304" pitchFamily="18" charset="0"/>
                <a:cs typeface="Times New Roman" panose="02020603050405020304" pitchFamily="18" charset="0"/>
              </a:rPr>
            </a:br>
            <a:endParaRPr spc="-10" dirty="0"/>
          </a:p>
        </p:txBody>
      </p:sp>
      <p:sp>
        <p:nvSpPr>
          <p:cNvPr id="8" name="object 8">
            <a:extLst>
              <a:ext uri="{FF2B5EF4-FFF2-40B4-BE49-F238E27FC236}">
                <a16:creationId xmlns="" xmlns:a16="http://schemas.microsoft.com/office/drawing/2014/main" id="{79BCD00C-EDB6-66A6-2B75-89EE125278C8}"/>
              </a:ext>
            </a:extLst>
          </p:cNvPr>
          <p:cNvSpPr txBox="1">
            <a:spLocks noGrp="1"/>
          </p:cNvSpPr>
          <p:nvPr>
            <p:ph type="ftr" sz="quarter" idx="5"/>
          </p:nvPr>
        </p:nvSpPr>
        <p:spPr>
          <a:xfrm>
            <a:off x="127031" y="6639305"/>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9" name="object 9">
            <a:extLst>
              <a:ext uri="{FF2B5EF4-FFF2-40B4-BE49-F238E27FC236}">
                <a16:creationId xmlns="" xmlns:a16="http://schemas.microsoft.com/office/drawing/2014/main" id="{04894AD3-71EB-A970-E129-2F92F63A2D90}"/>
              </a:ext>
            </a:extLst>
          </p:cNvPr>
          <p:cNvSpPr txBox="1">
            <a:spLocks noGrp="1"/>
          </p:cNvSpPr>
          <p:nvPr>
            <p:ph type="dt" sz="half" idx="6"/>
          </p:nvPr>
        </p:nvSpPr>
        <p:spPr>
          <a:xfrm>
            <a:off x="1123125" y="6629792"/>
            <a:ext cx="496252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0" name="object 10">
            <a:extLst>
              <a:ext uri="{FF2B5EF4-FFF2-40B4-BE49-F238E27FC236}">
                <a16:creationId xmlns="" xmlns:a16="http://schemas.microsoft.com/office/drawing/2014/main" id="{45C498E2-E5A9-DB32-EF6E-1ED81B24E968}"/>
              </a:ext>
            </a:extLst>
          </p:cNvPr>
          <p:cNvSpPr txBox="1"/>
          <p:nvPr/>
        </p:nvSpPr>
        <p:spPr>
          <a:xfrm>
            <a:off x="6809329" y="6651444"/>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a:extLst>
              <a:ext uri="{FF2B5EF4-FFF2-40B4-BE49-F238E27FC236}">
                <a16:creationId xmlns="" xmlns:a16="http://schemas.microsoft.com/office/drawing/2014/main" id="{1EBDED12-5E0F-9CCF-19AE-FA6DE7F2CC52}"/>
              </a:ext>
            </a:extLst>
          </p:cNvPr>
          <p:cNvSpPr txBox="1"/>
          <p:nvPr/>
        </p:nvSpPr>
        <p:spPr>
          <a:xfrm>
            <a:off x="11909611" y="6629309"/>
            <a:ext cx="127000" cy="230832"/>
          </a:xfrm>
          <a:prstGeom prst="rect">
            <a:avLst/>
          </a:prstGeom>
        </p:spPr>
        <p:txBody>
          <a:bodyPr vert="horz" wrap="square" lIns="0" tIns="0" rIns="0" bIns="0" rtlCol="0">
            <a:spAutoFit/>
          </a:bodyPr>
          <a:lstStyle/>
          <a:p>
            <a:pPr marL="12700">
              <a:lnSpc>
                <a:spcPts val="1845"/>
              </a:lnSpc>
            </a:pPr>
            <a:r>
              <a:rPr lang="en-US" sz="1600" b="1" spc="-50" dirty="0">
                <a:solidFill>
                  <a:srgbClr val="002060"/>
                </a:solidFill>
                <a:latin typeface="Times New Roman"/>
                <a:cs typeface="Times New Roman"/>
              </a:rPr>
              <a:t>6</a:t>
            </a:r>
            <a:endParaRPr sz="1600" dirty="0">
              <a:latin typeface="Times New Roman"/>
              <a:cs typeface="Times New Roman"/>
            </a:endParaRPr>
          </a:p>
        </p:txBody>
      </p:sp>
      <p:sp>
        <p:nvSpPr>
          <p:cNvPr id="15" name="TextBox 14">
            <a:extLst>
              <a:ext uri="{FF2B5EF4-FFF2-40B4-BE49-F238E27FC236}">
                <a16:creationId xmlns="" xmlns:a16="http://schemas.microsoft.com/office/drawing/2014/main" id="{06C27353-C81E-6D02-EDD9-9B798985605C}"/>
              </a:ext>
            </a:extLst>
          </p:cNvPr>
          <p:cNvSpPr txBox="1"/>
          <p:nvPr/>
        </p:nvSpPr>
        <p:spPr>
          <a:xfrm>
            <a:off x="155388" y="1108871"/>
            <a:ext cx="12036611" cy="5262979"/>
          </a:xfrm>
          <a:prstGeom prst="rect">
            <a:avLst/>
          </a:prstGeom>
          <a:noFill/>
        </p:spPr>
        <p:txBody>
          <a:bodyPr wrap="square">
            <a:spAutoFit/>
          </a:bodyPr>
          <a:lstStyle/>
          <a:p>
            <a:r>
              <a:rPr lang="en-US" sz="2400" dirty="0" smtClean="0"/>
              <a:t>Plant diseases significantly reduce crop yield and quality, directly affecting farmers income and overall agricultural productivity. Traditional disease monitoring and fertilizer spraying methods are manual, time-consuming, and labor-intensive. Farmers often apply fertilizers or pesticides uniformly across the field without assessing the actual severity of infection. This results in chemical wastage, increased operational costs, and environmental pollution. Continuous monitoring of large agricultural fields is also difficult and inefficient.</a:t>
            </a:r>
          </a:p>
          <a:p>
            <a:endParaRPr lang="en-US" sz="2400" dirty="0" smtClean="0"/>
          </a:p>
          <a:p>
            <a:r>
              <a:rPr lang="en-US" sz="2400" dirty="0" smtClean="0"/>
              <a:t>Therefore, there is a need for an intelligent and automated system that can detect plant diseases in real time, analyze their severity accurately, and spray fertilizer precisely where required. The proposed Smart Fertilizer Spraying Robot aims to support precision agriculture, reduce human effort, minimize chemical usage, and promote sustainable and efficient farming practices.</a:t>
            </a:r>
          </a:p>
          <a:p>
            <a:pPr marL="457200" indent="-457200"/>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868900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8" name="object 8"/>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9" name="object 9"/>
          <p:cNvSpPr txBox="1">
            <a:spLocks noGrp="1"/>
          </p:cNvSpPr>
          <p:nvPr>
            <p:ph type="dt" sz="half" idx="6"/>
          </p:nvPr>
        </p:nvSpPr>
        <p:spPr>
          <a:xfrm>
            <a:off x="1123125" y="6629792"/>
            <a:ext cx="4962525" cy="461665"/>
          </a:xfrm>
          <a:prstGeom prst="rect">
            <a:avLst/>
          </a:prstGeom>
        </p:spPr>
        <p:txBody>
          <a:bodyPr vert="horz" wrap="square" lIns="0" tIns="0" rIns="0" bIns="0" rtlCol="0">
            <a:spAutoFit/>
          </a:bodyPr>
          <a:lstStyle/>
          <a:p>
            <a:pPr marL="12700">
              <a:lnSpc>
                <a:spcPts val="1845"/>
              </a:lnSpc>
            </a:pPr>
            <a:r>
              <a:rPr lang="en-US" cap="small" spc="-75" dirty="0"/>
              <a:t>Dept.</a:t>
            </a:r>
            <a:r>
              <a:rPr lang="en-US" cap="small" spc="-10" dirty="0"/>
              <a:t> </a:t>
            </a:r>
            <a:r>
              <a:rPr lang="en-US" cap="small" spc="-100" dirty="0"/>
              <a:t>of</a:t>
            </a:r>
            <a:r>
              <a:rPr lang="en-US" cap="small" spc="25" dirty="0"/>
              <a:t> </a:t>
            </a:r>
            <a:r>
              <a:rPr lang="en-US" cap="small" spc="-114" dirty="0"/>
              <a:t>Computer</a:t>
            </a:r>
            <a:r>
              <a:rPr lang="en-US" cap="small" spc="50" dirty="0"/>
              <a:t> </a:t>
            </a:r>
            <a:r>
              <a:rPr lang="en-US" cap="small" spc="-95" dirty="0"/>
              <a:t>Science</a:t>
            </a:r>
            <a:r>
              <a:rPr lang="en-US" cap="small" spc="50" dirty="0"/>
              <a:t> </a:t>
            </a:r>
            <a:r>
              <a:rPr lang="en-US" cap="small" spc="-130" dirty="0"/>
              <a:t>and</a:t>
            </a:r>
            <a:r>
              <a:rPr lang="en-US" cap="small" spc="45" dirty="0"/>
              <a:t> </a:t>
            </a:r>
            <a:r>
              <a:rPr lang="en-US" cap="small" spc="-110" dirty="0"/>
              <a:t>Engineering</a:t>
            </a:r>
            <a:r>
              <a:rPr lang="en-US" cap="small" spc="45" dirty="0"/>
              <a:t> </a:t>
            </a:r>
            <a:r>
              <a:rPr lang="en-US" cap="small" spc="-70" dirty="0"/>
              <a:t>(</a:t>
            </a:r>
            <a:r>
              <a:rPr lang="en-US" cap="small" spc="-70" dirty="0" err="1"/>
              <a:t>AI&amp;ml</a:t>
            </a:r>
            <a:r>
              <a:rPr lang="en-US" cap="small" spc="-95" dirty="0"/>
              <a:t>)</a:t>
            </a:r>
          </a:p>
          <a:p>
            <a:pPr marL="12700">
              <a:lnSpc>
                <a:spcPts val="1845"/>
              </a:lnSpc>
            </a:pPr>
            <a:endParaRPr cap="small" spc="-95" dirty="0"/>
          </a:p>
        </p:txBody>
      </p:sp>
      <p:sp>
        <p:nvSpPr>
          <p:cNvPr id="10" name="object 10"/>
          <p:cNvSpPr txBox="1"/>
          <p:nvPr/>
        </p:nvSpPr>
        <p:spPr>
          <a:xfrm>
            <a:off x="7147577" y="6629311"/>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6</a:t>
            </a:fld>
            <a:endParaRPr spc="-25" dirty="0"/>
          </a:p>
        </p:txBody>
      </p:sp>
      <p:sp>
        <p:nvSpPr>
          <p:cNvPr id="13" name="Rectangle 12">
            <a:extLst>
              <a:ext uri="{FF2B5EF4-FFF2-40B4-BE49-F238E27FC236}">
                <a16:creationId xmlns="" xmlns:a16="http://schemas.microsoft.com/office/drawing/2014/main" id="{D1C4E9E8-EE25-1745-B030-5644C2327CEE}"/>
              </a:ext>
            </a:extLst>
          </p:cNvPr>
          <p:cNvSpPr/>
          <p:nvPr/>
        </p:nvSpPr>
        <p:spPr>
          <a:xfrm>
            <a:off x="11460148" y="5939532"/>
            <a:ext cx="685800" cy="6857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a:solidFill>
                  <a:schemeClr val="bg1"/>
                </a:solidFill>
              </a:ln>
            </a:endParaRPr>
          </a:p>
        </p:txBody>
      </p:sp>
      <p:sp>
        <p:nvSpPr>
          <p:cNvPr id="12" name="TextBox 11">
            <a:extLst>
              <a:ext uri="{FF2B5EF4-FFF2-40B4-BE49-F238E27FC236}">
                <a16:creationId xmlns="" xmlns:a16="http://schemas.microsoft.com/office/drawing/2014/main" id="{54DC6A21-A96F-02AA-6030-BED8C9E2DB5C}"/>
              </a:ext>
            </a:extLst>
          </p:cNvPr>
          <p:cNvSpPr txBox="1"/>
          <p:nvPr/>
        </p:nvSpPr>
        <p:spPr>
          <a:xfrm>
            <a:off x="35560" y="989150"/>
            <a:ext cx="11477823" cy="5570756"/>
          </a:xfrm>
          <a:prstGeom prst="rect">
            <a:avLst/>
          </a:prstGeom>
          <a:noFill/>
        </p:spPr>
        <p:txBody>
          <a:bodyPr wrap="square" rtlCol="0">
            <a:spAutoFit/>
          </a:bodyPr>
          <a:lstStyle/>
          <a:p>
            <a:pPr algn="just"/>
            <a:r>
              <a:rPr lang="en-US" sz="2400" dirty="0" smtClean="0"/>
              <a:t>    The main objective of this project is to design and develop a smart robotic system for automatic crop monitoring and plant disease management. The system aims to detect plant diseases in real time using image processing techniques and calculate the percentage of infected area to determine the severity level. Based on the severity analysis, the robot will automatically control fertilizer spraying to ensure precise and need-based application. Another objective is to reduce chemical wastage and minimize environmental impact through controlled spraying. The project also focuses on integrating Raspberry Pi for image processing and </a:t>
            </a:r>
            <a:r>
              <a:rPr lang="en-US" sz="2400" dirty="0" err="1" smtClean="0"/>
              <a:t>Arduino</a:t>
            </a:r>
            <a:r>
              <a:rPr lang="en-US" sz="2400" dirty="0" smtClean="0"/>
              <a:t> for motor and pump control to ensure efficient system operation. Smooth robotic navigation across plant rows and wireless monitoring through Bluetooth communication are included to enhance usability. Additionally, the system ensures efficient power management using a rechargeable battery. Overall, the project aims to improve agricultural productivity through automation and precision farming techniques.</a:t>
            </a:r>
          </a:p>
          <a:p>
            <a:pPr marL="0" indent="0" algn="just">
              <a:buNone/>
            </a:pPr>
            <a:endParaRPr lang="en-US" sz="2000" b="1" dirty="0">
              <a:latin typeface="Times New Roman" panose="02020603050405020304" pitchFamily="18" charset="0"/>
              <a:cs typeface="Times New Roman" panose="02020603050405020304" pitchFamily="18" charset="0"/>
            </a:endParaRPr>
          </a:p>
        </p:txBody>
      </p:sp>
      <p:sp>
        <p:nvSpPr>
          <p:cNvPr id="14" name="Title 13"/>
          <p:cNvSpPr>
            <a:spLocks noGrp="1"/>
          </p:cNvSpPr>
          <p:nvPr>
            <p:ph type="title"/>
          </p:nvPr>
        </p:nvSpPr>
        <p:spPr>
          <a:xfrm>
            <a:off x="73025" y="304800"/>
            <a:ext cx="3888104" cy="609600"/>
          </a:xfrm>
        </p:spPr>
        <p:txBody>
          <a:bodyPr/>
          <a:lstStyle/>
          <a:p>
            <a:r>
              <a:rPr lang="en-US" dirty="0" smtClean="0">
                <a:latin typeface="Times New Roman" panose="02020603050405020304" pitchFamily="18" charset="0"/>
                <a:cs typeface="Times New Roman" panose="02020603050405020304" pitchFamily="18" charset="0"/>
              </a:rPr>
              <a:t>Objectives</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6043" y="236269"/>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236964" y="160487"/>
            <a:ext cx="3888104" cy="695960"/>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US" dirty="0" smtClean="0">
                <a:latin typeface="Times New Roman" panose="02020603050405020304" pitchFamily="18" charset="0"/>
                <a:cs typeface="Times New Roman" panose="02020603050405020304" pitchFamily="18" charset="0"/>
              </a:rPr>
              <a:t>Methodology</a:t>
            </a:r>
            <a:endParaRPr spc="-10" dirty="0"/>
          </a:p>
        </p:txBody>
      </p:sp>
      <p:sp>
        <p:nvSpPr>
          <p:cNvPr id="8" name="object 8"/>
          <p:cNvSpPr txBox="1">
            <a:spLocks noGrp="1"/>
          </p:cNvSpPr>
          <p:nvPr>
            <p:ph type="ftr" sz="quarter" idx="5"/>
          </p:nvPr>
        </p:nvSpPr>
        <p:spPr>
          <a:xfrm>
            <a:off x="152400"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7</a:t>
            </a:fld>
            <a:endParaRPr spc="-25" dirty="0"/>
          </a:p>
        </p:txBody>
      </p:sp>
      <p:sp>
        <p:nvSpPr>
          <p:cNvPr id="12" name="object 9">
            <a:extLst>
              <a:ext uri="{FF2B5EF4-FFF2-40B4-BE49-F238E27FC236}">
                <a16:creationId xmlns="" xmlns:a16="http://schemas.microsoft.com/office/drawing/2014/main" id="{B1B108D8-7176-DFD3-DD76-56EF66D0F76D}"/>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9" name="TextBox 8">
            <a:extLst>
              <a:ext uri="{FF2B5EF4-FFF2-40B4-BE49-F238E27FC236}">
                <a16:creationId xmlns="" xmlns:a16="http://schemas.microsoft.com/office/drawing/2014/main" id="{7288F165-7028-955D-D6CC-432D2AE064DE}"/>
              </a:ext>
            </a:extLst>
          </p:cNvPr>
          <p:cNvSpPr txBox="1"/>
          <p:nvPr/>
        </p:nvSpPr>
        <p:spPr>
          <a:xfrm>
            <a:off x="0" y="1094897"/>
            <a:ext cx="12191999" cy="5632311"/>
          </a:xfrm>
          <a:prstGeom prst="rect">
            <a:avLst/>
          </a:prstGeom>
          <a:noFill/>
        </p:spPr>
        <p:txBody>
          <a:bodyPr wrap="square">
            <a:spAutoFit/>
          </a:bodyPr>
          <a:lstStyle/>
          <a:p>
            <a:r>
              <a:rPr lang="en-US" sz="2400" dirty="0" smtClean="0"/>
              <a:t>The Smart Fertilizer Spraying Robot begins its operation by initializing all hardware components including the Raspberry Pi, </a:t>
            </a:r>
            <a:r>
              <a:rPr lang="en-US" sz="2400" dirty="0" err="1" smtClean="0"/>
              <a:t>Arduino</a:t>
            </a:r>
            <a:r>
              <a:rPr lang="en-US" sz="2400" dirty="0" smtClean="0"/>
              <a:t>, USB camera, DC motors, water pump, relay module, Bluetooth module, and rechargeable battery. Proper communication is established between the Raspberry Pi and </a:t>
            </a:r>
            <a:r>
              <a:rPr lang="en-US" sz="2400" dirty="0" err="1" smtClean="0"/>
              <a:t>Arduino</a:t>
            </a:r>
            <a:r>
              <a:rPr lang="en-US" sz="2400" dirty="0" smtClean="0"/>
              <a:t> for coordinated functioning. As the robot moves along the crop rows, the camera captures real-time images of the plants. These images are processed by the Raspberry Pi using preprocessing techniques such as resizing, noise removal, and color conversion to enhance image quality.</a:t>
            </a:r>
          </a:p>
          <a:p>
            <a:endParaRPr lang="en-US" sz="2400" dirty="0" smtClean="0"/>
          </a:p>
          <a:p>
            <a:r>
              <a:rPr lang="en-US" sz="2400" dirty="0"/>
              <a:t> </a:t>
            </a:r>
            <a:r>
              <a:rPr lang="en-US" sz="2400" dirty="0" smtClean="0"/>
              <a:t>    Image segmentation and </a:t>
            </a:r>
            <a:r>
              <a:rPr lang="en-US" sz="2400" dirty="0" err="1" smtClean="0"/>
              <a:t>thresholding</a:t>
            </a:r>
            <a:r>
              <a:rPr lang="en-US" sz="2400" dirty="0" smtClean="0"/>
              <a:t> methods are then applied to detect infected regions and calculate the percentage of affected area. Based on the severity level (Low, Medium, or High), control signals are sent to the </a:t>
            </a:r>
            <a:r>
              <a:rPr lang="en-US" sz="2400" dirty="0" err="1" smtClean="0"/>
              <a:t>Arduino</a:t>
            </a:r>
            <a:r>
              <a:rPr lang="en-US" sz="2400" dirty="0" smtClean="0"/>
              <a:t> to regulate the pump and adjust the spraying duration accordingly. If no disease is detected, the robot continues its movement without spraying. This integrated process ensures accurate disease detection, precise fertilizer application, and efficient coverage of the agricultural field.</a:t>
            </a:r>
          </a:p>
          <a:p>
            <a:pPr algn="just"/>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3"/>
          <p:cNvGrpSpPr/>
          <p:nvPr/>
        </p:nvGrpSpPr>
        <p:grpSpPr>
          <a:xfrm>
            <a:off x="-26043" y="236269"/>
            <a:ext cx="12192000" cy="678131"/>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236964" y="160487"/>
            <a:ext cx="7383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US" spc="-10" dirty="0" smtClean="0"/>
              <a:t>Implementation </a:t>
            </a:r>
            <a:r>
              <a:rPr lang="en-US" spc="-10" dirty="0" smtClean="0"/>
              <a:t>details</a:t>
            </a:r>
            <a:endParaRPr spc="-10" dirty="0"/>
          </a:p>
        </p:txBody>
      </p:sp>
      <p:sp>
        <p:nvSpPr>
          <p:cNvPr id="8" name="object 8"/>
          <p:cNvSpPr txBox="1">
            <a:spLocks noGrp="1"/>
          </p:cNvSpPr>
          <p:nvPr>
            <p:ph type="ftr" sz="quarter" idx="5"/>
          </p:nvPr>
        </p:nvSpPr>
        <p:spPr>
          <a:xfrm>
            <a:off x="152400"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8</a:t>
            </a:fld>
            <a:endParaRPr spc="-25" dirty="0"/>
          </a:p>
        </p:txBody>
      </p:sp>
      <p:sp>
        <p:nvSpPr>
          <p:cNvPr id="12" name="object 9">
            <a:extLst>
              <a:ext uri="{FF2B5EF4-FFF2-40B4-BE49-F238E27FC236}">
                <a16:creationId xmlns="" xmlns:a16="http://schemas.microsoft.com/office/drawing/2014/main" id="{B1B108D8-7176-DFD3-DD76-56EF66D0F76D}"/>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9" name="TextBox 8">
            <a:extLst>
              <a:ext uri="{FF2B5EF4-FFF2-40B4-BE49-F238E27FC236}">
                <a16:creationId xmlns="" xmlns:a16="http://schemas.microsoft.com/office/drawing/2014/main" id="{7288F165-7028-955D-D6CC-432D2AE064DE}"/>
              </a:ext>
            </a:extLst>
          </p:cNvPr>
          <p:cNvSpPr txBox="1"/>
          <p:nvPr/>
        </p:nvSpPr>
        <p:spPr>
          <a:xfrm>
            <a:off x="0" y="762000"/>
            <a:ext cx="12191999" cy="6370975"/>
          </a:xfrm>
          <a:prstGeom prst="rect">
            <a:avLst/>
          </a:prstGeom>
          <a:noFill/>
        </p:spPr>
        <p:txBody>
          <a:bodyPr wrap="square">
            <a:spAutoFit/>
          </a:bodyPr>
          <a:lstStyle/>
          <a:p>
            <a:r>
              <a:rPr lang="en-US" sz="2400" dirty="0" smtClean="0"/>
              <a:t>The Smart Fertilizer Spraying Robot is implemented using an integrated Raspberry Pi and </a:t>
            </a:r>
            <a:r>
              <a:rPr lang="en-US" sz="2400" dirty="0" err="1" smtClean="0"/>
              <a:t>Arduino</a:t>
            </a:r>
            <a:r>
              <a:rPr lang="en-US" sz="2400" dirty="0" smtClean="0"/>
              <a:t> architecture. Plant disease detection is performed using </a:t>
            </a:r>
            <a:r>
              <a:rPr lang="en-US" sz="2400" b="1" dirty="0" smtClean="0"/>
              <a:t>YOLOv8</a:t>
            </a:r>
            <a:r>
              <a:rPr lang="en-US" sz="2400" dirty="0" smtClean="0"/>
              <a:t>, which enables fast and real-time object detection instead of using a traditional CNN model. A custom dataset of plant images is collected and trained, achieving approximately </a:t>
            </a:r>
            <a:r>
              <a:rPr lang="en-US" sz="2400" b="1" dirty="0" smtClean="0"/>
              <a:t>80% detection accuracy</a:t>
            </a:r>
            <a:r>
              <a:rPr lang="en-US" sz="2400" dirty="0" smtClean="0"/>
              <a:t>.</a:t>
            </a:r>
          </a:p>
          <a:p>
            <a:r>
              <a:rPr lang="en-US" sz="2400" dirty="0" smtClean="0"/>
              <a:t>The Raspberry Pi processes images captured from the camera and determines the disease severity level. Based on the severity classification, control signals are sent to the </a:t>
            </a:r>
            <a:r>
              <a:rPr lang="en-US" sz="2400" dirty="0" err="1" smtClean="0"/>
              <a:t>Arduino</a:t>
            </a:r>
            <a:r>
              <a:rPr lang="en-US" sz="2400" dirty="0" smtClean="0"/>
              <a:t> for spraying action. The fertilizer spraying system is controlled using a relay module that activates the water pump. The spraying duration is set according to severity levels: </a:t>
            </a:r>
            <a:r>
              <a:rPr lang="en-US" sz="2400" b="1" dirty="0" smtClean="0"/>
              <a:t>High severity – 7 seconds</a:t>
            </a:r>
            <a:r>
              <a:rPr lang="en-US" sz="2400" dirty="0" smtClean="0"/>
              <a:t>, </a:t>
            </a:r>
            <a:r>
              <a:rPr lang="en-US" sz="2400" b="1" dirty="0" smtClean="0"/>
              <a:t>Medium severity – 5 seconds</a:t>
            </a:r>
            <a:r>
              <a:rPr lang="en-US" sz="2400" dirty="0" smtClean="0"/>
              <a:t>, and </a:t>
            </a:r>
            <a:r>
              <a:rPr lang="en-US" sz="2400" b="1" dirty="0" smtClean="0"/>
              <a:t>Low severity – 2 seconds</a:t>
            </a:r>
            <a:r>
              <a:rPr lang="en-US" sz="2400" dirty="0" smtClean="0"/>
              <a:t>.</a:t>
            </a:r>
          </a:p>
          <a:p>
            <a:r>
              <a:rPr lang="en-US" sz="2400" dirty="0" smtClean="0"/>
              <a:t>Bluetooth communication is used to interact with the </a:t>
            </a:r>
            <a:r>
              <a:rPr lang="en-US" sz="2400" dirty="0" err="1" smtClean="0"/>
              <a:t>Arduino</a:t>
            </a:r>
            <a:r>
              <a:rPr lang="en-US" sz="2400" dirty="0" smtClean="0"/>
              <a:t> for wireless control and monitoring. For interfacing and accessing the Raspberry Pi remotely, </a:t>
            </a:r>
            <a:r>
              <a:rPr lang="en-US" sz="2400" b="1" dirty="0" smtClean="0"/>
              <a:t>VNC Viewer</a:t>
            </a:r>
            <a:r>
              <a:rPr lang="en-US" sz="2400" dirty="0" smtClean="0"/>
              <a:t> is used to execute and monitor the YOLOv8 detection model. This implementation ensures precise spraying, real-time detection, and efficient coordination between hardware and software components.</a:t>
            </a:r>
          </a:p>
          <a:p>
            <a:pPr algn="just"/>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3"/>
          <p:cNvGrpSpPr/>
          <p:nvPr/>
        </p:nvGrpSpPr>
        <p:grpSpPr>
          <a:xfrm>
            <a:off x="-26043" y="236269"/>
            <a:ext cx="12192000" cy="678131"/>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236964" y="160487"/>
            <a:ext cx="7383036" cy="1367041"/>
          </a:xfrm>
          <a:prstGeom prst="rect">
            <a:avLst/>
          </a:prstGeom>
        </p:spPr>
        <p:txBody>
          <a:bodyPr vert="horz" wrap="square" lIns="0" tIns="12700" rIns="0" bIns="0" rtlCol="0">
            <a:spAutoFit/>
          </a:bodyPr>
          <a:lstStyle/>
          <a:p>
            <a:pPr marL="12700">
              <a:spcBef>
                <a:spcPts val="100"/>
              </a:spcBef>
              <a:tabLst>
                <a:tab pos="2232025" algn="l"/>
              </a:tabLst>
            </a:pPr>
            <a:r>
              <a:rPr lang="en-US" dirty="0" smtClean="0">
                <a:latin typeface="Times New Roman" panose="02020603050405020304" pitchFamily="18" charset="0"/>
                <a:cs typeface="Times New Roman" panose="02020603050405020304" pitchFamily="18" charset="0"/>
              </a:rPr>
              <a:t>Expected outcomes / Results</a:t>
            </a:r>
            <a:br>
              <a:rPr lang="en-US" dirty="0" smtClean="0">
                <a:latin typeface="Times New Roman" panose="02020603050405020304" pitchFamily="18" charset="0"/>
                <a:cs typeface="Times New Roman" panose="02020603050405020304" pitchFamily="18" charset="0"/>
              </a:rPr>
            </a:br>
            <a:endParaRPr spc="-10" dirty="0"/>
          </a:p>
        </p:txBody>
      </p:sp>
      <p:sp>
        <p:nvSpPr>
          <p:cNvPr id="8" name="object 8"/>
          <p:cNvSpPr txBox="1">
            <a:spLocks noGrp="1"/>
          </p:cNvSpPr>
          <p:nvPr>
            <p:ph type="ftr" sz="quarter" idx="5"/>
          </p:nvPr>
        </p:nvSpPr>
        <p:spPr>
          <a:xfrm>
            <a:off x="152400"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9</a:t>
            </a:fld>
            <a:endParaRPr spc="-25" dirty="0"/>
          </a:p>
        </p:txBody>
      </p:sp>
      <p:sp>
        <p:nvSpPr>
          <p:cNvPr id="12" name="object 9">
            <a:extLst>
              <a:ext uri="{FF2B5EF4-FFF2-40B4-BE49-F238E27FC236}">
                <a16:creationId xmlns="" xmlns:a16="http://schemas.microsoft.com/office/drawing/2014/main" id="{B1B108D8-7176-DFD3-DD76-56EF66D0F76D}"/>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9" name="TextBox 8">
            <a:extLst>
              <a:ext uri="{FF2B5EF4-FFF2-40B4-BE49-F238E27FC236}">
                <a16:creationId xmlns="" xmlns:a16="http://schemas.microsoft.com/office/drawing/2014/main" id="{7288F165-7028-955D-D6CC-432D2AE064DE}"/>
              </a:ext>
            </a:extLst>
          </p:cNvPr>
          <p:cNvSpPr txBox="1"/>
          <p:nvPr/>
        </p:nvSpPr>
        <p:spPr>
          <a:xfrm>
            <a:off x="0" y="762000"/>
            <a:ext cx="12191999" cy="6370975"/>
          </a:xfrm>
          <a:prstGeom prst="rect">
            <a:avLst/>
          </a:prstGeom>
          <a:noFill/>
        </p:spPr>
        <p:txBody>
          <a:bodyPr wrap="square">
            <a:spAutoFit/>
          </a:bodyPr>
          <a:lstStyle/>
          <a:p>
            <a:r>
              <a:rPr lang="en-US" sz="2400" dirty="0" smtClean="0"/>
              <a:t>The expected outcome of this project is the successful development of a Smart Fertilizer Spraying Robot capable of detecting plant diseases in real time using the YOLOv8 model with approximately 80% accuracy. The system should accurately identify infected plants and classify disease severity into Low, Medium, and High categories based on the affected area.</a:t>
            </a:r>
          </a:p>
          <a:p>
            <a:endParaRPr lang="en-US" sz="2400" dirty="0" smtClean="0"/>
          </a:p>
          <a:p>
            <a:r>
              <a:rPr lang="en-US" sz="2400" dirty="0" smtClean="0"/>
              <a:t>Based on the severity level, the robot will automatically control fertilizer spraying duration—2 seconds for Low, 5 seconds for Medium, and 7 seconds for High severity—using a relay-controlled pump mechanism. This ensures precise and need-based fertilizer application, reducing chemical wastage and environmental impact.</a:t>
            </a:r>
          </a:p>
          <a:p>
            <a:endParaRPr lang="en-US" sz="2400" dirty="0" smtClean="0"/>
          </a:p>
          <a:p>
            <a:r>
              <a:rPr lang="en-US" sz="2400" dirty="0" smtClean="0"/>
              <a:t>The robot is expected to move smoothly across plant rows while continuously monitoring crops. Wireless communication through Bluetooth and remote monitoring via VNC Viewer will allow effective system control. Overall, the project aims to improve crop health, reduce manual effort, minimize operational costs, and enhance agricultural productivity through automation and precision farming.</a:t>
            </a:r>
          </a:p>
          <a:p>
            <a:pPr algn="just"/>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5EB3A63-8396-ED2F-3CD9-A1072F422C78}"/>
            </a:ext>
          </a:extLst>
        </p:cNvPr>
        <p:cNvGrpSpPr/>
        <p:nvPr/>
      </p:nvGrpSpPr>
      <p:grpSpPr>
        <a:xfrm>
          <a:off x="0" y="0"/>
          <a:ext cx="0" cy="0"/>
          <a:chOff x="0" y="0"/>
          <a:chExt cx="0" cy="0"/>
        </a:xfrm>
      </p:grpSpPr>
      <p:grpSp>
        <p:nvGrpSpPr>
          <p:cNvPr id="3" name="object 3">
            <a:extLst>
              <a:ext uri="{FF2B5EF4-FFF2-40B4-BE49-F238E27FC236}">
                <a16:creationId xmlns="" xmlns:a16="http://schemas.microsoft.com/office/drawing/2014/main" id="{981F7BDF-4C8A-7955-4BA1-CE016E88645C}"/>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AF5F28A8-2C54-6EEB-C12C-7F6EC2E9761E}"/>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C6481701-C883-1054-6589-3DBCEBD5825C}"/>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 xmlns:a16="http://schemas.microsoft.com/office/drawing/2014/main" id="{86C995E1-22B1-7E29-9C45-39FC942CF8A0}"/>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Components</a:t>
            </a:r>
            <a:endParaRPr spc="-10" dirty="0"/>
          </a:p>
        </p:txBody>
      </p:sp>
      <p:sp>
        <p:nvSpPr>
          <p:cNvPr id="10" name="object 10">
            <a:extLst>
              <a:ext uri="{FF2B5EF4-FFF2-40B4-BE49-F238E27FC236}">
                <a16:creationId xmlns="" xmlns:a16="http://schemas.microsoft.com/office/drawing/2014/main" id="{7AD41838-7DF3-4062-9FDE-010B8FE121E9}"/>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069C1D68-81B2-5232-455E-AFC5349FB386}"/>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10</a:t>
            </a:fld>
            <a:endParaRPr spc="-25" dirty="0"/>
          </a:p>
        </p:txBody>
      </p:sp>
      <p:sp>
        <p:nvSpPr>
          <p:cNvPr id="7" name="object 7">
            <a:extLst>
              <a:ext uri="{FF2B5EF4-FFF2-40B4-BE49-F238E27FC236}">
                <a16:creationId xmlns="" xmlns:a16="http://schemas.microsoft.com/office/drawing/2014/main" id="{6A6B85BB-B8C4-F7A9-7E28-493B24BCADCF}"/>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 xmlns:a16="http://schemas.microsoft.com/office/drawing/2014/main" id="{A3C6434D-A982-D362-BB7A-2465AFDDEABE}"/>
              </a:ext>
            </a:extLst>
          </p:cNvPr>
          <p:cNvSpPr txBox="1">
            <a:spLocks noGrp="1"/>
          </p:cNvSpPr>
          <p:nvPr>
            <p:ph type="dt" sz="half" idx="6"/>
          </p:nvPr>
        </p:nvSpPr>
        <p:spPr>
          <a:xfrm>
            <a:off x="1179017" y="6648359"/>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4" name="TextBox 13">
            <a:extLst>
              <a:ext uri="{FF2B5EF4-FFF2-40B4-BE49-F238E27FC236}">
                <a16:creationId xmlns="" xmlns:a16="http://schemas.microsoft.com/office/drawing/2014/main" id="{E0AC08FB-EDB3-04A0-4EAA-FEB4F7340427}"/>
              </a:ext>
            </a:extLst>
          </p:cNvPr>
          <p:cNvSpPr txBox="1"/>
          <p:nvPr/>
        </p:nvSpPr>
        <p:spPr>
          <a:xfrm flipH="1">
            <a:off x="0" y="1115843"/>
            <a:ext cx="4905871" cy="5940088"/>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Hardware Components: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Raspberry pi</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Memory card</a:t>
            </a:r>
          </a:p>
          <a:p>
            <a:pPr marL="342900" indent="-342900">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Usb</a:t>
            </a:r>
            <a:r>
              <a:rPr lang="en-IN" sz="2000" dirty="0">
                <a:latin typeface="Times New Roman" panose="02020603050405020304" pitchFamily="18" charset="0"/>
                <a:cs typeface="Times New Roman" panose="02020603050405020304" pitchFamily="18" charset="0"/>
              </a:rPr>
              <a:t> web camera</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Arduino</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Solar panel 9v</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Led</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Dc motor 2</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Robot chassis</a:t>
            </a:r>
          </a:p>
          <a:p>
            <a:pPr marL="342900" indent="-342900"/>
            <a:r>
              <a:rPr lang="en-IN" sz="2000" dirty="0">
                <a:latin typeface="Times New Roman" panose="02020603050405020304" pitchFamily="18" charset="0"/>
                <a:cs typeface="Times New Roman" panose="02020603050405020304" pitchFamily="18" charset="0"/>
              </a:rPr>
              <a:t>      Wheels-4</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dc water pump-3</a:t>
            </a:r>
          </a:p>
          <a:p>
            <a:pPr marL="171450" indent="-1714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motor driver</a:t>
            </a:r>
          </a:p>
          <a:p>
            <a:pPr marL="171450" indent="-1714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relay-3</a:t>
            </a:r>
            <a:endParaRPr lang="en-IN" sz="20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nozzle spraying-3</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Bluetooth module</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12v Battery</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12v Adapter 2 amp</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 xmlns:a16="http://schemas.microsoft.com/office/drawing/2014/main" id="{697F5360-7B2D-D141-D94F-1D81DBAB86CC}"/>
              </a:ext>
            </a:extLst>
          </p:cNvPr>
          <p:cNvSpPr txBox="1"/>
          <p:nvPr/>
        </p:nvSpPr>
        <p:spPr>
          <a:xfrm>
            <a:off x="4289851" y="1262034"/>
            <a:ext cx="2857726" cy="1631216"/>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Software Components:</a:t>
            </a:r>
          </a:p>
          <a:p>
            <a:pPr marL="342900" indent="-342900">
              <a:buFont typeface="Arial" panose="020B0604020202020204" pitchFamily="34" charset="0"/>
              <a:buChar char="•"/>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Arduino IDE</a:t>
            </a:r>
          </a:p>
          <a:p>
            <a:pPr marL="342900" indent="-342900">
              <a:buFont typeface="Arial" panose="020B0604020202020204" pitchFamily="34" charset="0"/>
              <a:buChar char="•"/>
            </a:pPr>
            <a:r>
              <a:rPr lang="en-US" sz="2000" dirty="0">
                <a:latin typeface="Times New Roman" panose="02020603050405020304" pitchFamily="18" charset="0"/>
                <a:ea typeface="Calibri" panose="020F0502020204030204" pitchFamily="34" charset="0"/>
                <a:cs typeface="Times New Roman" panose="02020603050405020304" pitchFamily="18" charset="0"/>
              </a:rPr>
              <a:t>Embedded C</a:t>
            </a:r>
          </a:p>
          <a:p>
            <a:pPr marL="342900" indent="-342900">
              <a:buFont typeface="Arial" panose="020B0604020202020204" pitchFamily="34" charset="0"/>
              <a:buChar char="•"/>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python</a:t>
            </a:r>
          </a:p>
          <a:p>
            <a:pPr marL="342900" indent="-342900">
              <a:buFont typeface="Arial" panose="020B0604020202020204" pitchFamily="34" charset="0"/>
              <a:buChar char="•"/>
            </a:pPr>
            <a:endParaRPr lang="en-IN" sz="20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 xmlns:a16="http://schemas.microsoft.com/office/drawing/2014/main" id="{D89B072C-28A9-0686-A994-4865CC0B849E}"/>
              </a:ext>
            </a:extLst>
          </p:cNvPr>
          <p:cNvSpPr txBox="1"/>
          <p:nvPr/>
        </p:nvSpPr>
        <p:spPr>
          <a:xfrm>
            <a:off x="104577" y="6558990"/>
            <a:ext cx="6140450" cy="369332"/>
          </a:xfrm>
          <a:prstGeom prst="rect">
            <a:avLst/>
          </a:prstGeom>
          <a:noFill/>
        </p:spPr>
        <p:txBody>
          <a:bodyPr wrap="square">
            <a:spAutoFit/>
          </a:bodyPr>
          <a:lstStyle/>
          <a:p>
            <a:r>
              <a:rPr lang="en-US" dirty="0">
                <a:solidFill>
                  <a:schemeClr val="bg1"/>
                </a:solidFill>
              </a:rPr>
              <a:t>B-10</a:t>
            </a:r>
            <a:endParaRPr lang="en-US" dirty="0"/>
          </a:p>
        </p:txBody>
      </p:sp>
    </p:spTree>
    <p:extLst>
      <p:ext uri="{BB962C8B-B14F-4D97-AF65-F5344CB8AC3E}">
        <p14:creationId xmlns="" xmlns:p14="http://schemas.microsoft.com/office/powerpoint/2010/main" val="3638191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04AF259-3B4B-A37A-97F7-3AF71A23E972}"/>
            </a:ext>
          </a:extLst>
        </p:cNvPr>
        <p:cNvGrpSpPr/>
        <p:nvPr/>
      </p:nvGrpSpPr>
      <p:grpSpPr>
        <a:xfrm>
          <a:off x="0" y="0"/>
          <a:ext cx="0" cy="0"/>
          <a:chOff x="0" y="0"/>
          <a:chExt cx="0" cy="0"/>
        </a:xfrm>
      </p:grpSpPr>
      <p:grpSp>
        <p:nvGrpSpPr>
          <p:cNvPr id="3" name="object 3">
            <a:extLst>
              <a:ext uri="{FF2B5EF4-FFF2-40B4-BE49-F238E27FC236}">
                <a16:creationId xmlns="" xmlns:a16="http://schemas.microsoft.com/office/drawing/2014/main" id="{EAA0EF37-F1E2-E580-2F9F-ECE57DE8BA99}"/>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CA6B44FF-7666-C144-0DED-710CC5C5589E}"/>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B6864B97-2F29-AABE-D904-02920B98ADBF}"/>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 xmlns:a16="http://schemas.microsoft.com/office/drawing/2014/main" id="{812DCE22-A6A1-C93D-76B5-648DFDB3CA25}"/>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Components</a:t>
            </a:r>
            <a:endParaRPr spc="-10" dirty="0"/>
          </a:p>
        </p:txBody>
      </p:sp>
      <p:sp>
        <p:nvSpPr>
          <p:cNvPr id="8" name="object 8">
            <a:extLst>
              <a:ext uri="{FF2B5EF4-FFF2-40B4-BE49-F238E27FC236}">
                <a16:creationId xmlns="" xmlns:a16="http://schemas.microsoft.com/office/drawing/2014/main" id="{B40DC9DC-F0DB-D21D-F088-B85941023D16}"/>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 xmlns:a16="http://schemas.microsoft.com/office/drawing/2014/main" id="{4BF77F90-AA16-0F3B-1D6A-81EAE29BE064}"/>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78183346-8CCE-B4F6-26B8-17F2B4CC95F0}"/>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11</a:t>
            </a:fld>
            <a:endParaRPr spc="-25" dirty="0"/>
          </a:p>
        </p:txBody>
      </p:sp>
      <p:sp>
        <p:nvSpPr>
          <p:cNvPr id="7" name="object 7">
            <a:extLst>
              <a:ext uri="{FF2B5EF4-FFF2-40B4-BE49-F238E27FC236}">
                <a16:creationId xmlns="" xmlns:a16="http://schemas.microsoft.com/office/drawing/2014/main" id="{A7F7F00B-998E-4E4F-7FF7-B23EFE583E51}"/>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 xmlns:a16="http://schemas.microsoft.com/office/drawing/2014/main" id="{036EC506-91D3-2216-1130-820042CFA50F}"/>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pic>
        <p:nvPicPr>
          <p:cNvPr id="9" name="Content Placeholder 4">
            <a:extLst>
              <a:ext uri="{FF2B5EF4-FFF2-40B4-BE49-F238E27FC236}">
                <a16:creationId xmlns="" xmlns:a16="http://schemas.microsoft.com/office/drawing/2014/main" id="{DFBF0C03-838C-311A-05CA-EE4A4E718AF8}"/>
              </a:ext>
            </a:extLst>
          </p:cNvPr>
          <p:cNvPicPr>
            <a:picLocks noChangeAspect="1"/>
          </p:cNvPicPr>
          <p:nvPr/>
        </p:nvPicPr>
        <p:blipFill>
          <a:blip r:embed="rId4"/>
          <a:stretch>
            <a:fillRect/>
          </a:stretch>
        </p:blipFill>
        <p:spPr>
          <a:xfrm>
            <a:off x="685800" y="1219200"/>
            <a:ext cx="3404382" cy="2372429"/>
          </a:xfrm>
          <a:prstGeom prst="rect">
            <a:avLst/>
          </a:prstGeom>
        </p:spPr>
      </p:pic>
      <p:sp>
        <p:nvSpPr>
          <p:cNvPr id="16" name="TextBox 15">
            <a:extLst>
              <a:ext uri="{FF2B5EF4-FFF2-40B4-BE49-F238E27FC236}">
                <a16:creationId xmlns="" xmlns:a16="http://schemas.microsoft.com/office/drawing/2014/main" id="{318B849A-DC09-0A65-B7F0-BDF6CE3502B7}"/>
              </a:ext>
            </a:extLst>
          </p:cNvPr>
          <p:cNvSpPr txBox="1"/>
          <p:nvPr/>
        </p:nvSpPr>
        <p:spPr>
          <a:xfrm>
            <a:off x="197346" y="1077368"/>
            <a:ext cx="8434527"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Arduino Uno</a:t>
            </a:r>
            <a:endParaRPr lang="en-IN" sz="2000" b="1"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 xmlns:a16="http://schemas.microsoft.com/office/drawing/2014/main" id="{3BA1B4BC-97D6-736B-19FA-6D19AB6F45CA}"/>
              </a:ext>
            </a:extLst>
          </p:cNvPr>
          <p:cNvSpPr txBox="1"/>
          <p:nvPr/>
        </p:nvSpPr>
        <p:spPr>
          <a:xfrm>
            <a:off x="5257800" y="2057400"/>
            <a:ext cx="1729961" cy="707886"/>
          </a:xfrm>
          <a:prstGeom prst="rect">
            <a:avLst/>
          </a:prstGeom>
          <a:noFill/>
        </p:spPr>
        <p:txBody>
          <a:bodyPr wrap="none" rtlCol="0">
            <a:spAutoFit/>
          </a:bodyPr>
          <a:lstStyle/>
          <a:p>
            <a:r>
              <a:rPr lang="en-US" altLang="en-US" sz="2000" b="1" dirty="0">
                <a:latin typeface="Times New Roman" panose="02020603050405020304" pitchFamily="18" charset="0"/>
                <a:cs typeface="Times New Roman" panose="02020603050405020304" pitchFamily="18" charset="0"/>
              </a:rPr>
              <a:t>Raspberry Pi:</a:t>
            </a:r>
          </a:p>
          <a:p>
            <a:endParaRPr lang="en-IN" sz="2000" b="1" dirty="0"/>
          </a:p>
        </p:txBody>
      </p:sp>
      <p:pic>
        <p:nvPicPr>
          <p:cNvPr id="18" name="Content Placeholder 9">
            <a:extLst>
              <a:ext uri="{FF2B5EF4-FFF2-40B4-BE49-F238E27FC236}">
                <a16:creationId xmlns="" xmlns:a16="http://schemas.microsoft.com/office/drawing/2014/main" id="{7C56853C-0554-ACD7-7B5E-D8A26DF3FC0D}"/>
              </a:ext>
            </a:extLst>
          </p:cNvPr>
          <p:cNvPicPr>
            <a:picLocks noGrp="1" noChangeAspect="1"/>
          </p:cNvPicPr>
          <p:nvPr/>
        </p:nvPicPr>
        <p:blipFill>
          <a:blip r:embed="rId5"/>
          <a:stretch>
            <a:fillRect/>
          </a:stretch>
        </p:blipFill>
        <p:spPr>
          <a:xfrm>
            <a:off x="3922330" y="1064633"/>
            <a:ext cx="3663462" cy="3052274"/>
          </a:xfrm>
          <a:prstGeom prst="rect">
            <a:avLst/>
          </a:prstGeom>
        </p:spPr>
      </p:pic>
      <p:sp>
        <p:nvSpPr>
          <p:cNvPr id="20" name="TextBox 19">
            <a:extLst>
              <a:ext uri="{FF2B5EF4-FFF2-40B4-BE49-F238E27FC236}">
                <a16:creationId xmlns="" xmlns:a16="http://schemas.microsoft.com/office/drawing/2014/main" id="{6E54945F-B7F9-02C8-0B94-A1A6BC1D4FF6}"/>
              </a:ext>
            </a:extLst>
          </p:cNvPr>
          <p:cNvSpPr txBox="1"/>
          <p:nvPr/>
        </p:nvSpPr>
        <p:spPr>
          <a:xfrm>
            <a:off x="3818580" y="1019741"/>
            <a:ext cx="6073140" cy="400110"/>
          </a:xfrm>
          <a:prstGeom prst="rect">
            <a:avLst/>
          </a:prstGeom>
          <a:noFill/>
        </p:spPr>
        <p:txBody>
          <a:bodyPr wrap="square">
            <a:spAutoFit/>
          </a:bodyPr>
          <a:lstStyle/>
          <a:p>
            <a:r>
              <a:rPr lang="en-US" altLang="en-US" sz="2000" b="1" dirty="0">
                <a:latin typeface="Times New Roman" panose="02020603050405020304" pitchFamily="18" charset="0"/>
                <a:cs typeface="Times New Roman" panose="02020603050405020304" pitchFamily="18" charset="0"/>
              </a:rPr>
              <a:t>Raspberry Pi</a:t>
            </a:r>
            <a:endParaRPr lang="en-IN" sz="2000" b="1" dirty="0"/>
          </a:p>
        </p:txBody>
      </p:sp>
      <p:pic>
        <p:nvPicPr>
          <p:cNvPr id="22" name="Content Placeholder 4">
            <a:extLst>
              <a:ext uri="{FF2B5EF4-FFF2-40B4-BE49-F238E27FC236}">
                <a16:creationId xmlns="" xmlns:a16="http://schemas.microsoft.com/office/drawing/2014/main" id="{EA59766E-BBA8-8219-ADF8-2C625070C29C}"/>
              </a:ext>
            </a:extLst>
          </p:cNvPr>
          <p:cNvPicPr>
            <a:picLocks noGrp="1" noChangeAspect="1"/>
          </p:cNvPicPr>
          <p:nvPr/>
        </p:nvPicPr>
        <p:blipFill>
          <a:blip r:embed="rId6" cstate="print"/>
          <a:stretch>
            <a:fillRect/>
          </a:stretch>
        </p:blipFill>
        <p:spPr>
          <a:xfrm>
            <a:off x="7754162" y="1219796"/>
            <a:ext cx="2659605" cy="2659605"/>
          </a:xfrm>
          <a:prstGeom prst="rect">
            <a:avLst/>
          </a:prstGeom>
        </p:spPr>
      </p:pic>
      <p:sp>
        <p:nvSpPr>
          <p:cNvPr id="24" name="TextBox 23">
            <a:extLst>
              <a:ext uri="{FF2B5EF4-FFF2-40B4-BE49-F238E27FC236}">
                <a16:creationId xmlns="" xmlns:a16="http://schemas.microsoft.com/office/drawing/2014/main" id="{9DA9579D-AA00-3AF3-7A8F-F6651106B23E}"/>
              </a:ext>
            </a:extLst>
          </p:cNvPr>
          <p:cNvSpPr txBox="1"/>
          <p:nvPr/>
        </p:nvSpPr>
        <p:spPr>
          <a:xfrm>
            <a:off x="8015178" y="970960"/>
            <a:ext cx="6141720" cy="400110"/>
          </a:xfrm>
          <a:prstGeom prst="rect">
            <a:avLst/>
          </a:prstGeom>
          <a:noFill/>
        </p:spPr>
        <p:txBody>
          <a:bodyPr wrap="square">
            <a:spAutoFit/>
          </a:bodyPr>
          <a:lstStyle/>
          <a:p>
            <a:r>
              <a:rPr lang="en-US" sz="2000" b="1" dirty="0">
                <a:solidFill>
                  <a:schemeClr val="tx1"/>
                </a:solidFill>
                <a:latin typeface="Times New Roman" panose="02020603050405020304" pitchFamily="18" charset="0"/>
                <a:cs typeface="Times New Roman" panose="02020603050405020304" pitchFamily="18" charset="0"/>
              </a:rPr>
              <a:t>Web cam</a:t>
            </a:r>
            <a:endParaRPr lang="en-IN" sz="2000" b="1" dirty="0"/>
          </a:p>
        </p:txBody>
      </p:sp>
      <p:pic>
        <p:nvPicPr>
          <p:cNvPr id="26" name="Content Placeholder 4">
            <a:extLst>
              <a:ext uri="{FF2B5EF4-FFF2-40B4-BE49-F238E27FC236}">
                <a16:creationId xmlns="" xmlns:a16="http://schemas.microsoft.com/office/drawing/2014/main" id="{CE98C2A1-05B9-0EF0-4076-CBE1192CAB93}"/>
              </a:ext>
            </a:extLst>
          </p:cNvPr>
          <p:cNvPicPr>
            <a:picLocks noGrp="1" noChangeAspect="1"/>
          </p:cNvPicPr>
          <p:nvPr/>
        </p:nvPicPr>
        <p:blipFill>
          <a:blip r:embed="rId7"/>
          <a:stretch>
            <a:fillRect/>
          </a:stretch>
        </p:blipFill>
        <p:spPr>
          <a:xfrm>
            <a:off x="2353184" y="3977089"/>
            <a:ext cx="2969923" cy="1988597"/>
          </a:xfrm>
          <a:prstGeom prst="rect">
            <a:avLst/>
          </a:prstGeom>
        </p:spPr>
      </p:pic>
      <p:sp>
        <p:nvSpPr>
          <p:cNvPr id="28" name="TextBox 27">
            <a:extLst>
              <a:ext uri="{FF2B5EF4-FFF2-40B4-BE49-F238E27FC236}">
                <a16:creationId xmlns="" xmlns:a16="http://schemas.microsoft.com/office/drawing/2014/main" id="{D0A16944-1A40-EB03-7400-9612103B40EA}"/>
              </a:ext>
            </a:extLst>
          </p:cNvPr>
          <p:cNvSpPr txBox="1"/>
          <p:nvPr/>
        </p:nvSpPr>
        <p:spPr>
          <a:xfrm>
            <a:off x="2720015" y="6092740"/>
            <a:ext cx="2969923" cy="400110"/>
          </a:xfrm>
          <a:prstGeom prst="rect">
            <a:avLst/>
          </a:prstGeom>
          <a:noFill/>
        </p:spPr>
        <p:txBody>
          <a:bodyPr wrap="square">
            <a:spAutoFit/>
          </a:bodyPr>
          <a:lstStyle/>
          <a:p>
            <a:r>
              <a:rPr lang="en-US" sz="2000" b="1" dirty="0">
                <a:solidFill>
                  <a:schemeClr val="tx1"/>
                </a:solidFill>
                <a:latin typeface="Times New Roman" panose="02020603050405020304" pitchFamily="18" charset="0"/>
                <a:cs typeface="Times New Roman" panose="02020603050405020304" pitchFamily="18" charset="0"/>
              </a:rPr>
              <a:t>Motor Driver</a:t>
            </a:r>
            <a:endParaRPr lang="en-IN" sz="2000" b="1" dirty="0"/>
          </a:p>
        </p:txBody>
      </p:sp>
      <p:pic>
        <p:nvPicPr>
          <p:cNvPr id="30" name="Content Placeholder 4">
            <a:extLst>
              <a:ext uri="{FF2B5EF4-FFF2-40B4-BE49-F238E27FC236}">
                <a16:creationId xmlns="" xmlns:a16="http://schemas.microsoft.com/office/drawing/2014/main" id="{423CABC3-7325-1864-870F-F51819C0BB1E}"/>
              </a:ext>
            </a:extLst>
          </p:cNvPr>
          <p:cNvPicPr>
            <a:picLocks noGrp="1" noChangeAspect="1"/>
          </p:cNvPicPr>
          <p:nvPr/>
        </p:nvPicPr>
        <p:blipFill>
          <a:blip r:embed="rId8"/>
          <a:stretch>
            <a:fillRect/>
          </a:stretch>
        </p:blipFill>
        <p:spPr>
          <a:xfrm>
            <a:off x="6682599" y="3813065"/>
            <a:ext cx="2143125" cy="2143125"/>
          </a:xfrm>
          <a:prstGeom prst="rect">
            <a:avLst/>
          </a:prstGeom>
        </p:spPr>
      </p:pic>
      <p:sp>
        <p:nvSpPr>
          <p:cNvPr id="32" name="TextBox 31">
            <a:extLst>
              <a:ext uri="{FF2B5EF4-FFF2-40B4-BE49-F238E27FC236}">
                <a16:creationId xmlns="" xmlns:a16="http://schemas.microsoft.com/office/drawing/2014/main" id="{CC39ADC6-B861-375D-3367-F2EDDE4B2DCB}"/>
              </a:ext>
            </a:extLst>
          </p:cNvPr>
          <p:cNvSpPr txBox="1"/>
          <p:nvPr/>
        </p:nvSpPr>
        <p:spPr>
          <a:xfrm>
            <a:off x="7090640" y="5771524"/>
            <a:ext cx="7122160" cy="400110"/>
          </a:xfrm>
          <a:prstGeom prst="rect">
            <a:avLst/>
          </a:prstGeom>
          <a:noFill/>
        </p:spPr>
        <p:txBody>
          <a:bodyPr wrap="square">
            <a:spAutoFit/>
          </a:bodyPr>
          <a:lstStyle/>
          <a:p>
            <a:r>
              <a:rPr lang="en-US" sz="2000" b="1" dirty="0">
                <a:solidFill>
                  <a:schemeClr val="tx1"/>
                </a:solidFill>
                <a:latin typeface="Times New Roman" panose="02020603050405020304" pitchFamily="18" charset="0"/>
                <a:cs typeface="Times New Roman" panose="02020603050405020304" pitchFamily="18" charset="0"/>
              </a:rPr>
              <a:t>12v Battery</a:t>
            </a:r>
            <a:endParaRPr lang="en-IN" sz="2000" b="1" dirty="0"/>
          </a:p>
        </p:txBody>
      </p:sp>
    </p:spTree>
    <p:extLst>
      <p:ext uri="{BB962C8B-B14F-4D97-AF65-F5344CB8AC3E}">
        <p14:creationId xmlns="" xmlns:p14="http://schemas.microsoft.com/office/powerpoint/2010/main" val="5316709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04AF259-3B4B-A37A-97F7-3AF71A23E972}"/>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EAA0EF37-F1E2-E580-2F9F-ECE57DE8BA99}"/>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CA6B44FF-7666-C144-0DED-710CC5C5589E}"/>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B6864B97-2F29-AABE-D904-02920B98ADBF}"/>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 xmlns:a16="http://schemas.microsoft.com/office/drawing/2014/main" id="{812DCE22-A6A1-C93D-76B5-648DFDB3CA25}"/>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Block Diagram</a:t>
            </a:r>
            <a:endParaRPr spc="-10" dirty="0"/>
          </a:p>
        </p:txBody>
      </p:sp>
      <p:sp>
        <p:nvSpPr>
          <p:cNvPr id="8" name="object 8">
            <a:extLst>
              <a:ext uri="{FF2B5EF4-FFF2-40B4-BE49-F238E27FC236}">
                <a16:creationId xmlns="" xmlns:a16="http://schemas.microsoft.com/office/drawing/2014/main" id="{B40DC9DC-F0DB-D21D-F088-B85941023D16}"/>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 xmlns:a16="http://schemas.microsoft.com/office/drawing/2014/main" id="{4BF77F90-AA16-0F3B-1D6A-81EAE29BE064}"/>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78183346-8CCE-B4F6-26B8-17F2B4CC95F0}"/>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12</a:t>
            </a:fld>
            <a:endParaRPr spc="-25" dirty="0"/>
          </a:p>
        </p:txBody>
      </p:sp>
      <p:sp>
        <p:nvSpPr>
          <p:cNvPr id="7" name="object 7">
            <a:extLst>
              <a:ext uri="{FF2B5EF4-FFF2-40B4-BE49-F238E27FC236}">
                <a16:creationId xmlns="" xmlns:a16="http://schemas.microsoft.com/office/drawing/2014/main" id="{A7F7F00B-998E-4E4F-7FF7-B23EFE583E51}"/>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 xmlns:a16="http://schemas.microsoft.com/office/drawing/2014/main" id="{036EC506-91D3-2216-1130-820042CFA50F}"/>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 xmlns:a16="http://schemas.microsoft.com/office/drawing/2014/main" id="{3BA1B4BC-97D6-736B-19FA-6D19AB6F45CA}"/>
              </a:ext>
            </a:extLst>
          </p:cNvPr>
          <p:cNvSpPr txBox="1"/>
          <p:nvPr/>
        </p:nvSpPr>
        <p:spPr>
          <a:xfrm>
            <a:off x="5257800" y="2057400"/>
            <a:ext cx="184731" cy="707886"/>
          </a:xfrm>
          <a:prstGeom prst="rect">
            <a:avLst/>
          </a:prstGeom>
          <a:noFill/>
        </p:spPr>
        <p:txBody>
          <a:bodyPr wrap="non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pic>
        <p:nvPicPr>
          <p:cNvPr id="13" name="Picture 12" descr="ChatGPT Image Jan 1, 2026, 05_54_58 PM.png"/>
          <p:cNvPicPr>
            <a:picLocks noChangeAspect="1"/>
          </p:cNvPicPr>
          <p:nvPr/>
        </p:nvPicPr>
        <p:blipFill>
          <a:blip r:embed="rId4"/>
          <a:stretch>
            <a:fillRect/>
          </a:stretch>
        </p:blipFill>
        <p:spPr>
          <a:xfrm>
            <a:off x="2133600" y="1295400"/>
            <a:ext cx="7620000" cy="5076825"/>
          </a:xfrm>
          <a:prstGeom prst="rect">
            <a:avLst/>
          </a:prstGeom>
        </p:spPr>
      </p:pic>
    </p:spTree>
    <p:extLst>
      <p:ext uri="{BB962C8B-B14F-4D97-AF65-F5344CB8AC3E}">
        <p14:creationId xmlns="" xmlns:p14="http://schemas.microsoft.com/office/powerpoint/2010/main" val="531670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04AF259-3B4B-A37A-97F7-3AF71A23E972}"/>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EAA0EF37-F1E2-E580-2F9F-ECE57DE8BA99}"/>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CA6B44FF-7666-C144-0DED-710CC5C5589E}"/>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B6864B97-2F29-AABE-D904-02920B98ADBF}"/>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 xmlns:a16="http://schemas.microsoft.com/office/drawing/2014/main" id="{812DCE22-A6A1-C93D-76B5-648DFDB3CA25}"/>
              </a:ext>
            </a:extLst>
          </p:cNvPr>
          <p:cNvSpPr txBox="1">
            <a:spLocks noGrp="1"/>
          </p:cNvSpPr>
          <p:nvPr>
            <p:ph type="title"/>
          </p:nvPr>
        </p:nvSpPr>
        <p:spPr>
          <a:xfrm>
            <a:off x="236964" y="160487"/>
            <a:ext cx="8526036" cy="1367041"/>
          </a:xfrm>
          <a:prstGeom prst="rect">
            <a:avLst/>
          </a:prstGeom>
        </p:spPr>
        <p:txBody>
          <a:bodyPr vert="horz" wrap="square" lIns="0" tIns="12700" rIns="0" bIns="0" rtlCol="0">
            <a:spAutoFit/>
          </a:bodyPr>
          <a:lstStyle/>
          <a:p>
            <a:pPr marL="12700">
              <a:spcBef>
                <a:spcPts val="100"/>
              </a:spcBef>
              <a:tabLst>
                <a:tab pos="2232025" algn="l"/>
              </a:tabLst>
            </a:pPr>
            <a:r>
              <a:rPr lang="en-US" b="1" dirty="0" smtClean="0"/>
              <a:t>Non-Recurring  </a:t>
            </a:r>
            <a:r>
              <a:rPr lang="en-US" b="1" dirty="0" smtClean="0">
                <a:latin typeface="Times New Roman" panose="02020603050405020304" pitchFamily="18" charset="0"/>
                <a:cs typeface="Times New Roman" panose="02020603050405020304" pitchFamily="18" charset="0"/>
              </a:rPr>
              <a:t>Budget </a:t>
            </a:r>
            <a:r>
              <a:rPr lang="en-US" b="1" dirty="0" smtClean="0">
                <a:latin typeface="Times New Roman" panose="02020603050405020304" pitchFamily="18" charset="0"/>
                <a:cs typeface="Times New Roman" panose="02020603050405020304" pitchFamily="18" charset="0"/>
              </a:rPr>
              <a:t>estimation </a:t>
            </a:r>
            <a:br>
              <a:rPr lang="en-US" b="1" dirty="0" smtClean="0">
                <a:latin typeface="Times New Roman" panose="02020603050405020304" pitchFamily="18" charset="0"/>
                <a:cs typeface="Times New Roman" panose="02020603050405020304" pitchFamily="18" charset="0"/>
              </a:rPr>
            </a:br>
            <a:endParaRPr b="1" spc="-10" dirty="0"/>
          </a:p>
        </p:txBody>
      </p:sp>
      <p:sp>
        <p:nvSpPr>
          <p:cNvPr id="8" name="object 8">
            <a:extLst>
              <a:ext uri="{FF2B5EF4-FFF2-40B4-BE49-F238E27FC236}">
                <a16:creationId xmlns="" xmlns:a16="http://schemas.microsoft.com/office/drawing/2014/main" id="{B40DC9DC-F0DB-D21D-F088-B85941023D16}"/>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 xmlns:a16="http://schemas.microsoft.com/office/drawing/2014/main" id="{4BF77F90-AA16-0F3B-1D6A-81EAE29BE064}"/>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78183346-8CCE-B4F6-26B8-17F2B4CC95F0}"/>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13</a:t>
            </a:fld>
            <a:endParaRPr spc="-25" dirty="0"/>
          </a:p>
        </p:txBody>
      </p:sp>
      <p:sp>
        <p:nvSpPr>
          <p:cNvPr id="7" name="object 7">
            <a:extLst>
              <a:ext uri="{FF2B5EF4-FFF2-40B4-BE49-F238E27FC236}">
                <a16:creationId xmlns="" xmlns:a16="http://schemas.microsoft.com/office/drawing/2014/main" id="{A7F7F00B-998E-4E4F-7FF7-B23EFE583E51}"/>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 xmlns:a16="http://schemas.microsoft.com/office/drawing/2014/main" id="{036EC506-91D3-2216-1130-820042CFA50F}"/>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 xmlns:a16="http://schemas.microsoft.com/office/drawing/2014/main" id="{3BA1B4BC-97D6-736B-19FA-6D19AB6F45CA}"/>
              </a:ext>
            </a:extLst>
          </p:cNvPr>
          <p:cNvSpPr txBox="1"/>
          <p:nvPr/>
        </p:nvSpPr>
        <p:spPr>
          <a:xfrm>
            <a:off x="5257800" y="2057400"/>
            <a:ext cx="184731" cy="707886"/>
          </a:xfrm>
          <a:prstGeom prst="rect">
            <a:avLst/>
          </a:prstGeom>
          <a:noFill/>
        </p:spPr>
        <p:txBody>
          <a:bodyPr wrap="non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graphicFrame>
        <p:nvGraphicFramePr>
          <p:cNvPr id="14" name="Table 13"/>
          <p:cNvGraphicFramePr>
            <a:graphicFrameLocks noGrp="1"/>
          </p:cNvGraphicFramePr>
          <p:nvPr/>
        </p:nvGraphicFramePr>
        <p:xfrm>
          <a:off x="533400" y="1143000"/>
          <a:ext cx="10820399" cy="5415075"/>
        </p:xfrm>
        <a:graphic>
          <a:graphicData uri="http://schemas.openxmlformats.org/drawingml/2006/table">
            <a:tbl>
              <a:tblPr>
                <a:tableStyleId>{3C2FFA5D-87B4-456A-9821-1D502468CF0F}</a:tableStyleId>
              </a:tblPr>
              <a:tblGrid>
                <a:gridCol w="380291"/>
                <a:gridCol w="2610027"/>
                <a:gridCol w="2610027"/>
                <a:gridCol w="2610027"/>
                <a:gridCol w="2610027"/>
              </a:tblGrid>
              <a:tr h="633782">
                <a:tc>
                  <a:txBody>
                    <a:bodyPr/>
                    <a:lstStyle/>
                    <a:p>
                      <a:r>
                        <a:rPr lang="en-US" sz="1200" dirty="0"/>
                        <a:t>S. No</a:t>
                      </a:r>
                      <a:endParaRPr lang="en-US" sz="1200" b="1" dirty="0"/>
                    </a:p>
                  </a:txBody>
                  <a:tcPr marL="50173" marR="50173" marT="25086" marB="25086" anchor="ctr"/>
                </a:tc>
                <a:tc>
                  <a:txBody>
                    <a:bodyPr/>
                    <a:lstStyle/>
                    <a:p>
                      <a:r>
                        <a:rPr lang="en-US" sz="1200"/>
                        <a:t>Item Head</a:t>
                      </a:r>
                      <a:endParaRPr lang="en-US" sz="1200" b="1"/>
                    </a:p>
                  </a:txBody>
                  <a:tcPr marL="50173" marR="50173" marT="25086" marB="25086" anchor="ctr"/>
                </a:tc>
                <a:tc>
                  <a:txBody>
                    <a:bodyPr/>
                    <a:lstStyle/>
                    <a:p>
                      <a:r>
                        <a:rPr lang="en-US" sz="1200"/>
                        <a:t>Estimated Cost (Rs.)</a:t>
                      </a:r>
                      <a:endParaRPr lang="en-US" sz="1200" b="1"/>
                    </a:p>
                  </a:txBody>
                  <a:tcPr marL="50173" marR="50173" marT="25086" marB="25086" anchor="ctr"/>
                </a:tc>
                <a:tc>
                  <a:txBody>
                    <a:bodyPr/>
                    <a:lstStyle/>
                    <a:p>
                      <a:r>
                        <a:rPr lang="en-US" sz="1200"/>
                        <a:t>Fund Arranged by Students / Other Sources (Rs.)</a:t>
                      </a:r>
                      <a:endParaRPr lang="en-US" sz="1200" b="1"/>
                    </a:p>
                  </a:txBody>
                  <a:tcPr marL="50173" marR="50173" marT="25086" marB="25086" anchor="ctr"/>
                </a:tc>
                <a:tc>
                  <a:txBody>
                    <a:bodyPr/>
                    <a:lstStyle/>
                    <a:p>
                      <a:r>
                        <a:rPr lang="en-US" sz="1200"/>
                        <a:t>Fund Required from Institute (Rs.)</a:t>
                      </a:r>
                      <a:endParaRPr lang="en-US" sz="1200" b="1"/>
                    </a:p>
                  </a:txBody>
                  <a:tcPr marL="50173" marR="50173" marT="25086" marB="25086" anchor="ctr"/>
                </a:tc>
              </a:tr>
              <a:tr h="340990">
                <a:tc>
                  <a:txBody>
                    <a:bodyPr/>
                    <a:lstStyle/>
                    <a:p>
                      <a:r>
                        <a:rPr lang="en-US" sz="1200" dirty="0"/>
                        <a:t>1</a:t>
                      </a:r>
                      <a:endParaRPr lang="en-US" sz="1200" b="1" dirty="0"/>
                    </a:p>
                  </a:txBody>
                  <a:tcPr marL="50173" marR="50173" marT="25086" marB="25086" anchor="ctr"/>
                </a:tc>
                <a:tc>
                  <a:txBody>
                    <a:bodyPr/>
                    <a:lstStyle/>
                    <a:p>
                      <a:r>
                        <a:rPr lang="it-IT" sz="1200" dirty="0"/>
                        <a:t>Raspberry Pi 4 Model B</a:t>
                      </a:r>
                      <a:endParaRPr lang="it-IT" sz="1200" b="1" dirty="0"/>
                    </a:p>
                  </a:txBody>
                  <a:tcPr marL="50173" marR="50173" marT="25086" marB="25086" anchor="ctr"/>
                </a:tc>
                <a:tc>
                  <a:txBody>
                    <a:bodyPr/>
                    <a:lstStyle/>
                    <a:p>
                      <a:r>
                        <a:rPr lang="en-US" sz="1200"/>
                        <a:t>5,000</a:t>
                      </a:r>
                      <a:endParaRPr lang="en-US" sz="1200" b="1"/>
                    </a:p>
                  </a:txBody>
                  <a:tcPr marL="50173" marR="50173" marT="25086" marB="25086" anchor="ctr"/>
                </a:tc>
                <a:tc>
                  <a:txBody>
                    <a:bodyPr/>
                    <a:lstStyle/>
                    <a:p>
                      <a:r>
                        <a:rPr lang="en-US" sz="1200"/>
                        <a:t>2,500</a:t>
                      </a:r>
                      <a:endParaRPr lang="en-US" sz="1200" b="1"/>
                    </a:p>
                  </a:txBody>
                  <a:tcPr marL="50173" marR="50173" marT="25086" marB="25086" anchor="ctr"/>
                </a:tc>
                <a:tc>
                  <a:txBody>
                    <a:bodyPr/>
                    <a:lstStyle/>
                    <a:p>
                      <a:r>
                        <a:rPr lang="en-US" sz="1200"/>
                        <a:t>2,500</a:t>
                      </a:r>
                      <a:endParaRPr lang="en-US" sz="1200" b="1"/>
                    </a:p>
                  </a:txBody>
                  <a:tcPr marL="50173" marR="50173" marT="25086" marB="25086" anchor="ctr"/>
                </a:tc>
              </a:tr>
              <a:tr h="340990">
                <a:tc>
                  <a:txBody>
                    <a:bodyPr/>
                    <a:lstStyle/>
                    <a:p>
                      <a:r>
                        <a:rPr lang="en-US" sz="1200" dirty="0"/>
                        <a:t>2</a:t>
                      </a:r>
                      <a:endParaRPr lang="en-US" sz="1200" b="1" dirty="0"/>
                    </a:p>
                  </a:txBody>
                  <a:tcPr marL="50173" marR="50173" marT="25086" marB="25086" anchor="ctr"/>
                </a:tc>
                <a:tc>
                  <a:txBody>
                    <a:bodyPr/>
                    <a:lstStyle/>
                    <a:p>
                      <a:r>
                        <a:rPr lang="en-US" sz="1200"/>
                        <a:t>Arduino UNO R3</a:t>
                      </a:r>
                      <a:endParaRPr lang="en-US" sz="1200" b="1"/>
                    </a:p>
                  </a:txBody>
                  <a:tcPr marL="50173" marR="50173" marT="25086" marB="25086" anchor="ctr"/>
                </a:tc>
                <a:tc>
                  <a:txBody>
                    <a:bodyPr/>
                    <a:lstStyle/>
                    <a:p>
                      <a:r>
                        <a:rPr lang="en-US" sz="1200"/>
                        <a:t>2,300</a:t>
                      </a:r>
                      <a:endParaRPr lang="en-US" sz="1200" b="1"/>
                    </a:p>
                  </a:txBody>
                  <a:tcPr marL="50173" marR="50173" marT="25086" marB="25086" anchor="ctr"/>
                </a:tc>
                <a:tc>
                  <a:txBody>
                    <a:bodyPr/>
                    <a:lstStyle/>
                    <a:p>
                      <a:r>
                        <a:rPr lang="en-US" sz="1200"/>
                        <a:t>1,200</a:t>
                      </a:r>
                      <a:endParaRPr lang="en-US" sz="1200" b="1"/>
                    </a:p>
                  </a:txBody>
                  <a:tcPr marL="50173" marR="50173" marT="25086" marB="25086" anchor="ctr"/>
                </a:tc>
                <a:tc>
                  <a:txBody>
                    <a:bodyPr/>
                    <a:lstStyle/>
                    <a:p>
                      <a:r>
                        <a:rPr lang="en-US" sz="1200"/>
                        <a:t>1,100</a:t>
                      </a:r>
                      <a:endParaRPr lang="en-US" sz="1200" b="1"/>
                    </a:p>
                  </a:txBody>
                  <a:tcPr marL="50173" marR="50173" marT="25086" marB="25086" anchor="ctr"/>
                </a:tc>
              </a:tr>
              <a:tr h="340990">
                <a:tc>
                  <a:txBody>
                    <a:bodyPr/>
                    <a:lstStyle/>
                    <a:p>
                      <a:r>
                        <a:rPr lang="en-US" sz="1200"/>
                        <a:t>3</a:t>
                      </a:r>
                      <a:endParaRPr lang="en-US" sz="1200" b="1"/>
                    </a:p>
                  </a:txBody>
                  <a:tcPr marL="50173" marR="50173" marT="25086" marB="25086" anchor="ctr"/>
                </a:tc>
                <a:tc>
                  <a:txBody>
                    <a:bodyPr/>
                    <a:lstStyle/>
                    <a:p>
                      <a:r>
                        <a:rPr lang="en-US" sz="1200"/>
                        <a:t>USB Camera Module</a:t>
                      </a:r>
                      <a:endParaRPr lang="en-US" sz="1200" b="1"/>
                    </a:p>
                  </a:txBody>
                  <a:tcPr marL="50173" marR="50173" marT="25086" marB="25086" anchor="ctr"/>
                </a:tc>
                <a:tc>
                  <a:txBody>
                    <a:bodyPr/>
                    <a:lstStyle/>
                    <a:p>
                      <a:r>
                        <a:rPr lang="en-US" sz="1200"/>
                        <a:t>1,500</a:t>
                      </a:r>
                      <a:endParaRPr lang="en-US" sz="1200" b="1"/>
                    </a:p>
                  </a:txBody>
                  <a:tcPr marL="50173" marR="50173" marT="25086" marB="25086" anchor="ctr"/>
                </a:tc>
                <a:tc>
                  <a:txBody>
                    <a:bodyPr/>
                    <a:lstStyle/>
                    <a:p>
                      <a:r>
                        <a:rPr lang="en-US" sz="1200"/>
                        <a:t>800</a:t>
                      </a:r>
                      <a:endParaRPr lang="en-US" sz="1200" b="1"/>
                    </a:p>
                  </a:txBody>
                  <a:tcPr marL="50173" marR="50173" marT="25086" marB="25086" anchor="ctr"/>
                </a:tc>
                <a:tc>
                  <a:txBody>
                    <a:bodyPr/>
                    <a:lstStyle/>
                    <a:p>
                      <a:r>
                        <a:rPr lang="en-US" sz="1200"/>
                        <a:t>700</a:t>
                      </a:r>
                      <a:endParaRPr lang="en-US" sz="1200" b="1"/>
                    </a:p>
                  </a:txBody>
                  <a:tcPr marL="50173" marR="50173" marT="25086" marB="25086" anchor="ctr"/>
                </a:tc>
              </a:tr>
              <a:tr h="340990">
                <a:tc>
                  <a:txBody>
                    <a:bodyPr/>
                    <a:lstStyle/>
                    <a:p>
                      <a:r>
                        <a:rPr lang="en-US" sz="1200"/>
                        <a:t>4</a:t>
                      </a:r>
                      <a:endParaRPr lang="en-US" sz="1200" b="1"/>
                    </a:p>
                  </a:txBody>
                  <a:tcPr marL="50173" marR="50173" marT="25086" marB="25086" anchor="ctr"/>
                </a:tc>
                <a:tc>
                  <a:txBody>
                    <a:bodyPr/>
                    <a:lstStyle/>
                    <a:p>
                      <a:r>
                        <a:rPr lang="en-US" sz="1200"/>
                        <a:t>DC Motors with Wheels</a:t>
                      </a:r>
                      <a:endParaRPr lang="en-US" sz="1200" b="1"/>
                    </a:p>
                  </a:txBody>
                  <a:tcPr marL="50173" marR="50173" marT="25086" marB="25086" anchor="ctr"/>
                </a:tc>
                <a:tc>
                  <a:txBody>
                    <a:bodyPr/>
                    <a:lstStyle/>
                    <a:p>
                      <a:r>
                        <a:rPr lang="en-US" sz="1200"/>
                        <a:t>2,000</a:t>
                      </a:r>
                      <a:endParaRPr lang="en-US" sz="1200" b="1"/>
                    </a:p>
                  </a:txBody>
                  <a:tcPr marL="50173" marR="50173" marT="25086" marB="25086" anchor="ctr"/>
                </a:tc>
                <a:tc>
                  <a:txBody>
                    <a:bodyPr/>
                    <a:lstStyle/>
                    <a:p>
                      <a:r>
                        <a:rPr lang="en-US" sz="1200"/>
                        <a:t>1,000</a:t>
                      </a:r>
                      <a:endParaRPr lang="en-US" sz="1200" b="1"/>
                    </a:p>
                  </a:txBody>
                  <a:tcPr marL="50173" marR="50173" marT="25086" marB="25086" anchor="ctr"/>
                </a:tc>
                <a:tc>
                  <a:txBody>
                    <a:bodyPr/>
                    <a:lstStyle/>
                    <a:p>
                      <a:r>
                        <a:rPr lang="en-US" sz="1200"/>
                        <a:t>1,000</a:t>
                      </a:r>
                      <a:endParaRPr lang="en-US" sz="1200" b="1"/>
                    </a:p>
                  </a:txBody>
                  <a:tcPr marL="50173" marR="50173" marT="25086" marB="25086" anchor="ctr"/>
                </a:tc>
              </a:tr>
              <a:tr h="487385">
                <a:tc>
                  <a:txBody>
                    <a:bodyPr/>
                    <a:lstStyle/>
                    <a:p>
                      <a:r>
                        <a:rPr lang="en-US" sz="1200"/>
                        <a:t>5</a:t>
                      </a:r>
                      <a:endParaRPr lang="en-US" sz="1200" b="1"/>
                    </a:p>
                  </a:txBody>
                  <a:tcPr marL="50173" marR="50173" marT="25086" marB="25086" anchor="ctr"/>
                </a:tc>
                <a:tc>
                  <a:txBody>
                    <a:bodyPr/>
                    <a:lstStyle/>
                    <a:p>
                      <a:r>
                        <a:rPr lang="en-US" sz="1200"/>
                        <a:t>Motor Driver Module (L298N)</a:t>
                      </a:r>
                      <a:endParaRPr lang="en-US" sz="1200" b="1"/>
                    </a:p>
                  </a:txBody>
                  <a:tcPr marL="50173" marR="50173" marT="25086" marB="25086" anchor="ctr"/>
                </a:tc>
                <a:tc>
                  <a:txBody>
                    <a:bodyPr/>
                    <a:lstStyle/>
                    <a:p>
                      <a:r>
                        <a:rPr lang="en-US" sz="1200" dirty="0"/>
                        <a:t>800</a:t>
                      </a:r>
                      <a:endParaRPr lang="en-US" sz="1200" b="1" dirty="0"/>
                    </a:p>
                  </a:txBody>
                  <a:tcPr marL="50173" marR="50173" marT="25086" marB="25086" anchor="ctr"/>
                </a:tc>
                <a:tc>
                  <a:txBody>
                    <a:bodyPr/>
                    <a:lstStyle/>
                    <a:p>
                      <a:r>
                        <a:rPr lang="en-US" sz="1200"/>
                        <a:t>400</a:t>
                      </a:r>
                      <a:endParaRPr lang="en-US" sz="1200" b="1"/>
                    </a:p>
                  </a:txBody>
                  <a:tcPr marL="50173" marR="50173" marT="25086" marB="25086" anchor="ctr"/>
                </a:tc>
                <a:tc>
                  <a:txBody>
                    <a:bodyPr/>
                    <a:lstStyle/>
                    <a:p>
                      <a:r>
                        <a:rPr lang="en-US" sz="1200"/>
                        <a:t>400</a:t>
                      </a:r>
                      <a:endParaRPr lang="en-US" sz="1200" b="1"/>
                    </a:p>
                  </a:txBody>
                  <a:tcPr marL="50173" marR="50173" marT="25086" marB="25086" anchor="ctr"/>
                </a:tc>
              </a:tr>
              <a:tr h="487385">
                <a:tc>
                  <a:txBody>
                    <a:bodyPr/>
                    <a:lstStyle/>
                    <a:p>
                      <a:r>
                        <a:rPr lang="en-US" sz="1200"/>
                        <a:t>6</a:t>
                      </a:r>
                      <a:endParaRPr lang="en-US" sz="1200" b="1"/>
                    </a:p>
                  </a:txBody>
                  <a:tcPr marL="50173" marR="50173" marT="25086" marB="25086" anchor="ctr"/>
                </a:tc>
                <a:tc>
                  <a:txBody>
                    <a:bodyPr/>
                    <a:lstStyle/>
                    <a:p>
                      <a:r>
                        <a:rPr lang="en-US" sz="1200"/>
                        <a:t>Water Pump with Pipes &amp; Nozzles</a:t>
                      </a:r>
                      <a:endParaRPr lang="en-US" sz="1200" b="1"/>
                    </a:p>
                  </a:txBody>
                  <a:tcPr marL="50173" marR="50173" marT="25086" marB="25086" anchor="ctr"/>
                </a:tc>
                <a:tc>
                  <a:txBody>
                    <a:bodyPr/>
                    <a:lstStyle/>
                    <a:p>
                      <a:r>
                        <a:rPr lang="en-US" sz="1200"/>
                        <a:t>1,500</a:t>
                      </a:r>
                      <a:endParaRPr lang="en-US" sz="1200" b="1"/>
                    </a:p>
                  </a:txBody>
                  <a:tcPr marL="50173" marR="50173" marT="25086" marB="25086" anchor="ctr"/>
                </a:tc>
                <a:tc>
                  <a:txBody>
                    <a:bodyPr/>
                    <a:lstStyle/>
                    <a:p>
                      <a:r>
                        <a:rPr lang="en-US" sz="1200"/>
                        <a:t>800</a:t>
                      </a:r>
                      <a:endParaRPr lang="en-US" sz="1200" b="1"/>
                    </a:p>
                  </a:txBody>
                  <a:tcPr marL="50173" marR="50173" marT="25086" marB="25086" anchor="ctr"/>
                </a:tc>
                <a:tc>
                  <a:txBody>
                    <a:bodyPr/>
                    <a:lstStyle/>
                    <a:p>
                      <a:r>
                        <a:rPr lang="en-US" sz="1200" dirty="0"/>
                        <a:t>700</a:t>
                      </a:r>
                      <a:endParaRPr lang="en-US" sz="1200" b="1" dirty="0"/>
                    </a:p>
                  </a:txBody>
                  <a:tcPr marL="50173" marR="50173" marT="25086" marB="25086" anchor="ctr"/>
                </a:tc>
              </a:tr>
              <a:tr h="221872">
                <a:tc>
                  <a:txBody>
                    <a:bodyPr/>
                    <a:lstStyle/>
                    <a:p>
                      <a:r>
                        <a:rPr lang="en-US" sz="1200"/>
                        <a:t>7</a:t>
                      </a:r>
                      <a:endParaRPr lang="en-US" sz="1200" b="1"/>
                    </a:p>
                  </a:txBody>
                  <a:tcPr marL="50173" marR="50173" marT="25086" marB="25086" anchor="ctr"/>
                </a:tc>
                <a:tc>
                  <a:txBody>
                    <a:bodyPr/>
                    <a:lstStyle/>
                    <a:p>
                      <a:r>
                        <a:rPr lang="en-US" sz="1200"/>
                        <a:t>Relay Module</a:t>
                      </a:r>
                      <a:endParaRPr lang="en-US" sz="1200" b="1"/>
                    </a:p>
                  </a:txBody>
                  <a:tcPr marL="50173" marR="50173" marT="25086" marB="25086" anchor="ctr"/>
                </a:tc>
                <a:tc>
                  <a:txBody>
                    <a:bodyPr/>
                    <a:lstStyle/>
                    <a:p>
                      <a:r>
                        <a:rPr lang="en-US" sz="1200"/>
                        <a:t>1,000</a:t>
                      </a:r>
                      <a:endParaRPr lang="en-US" sz="1200" b="1"/>
                    </a:p>
                  </a:txBody>
                  <a:tcPr marL="50173" marR="50173" marT="25086" marB="25086" anchor="ctr"/>
                </a:tc>
                <a:tc>
                  <a:txBody>
                    <a:bodyPr/>
                    <a:lstStyle/>
                    <a:p>
                      <a:r>
                        <a:rPr lang="en-US" sz="1200"/>
                        <a:t>500</a:t>
                      </a:r>
                      <a:endParaRPr lang="en-US" sz="1200" b="1"/>
                    </a:p>
                  </a:txBody>
                  <a:tcPr marL="50173" marR="50173" marT="25086" marB="25086" anchor="ctr"/>
                </a:tc>
                <a:tc>
                  <a:txBody>
                    <a:bodyPr/>
                    <a:lstStyle/>
                    <a:p>
                      <a:r>
                        <a:rPr lang="en-US" sz="1200"/>
                        <a:t>500</a:t>
                      </a:r>
                      <a:endParaRPr lang="en-US" sz="1200" b="1"/>
                    </a:p>
                  </a:txBody>
                  <a:tcPr marL="50173" marR="50173" marT="25086" marB="25086" anchor="ctr"/>
                </a:tc>
              </a:tr>
              <a:tr h="340990">
                <a:tc>
                  <a:txBody>
                    <a:bodyPr/>
                    <a:lstStyle/>
                    <a:p>
                      <a:r>
                        <a:rPr lang="en-US" sz="1200"/>
                        <a:t>8</a:t>
                      </a:r>
                      <a:endParaRPr lang="en-US" sz="1200" b="1"/>
                    </a:p>
                  </a:txBody>
                  <a:tcPr marL="50173" marR="50173" marT="25086" marB="25086" anchor="ctr"/>
                </a:tc>
                <a:tc>
                  <a:txBody>
                    <a:bodyPr/>
                    <a:lstStyle/>
                    <a:p>
                      <a:r>
                        <a:rPr lang="en-US" sz="1200"/>
                        <a:t>Bluetooth Module</a:t>
                      </a:r>
                      <a:endParaRPr lang="en-US" sz="1200" b="1"/>
                    </a:p>
                  </a:txBody>
                  <a:tcPr marL="50173" marR="50173" marT="25086" marB="25086" anchor="ctr"/>
                </a:tc>
                <a:tc>
                  <a:txBody>
                    <a:bodyPr/>
                    <a:lstStyle/>
                    <a:p>
                      <a:r>
                        <a:rPr lang="en-US" sz="1200"/>
                        <a:t>600</a:t>
                      </a:r>
                      <a:endParaRPr lang="en-US" sz="1200" b="1"/>
                    </a:p>
                  </a:txBody>
                  <a:tcPr marL="50173" marR="50173" marT="25086" marB="25086" anchor="ctr"/>
                </a:tc>
                <a:tc>
                  <a:txBody>
                    <a:bodyPr/>
                    <a:lstStyle/>
                    <a:p>
                      <a:r>
                        <a:rPr lang="en-US" sz="1200" dirty="0"/>
                        <a:t>300</a:t>
                      </a:r>
                      <a:endParaRPr lang="en-US" sz="1200" b="1" dirty="0"/>
                    </a:p>
                  </a:txBody>
                  <a:tcPr marL="50173" marR="50173" marT="25086" marB="25086" anchor="ctr"/>
                </a:tc>
                <a:tc>
                  <a:txBody>
                    <a:bodyPr/>
                    <a:lstStyle/>
                    <a:p>
                      <a:r>
                        <a:rPr lang="en-US" sz="1200"/>
                        <a:t>300</a:t>
                      </a:r>
                      <a:endParaRPr lang="en-US" sz="1200" b="1"/>
                    </a:p>
                  </a:txBody>
                  <a:tcPr marL="50173" marR="50173" marT="25086" marB="25086" anchor="ctr"/>
                </a:tc>
              </a:tr>
              <a:tr h="221872">
                <a:tc>
                  <a:txBody>
                    <a:bodyPr/>
                    <a:lstStyle/>
                    <a:p>
                      <a:r>
                        <a:rPr lang="en-US" sz="1200"/>
                        <a:t>9</a:t>
                      </a:r>
                      <a:endParaRPr lang="en-US" sz="1200" b="1"/>
                    </a:p>
                  </a:txBody>
                  <a:tcPr marL="50173" marR="50173" marT="25086" marB="25086" anchor="ctr"/>
                </a:tc>
                <a:tc>
                  <a:txBody>
                    <a:bodyPr/>
                    <a:lstStyle/>
                    <a:p>
                      <a:r>
                        <a:rPr lang="en-US" sz="1200"/>
                        <a:t>12V Battery</a:t>
                      </a:r>
                      <a:endParaRPr lang="en-US" sz="1200" b="1"/>
                    </a:p>
                  </a:txBody>
                  <a:tcPr marL="50173" marR="50173" marT="25086" marB="25086" anchor="ctr"/>
                </a:tc>
                <a:tc>
                  <a:txBody>
                    <a:bodyPr/>
                    <a:lstStyle/>
                    <a:p>
                      <a:r>
                        <a:rPr lang="en-US" sz="1200"/>
                        <a:t>1,800</a:t>
                      </a:r>
                      <a:endParaRPr lang="en-US" sz="1200" b="1"/>
                    </a:p>
                  </a:txBody>
                  <a:tcPr marL="50173" marR="50173" marT="25086" marB="25086" anchor="ctr"/>
                </a:tc>
                <a:tc>
                  <a:txBody>
                    <a:bodyPr/>
                    <a:lstStyle/>
                    <a:p>
                      <a:r>
                        <a:rPr lang="en-US" sz="1200"/>
                        <a:t>900</a:t>
                      </a:r>
                      <a:endParaRPr lang="en-US" sz="1200" b="1"/>
                    </a:p>
                  </a:txBody>
                  <a:tcPr marL="50173" marR="50173" marT="25086" marB="25086" anchor="ctr"/>
                </a:tc>
                <a:tc>
                  <a:txBody>
                    <a:bodyPr/>
                    <a:lstStyle/>
                    <a:p>
                      <a:r>
                        <a:rPr lang="en-US" sz="1200"/>
                        <a:t>900</a:t>
                      </a:r>
                      <a:endParaRPr lang="en-US" sz="1200" b="1"/>
                    </a:p>
                  </a:txBody>
                  <a:tcPr marL="50173" marR="50173" marT="25086" marB="25086" anchor="ctr"/>
                </a:tc>
              </a:tr>
              <a:tr h="221872">
                <a:tc>
                  <a:txBody>
                    <a:bodyPr/>
                    <a:lstStyle/>
                    <a:p>
                      <a:r>
                        <a:rPr lang="en-US" sz="1200"/>
                        <a:t>10</a:t>
                      </a:r>
                      <a:endParaRPr lang="en-US" sz="1200" b="1"/>
                    </a:p>
                  </a:txBody>
                  <a:tcPr marL="50173" marR="50173" marT="25086" marB="25086" anchor="ctr"/>
                </a:tc>
                <a:tc>
                  <a:txBody>
                    <a:bodyPr/>
                    <a:lstStyle/>
                    <a:p>
                      <a:r>
                        <a:rPr lang="en-US" sz="1200"/>
                        <a:t>Solar Panel</a:t>
                      </a:r>
                      <a:endParaRPr lang="en-US" sz="1200" b="1"/>
                    </a:p>
                  </a:txBody>
                  <a:tcPr marL="50173" marR="50173" marT="25086" marB="25086" anchor="ctr"/>
                </a:tc>
                <a:tc>
                  <a:txBody>
                    <a:bodyPr/>
                    <a:lstStyle/>
                    <a:p>
                      <a:r>
                        <a:rPr lang="en-US" sz="1200" dirty="0"/>
                        <a:t>2,000</a:t>
                      </a:r>
                      <a:endParaRPr lang="en-US" sz="1200" b="1" dirty="0"/>
                    </a:p>
                  </a:txBody>
                  <a:tcPr marL="50173" marR="50173" marT="25086" marB="25086" anchor="ctr"/>
                </a:tc>
                <a:tc>
                  <a:txBody>
                    <a:bodyPr/>
                    <a:lstStyle/>
                    <a:p>
                      <a:r>
                        <a:rPr lang="en-US" sz="1200"/>
                        <a:t>1,000</a:t>
                      </a:r>
                      <a:endParaRPr lang="en-US" sz="1200" b="1"/>
                    </a:p>
                  </a:txBody>
                  <a:tcPr marL="50173" marR="50173" marT="25086" marB="25086" anchor="ctr"/>
                </a:tc>
                <a:tc>
                  <a:txBody>
                    <a:bodyPr/>
                    <a:lstStyle/>
                    <a:p>
                      <a:r>
                        <a:rPr lang="en-US" sz="1200" dirty="0"/>
                        <a:t>1,000</a:t>
                      </a:r>
                      <a:endParaRPr lang="en-US" sz="1200" b="1" dirty="0"/>
                    </a:p>
                  </a:txBody>
                  <a:tcPr marL="50173" marR="50173" marT="25086" marB="25086" anchor="ctr"/>
                </a:tc>
              </a:tr>
              <a:tr h="340990">
                <a:tc>
                  <a:txBody>
                    <a:bodyPr/>
                    <a:lstStyle/>
                    <a:p>
                      <a:r>
                        <a:rPr lang="en-US" sz="1200"/>
                        <a:t>11</a:t>
                      </a:r>
                      <a:endParaRPr lang="en-US" sz="1200" b="1"/>
                    </a:p>
                  </a:txBody>
                  <a:tcPr marL="50173" marR="50173" marT="25086" marB="25086" anchor="ctr"/>
                </a:tc>
                <a:tc>
                  <a:txBody>
                    <a:bodyPr/>
                    <a:lstStyle/>
                    <a:p>
                      <a:r>
                        <a:rPr lang="en-US" sz="1200"/>
                        <a:t>Robot Chassis &amp; Frame</a:t>
                      </a:r>
                      <a:endParaRPr lang="en-US" sz="1200" b="1"/>
                    </a:p>
                  </a:txBody>
                  <a:tcPr marL="50173" marR="50173" marT="25086" marB="25086" anchor="ctr"/>
                </a:tc>
                <a:tc>
                  <a:txBody>
                    <a:bodyPr/>
                    <a:lstStyle/>
                    <a:p>
                      <a:r>
                        <a:rPr lang="en-US" sz="1200"/>
                        <a:t>1,500</a:t>
                      </a:r>
                      <a:endParaRPr lang="en-US" sz="1200" b="1"/>
                    </a:p>
                  </a:txBody>
                  <a:tcPr marL="50173" marR="50173" marT="25086" marB="25086" anchor="ctr"/>
                </a:tc>
                <a:tc>
                  <a:txBody>
                    <a:bodyPr/>
                    <a:lstStyle/>
                    <a:p>
                      <a:r>
                        <a:rPr lang="en-US" sz="1200"/>
                        <a:t>800</a:t>
                      </a:r>
                      <a:endParaRPr lang="en-US" sz="1200" b="1"/>
                    </a:p>
                  </a:txBody>
                  <a:tcPr marL="50173" marR="50173" marT="25086" marB="25086" anchor="ctr"/>
                </a:tc>
                <a:tc>
                  <a:txBody>
                    <a:bodyPr/>
                    <a:lstStyle/>
                    <a:p>
                      <a:r>
                        <a:rPr lang="en-US" sz="1200"/>
                        <a:t>700</a:t>
                      </a:r>
                      <a:endParaRPr lang="en-US" sz="1200" b="1"/>
                    </a:p>
                  </a:txBody>
                  <a:tcPr marL="50173" marR="50173" marT="25086" marB="25086" anchor="ctr"/>
                </a:tc>
              </a:tr>
              <a:tr h="487385">
                <a:tc>
                  <a:txBody>
                    <a:bodyPr/>
                    <a:lstStyle/>
                    <a:p>
                      <a:r>
                        <a:rPr lang="en-US" sz="1200"/>
                        <a:t>12</a:t>
                      </a:r>
                      <a:endParaRPr lang="en-US" sz="1200" b="1"/>
                    </a:p>
                  </a:txBody>
                  <a:tcPr marL="50173" marR="50173" marT="25086" marB="25086" anchor="ctr"/>
                </a:tc>
                <a:tc>
                  <a:txBody>
                    <a:bodyPr/>
                    <a:lstStyle/>
                    <a:p>
                      <a:r>
                        <a:rPr lang="en-US" sz="1200"/>
                        <a:t>Jumper Wires &amp; Connecting Cables</a:t>
                      </a:r>
                      <a:endParaRPr lang="en-US" sz="1200" b="1"/>
                    </a:p>
                  </a:txBody>
                  <a:tcPr marL="50173" marR="50173" marT="25086" marB="25086" anchor="ctr"/>
                </a:tc>
                <a:tc>
                  <a:txBody>
                    <a:bodyPr/>
                    <a:lstStyle/>
                    <a:p>
                      <a:r>
                        <a:rPr lang="en-US" sz="1200"/>
                        <a:t>500</a:t>
                      </a:r>
                      <a:endParaRPr lang="en-US" sz="1200" b="1"/>
                    </a:p>
                  </a:txBody>
                  <a:tcPr marL="50173" marR="50173" marT="25086" marB="25086" anchor="ctr"/>
                </a:tc>
                <a:tc>
                  <a:txBody>
                    <a:bodyPr/>
                    <a:lstStyle/>
                    <a:p>
                      <a:r>
                        <a:rPr lang="en-US" sz="1200"/>
                        <a:t>300</a:t>
                      </a:r>
                      <a:endParaRPr lang="en-US" sz="1200" b="1"/>
                    </a:p>
                  </a:txBody>
                  <a:tcPr marL="50173" marR="50173" marT="25086" marB="25086" anchor="ctr"/>
                </a:tc>
                <a:tc>
                  <a:txBody>
                    <a:bodyPr/>
                    <a:lstStyle/>
                    <a:p>
                      <a:r>
                        <a:rPr lang="en-US" sz="1200"/>
                        <a:t>200</a:t>
                      </a:r>
                      <a:endParaRPr lang="en-US" sz="1200" b="1"/>
                    </a:p>
                  </a:txBody>
                  <a:tcPr marL="50173" marR="50173" marT="25086" marB="25086" anchor="ctr"/>
                </a:tc>
              </a:tr>
              <a:tr h="340990">
                <a:tc>
                  <a:txBody>
                    <a:bodyPr/>
                    <a:lstStyle/>
                    <a:p>
                      <a:r>
                        <a:rPr lang="en-US" sz="1200"/>
                        <a:t>13</a:t>
                      </a:r>
                      <a:endParaRPr lang="en-US" sz="1200" b="1"/>
                    </a:p>
                  </a:txBody>
                  <a:tcPr marL="50173" marR="50173" marT="25086" marB="25086" anchor="ctr"/>
                </a:tc>
                <a:tc>
                  <a:txBody>
                    <a:bodyPr/>
                    <a:lstStyle/>
                    <a:p>
                      <a:r>
                        <a:rPr lang="en-US" sz="1200"/>
                        <a:t>Breadboard &amp; PCB</a:t>
                      </a:r>
                      <a:endParaRPr lang="en-US" sz="1200" b="1"/>
                    </a:p>
                  </a:txBody>
                  <a:tcPr marL="50173" marR="50173" marT="25086" marB="25086" anchor="ctr"/>
                </a:tc>
                <a:tc>
                  <a:txBody>
                    <a:bodyPr/>
                    <a:lstStyle/>
                    <a:p>
                      <a:r>
                        <a:rPr lang="en-US" sz="1200"/>
                        <a:t>600</a:t>
                      </a:r>
                      <a:endParaRPr lang="en-US" sz="1200" b="1"/>
                    </a:p>
                  </a:txBody>
                  <a:tcPr marL="50173" marR="50173" marT="25086" marB="25086" anchor="ctr"/>
                </a:tc>
                <a:tc>
                  <a:txBody>
                    <a:bodyPr/>
                    <a:lstStyle/>
                    <a:p>
                      <a:r>
                        <a:rPr lang="en-US" sz="1200"/>
                        <a:t>350</a:t>
                      </a:r>
                      <a:endParaRPr lang="en-US" sz="1200" b="1"/>
                    </a:p>
                  </a:txBody>
                  <a:tcPr marL="50173" marR="50173" marT="25086" marB="25086" anchor="ctr"/>
                </a:tc>
                <a:tc>
                  <a:txBody>
                    <a:bodyPr/>
                    <a:lstStyle/>
                    <a:p>
                      <a:r>
                        <a:rPr lang="en-US" sz="1200"/>
                        <a:t>250</a:t>
                      </a:r>
                      <a:endParaRPr lang="en-US" sz="1200" b="1"/>
                    </a:p>
                  </a:txBody>
                  <a:tcPr marL="50173" marR="50173" marT="25086" marB="25086" anchor="ctr"/>
                </a:tc>
              </a:tr>
              <a:tr h="221872">
                <a:tc>
                  <a:txBody>
                    <a:bodyPr/>
                    <a:lstStyle/>
                    <a:p>
                      <a:r>
                        <a:rPr lang="en-US" sz="1200"/>
                        <a:t>14</a:t>
                      </a:r>
                      <a:endParaRPr lang="en-US" sz="1200" b="1"/>
                    </a:p>
                  </a:txBody>
                  <a:tcPr marL="50173" marR="50173" marT="25086" marB="25086" anchor="ctr"/>
                </a:tc>
                <a:tc>
                  <a:txBody>
                    <a:bodyPr/>
                    <a:lstStyle/>
                    <a:p>
                      <a:r>
                        <a:rPr lang="en-US" sz="1200"/>
                        <a:t>Fertilizer Tank</a:t>
                      </a:r>
                      <a:endParaRPr lang="en-US" sz="1200" b="1"/>
                    </a:p>
                  </a:txBody>
                  <a:tcPr marL="50173" marR="50173" marT="25086" marB="25086" anchor="ctr"/>
                </a:tc>
                <a:tc>
                  <a:txBody>
                    <a:bodyPr/>
                    <a:lstStyle/>
                    <a:p>
                      <a:r>
                        <a:rPr lang="en-US" sz="1200"/>
                        <a:t>1,000</a:t>
                      </a:r>
                      <a:endParaRPr lang="en-US" sz="1200" b="1"/>
                    </a:p>
                  </a:txBody>
                  <a:tcPr marL="50173" marR="50173" marT="25086" marB="25086" anchor="ctr"/>
                </a:tc>
                <a:tc>
                  <a:txBody>
                    <a:bodyPr/>
                    <a:lstStyle/>
                    <a:p>
                      <a:r>
                        <a:rPr lang="en-US" sz="1200"/>
                        <a:t>500</a:t>
                      </a:r>
                      <a:endParaRPr lang="en-US" sz="1200" b="1"/>
                    </a:p>
                  </a:txBody>
                  <a:tcPr marL="50173" marR="50173" marT="25086" marB="25086" anchor="ctr"/>
                </a:tc>
                <a:tc>
                  <a:txBody>
                    <a:bodyPr/>
                    <a:lstStyle/>
                    <a:p>
                      <a:r>
                        <a:rPr lang="en-US" sz="1200" dirty="0"/>
                        <a:t>500</a:t>
                      </a:r>
                      <a:endParaRPr lang="en-US" sz="1200" b="1" dirty="0"/>
                    </a:p>
                  </a:txBody>
                  <a:tcPr marL="50173" marR="50173" marT="25086" marB="25086" anchor="ctr"/>
                </a:tc>
              </a:tr>
            </a:tbl>
          </a:graphicData>
        </a:graphic>
      </p:graphicFrame>
    </p:spTree>
    <p:extLst>
      <p:ext uri="{BB962C8B-B14F-4D97-AF65-F5344CB8AC3E}">
        <p14:creationId xmlns="" xmlns:p14="http://schemas.microsoft.com/office/powerpoint/2010/main" val="531670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04AF259-3B4B-A37A-97F7-3AF71A23E972}"/>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EAA0EF37-F1E2-E580-2F9F-ECE57DE8BA99}"/>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CA6B44FF-7666-C144-0DED-710CC5C5589E}"/>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B6864B97-2F29-AABE-D904-02920B98ADBF}"/>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 xmlns:a16="http://schemas.microsoft.com/office/drawing/2014/main" id="{812DCE22-A6A1-C93D-76B5-648DFDB3CA25}"/>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US" b="1" dirty="0" smtClean="0"/>
              <a:t>Recurring  </a:t>
            </a:r>
            <a:r>
              <a:rPr lang="en-US" b="1" dirty="0" smtClean="0">
                <a:latin typeface="Times New Roman" panose="02020603050405020304" pitchFamily="18" charset="0"/>
                <a:cs typeface="Times New Roman" panose="02020603050405020304" pitchFamily="18" charset="0"/>
              </a:rPr>
              <a:t>Budget estimation</a:t>
            </a:r>
            <a:endParaRPr spc="-10" dirty="0"/>
          </a:p>
        </p:txBody>
      </p:sp>
      <p:sp>
        <p:nvSpPr>
          <p:cNvPr id="8" name="object 8">
            <a:extLst>
              <a:ext uri="{FF2B5EF4-FFF2-40B4-BE49-F238E27FC236}">
                <a16:creationId xmlns="" xmlns:a16="http://schemas.microsoft.com/office/drawing/2014/main" id="{B40DC9DC-F0DB-D21D-F088-B85941023D16}"/>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 xmlns:a16="http://schemas.microsoft.com/office/drawing/2014/main" id="{4BF77F90-AA16-0F3B-1D6A-81EAE29BE064}"/>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78183346-8CCE-B4F6-26B8-17F2B4CC95F0}"/>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14</a:t>
            </a:fld>
            <a:endParaRPr spc="-25" dirty="0"/>
          </a:p>
        </p:txBody>
      </p:sp>
      <p:sp>
        <p:nvSpPr>
          <p:cNvPr id="7" name="object 7">
            <a:extLst>
              <a:ext uri="{FF2B5EF4-FFF2-40B4-BE49-F238E27FC236}">
                <a16:creationId xmlns="" xmlns:a16="http://schemas.microsoft.com/office/drawing/2014/main" id="{A7F7F00B-998E-4E4F-7FF7-B23EFE583E51}"/>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 xmlns:a16="http://schemas.microsoft.com/office/drawing/2014/main" id="{036EC506-91D3-2216-1130-820042CFA50F}"/>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 xmlns:a16="http://schemas.microsoft.com/office/drawing/2014/main" id="{3BA1B4BC-97D6-736B-19FA-6D19AB6F45CA}"/>
              </a:ext>
            </a:extLst>
          </p:cNvPr>
          <p:cNvSpPr txBox="1"/>
          <p:nvPr/>
        </p:nvSpPr>
        <p:spPr>
          <a:xfrm>
            <a:off x="5257800" y="2057400"/>
            <a:ext cx="184731" cy="707886"/>
          </a:xfrm>
          <a:prstGeom prst="rect">
            <a:avLst/>
          </a:prstGeom>
          <a:noFill/>
        </p:spPr>
        <p:txBody>
          <a:bodyPr wrap="non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graphicFrame>
        <p:nvGraphicFramePr>
          <p:cNvPr id="14" name="Table 13"/>
          <p:cNvGraphicFramePr>
            <a:graphicFrameLocks noGrp="1"/>
          </p:cNvGraphicFramePr>
          <p:nvPr/>
        </p:nvGraphicFramePr>
        <p:xfrm>
          <a:off x="304800" y="1066799"/>
          <a:ext cx="11201400" cy="5486400"/>
        </p:xfrm>
        <a:graphic>
          <a:graphicData uri="http://schemas.openxmlformats.org/drawingml/2006/table">
            <a:tbl>
              <a:tblPr>
                <a:tableStyleId>{3C2FFA5D-87B4-456A-9821-1D502468CF0F}</a:tableStyleId>
              </a:tblPr>
              <a:tblGrid>
                <a:gridCol w="2240280"/>
                <a:gridCol w="2240280"/>
                <a:gridCol w="2240280"/>
                <a:gridCol w="2240280"/>
                <a:gridCol w="2240280"/>
              </a:tblGrid>
              <a:tr h="1662545">
                <a:tc>
                  <a:txBody>
                    <a:bodyPr/>
                    <a:lstStyle/>
                    <a:p>
                      <a:r>
                        <a:rPr lang="en-US" dirty="0"/>
                        <a:t>S. No</a:t>
                      </a:r>
                    </a:p>
                  </a:txBody>
                  <a:tcPr anchor="ctr"/>
                </a:tc>
                <a:tc>
                  <a:txBody>
                    <a:bodyPr/>
                    <a:lstStyle/>
                    <a:p>
                      <a:r>
                        <a:rPr lang="en-US" dirty="0"/>
                        <a:t>Item Head</a:t>
                      </a:r>
                    </a:p>
                  </a:txBody>
                  <a:tcPr anchor="ctr"/>
                </a:tc>
                <a:tc>
                  <a:txBody>
                    <a:bodyPr/>
                    <a:lstStyle/>
                    <a:p>
                      <a:r>
                        <a:rPr lang="en-US" dirty="0"/>
                        <a:t>Estimated Cost (Rs.)</a:t>
                      </a:r>
                    </a:p>
                  </a:txBody>
                  <a:tcPr anchor="ctr"/>
                </a:tc>
                <a:tc>
                  <a:txBody>
                    <a:bodyPr/>
                    <a:lstStyle/>
                    <a:p>
                      <a:r>
                        <a:rPr lang="en-US"/>
                        <a:t>Fund Arranged (Rs.)</a:t>
                      </a:r>
                    </a:p>
                  </a:txBody>
                  <a:tcPr anchor="ctr"/>
                </a:tc>
                <a:tc>
                  <a:txBody>
                    <a:bodyPr/>
                    <a:lstStyle/>
                    <a:p>
                      <a:r>
                        <a:rPr lang="en-US"/>
                        <a:t>Fund Required (Rs.)</a:t>
                      </a:r>
                    </a:p>
                  </a:txBody>
                  <a:tcPr anchor="ctr"/>
                </a:tc>
              </a:tr>
              <a:tr h="588285">
                <a:tc>
                  <a:txBody>
                    <a:bodyPr/>
                    <a:lstStyle/>
                    <a:p>
                      <a:r>
                        <a:rPr lang="en-US" dirty="0"/>
                        <a:t>1</a:t>
                      </a:r>
                    </a:p>
                  </a:txBody>
                  <a:tcPr anchor="ctr"/>
                </a:tc>
                <a:tc>
                  <a:txBody>
                    <a:bodyPr/>
                    <a:lstStyle/>
                    <a:p>
                      <a:r>
                        <a:rPr lang="en-US" dirty="0"/>
                        <a:t>Manpower</a:t>
                      </a:r>
                    </a:p>
                  </a:txBody>
                  <a:tcPr anchor="ctr"/>
                </a:tc>
                <a:tc>
                  <a:txBody>
                    <a:bodyPr/>
                    <a:lstStyle/>
                    <a:p>
                      <a:r>
                        <a:rPr lang="en-US"/>
                        <a:t>1,000</a:t>
                      </a:r>
                    </a:p>
                  </a:txBody>
                  <a:tcPr anchor="ctr"/>
                </a:tc>
                <a:tc>
                  <a:txBody>
                    <a:bodyPr/>
                    <a:lstStyle/>
                    <a:p>
                      <a:r>
                        <a:rPr lang="en-US"/>
                        <a:t>800</a:t>
                      </a:r>
                    </a:p>
                  </a:txBody>
                  <a:tcPr anchor="ctr"/>
                </a:tc>
                <a:tc>
                  <a:txBody>
                    <a:bodyPr/>
                    <a:lstStyle/>
                    <a:p>
                      <a:r>
                        <a:rPr lang="en-US"/>
                        <a:t>200</a:t>
                      </a:r>
                    </a:p>
                  </a:txBody>
                  <a:tcPr anchor="ctr"/>
                </a:tc>
              </a:tr>
              <a:tr h="588285">
                <a:tc>
                  <a:txBody>
                    <a:bodyPr/>
                    <a:lstStyle/>
                    <a:p>
                      <a:r>
                        <a:rPr lang="en-US"/>
                        <a:t>2</a:t>
                      </a:r>
                    </a:p>
                  </a:txBody>
                  <a:tcPr anchor="ctr"/>
                </a:tc>
                <a:tc>
                  <a:txBody>
                    <a:bodyPr/>
                    <a:lstStyle/>
                    <a:p>
                      <a:r>
                        <a:rPr lang="en-US" dirty="0"/>
                        <a:t>Consumables</a:t>
                      </a:r>
                    </a:p>
                  </a:txBody>
                  <a:tcPr anchor="ctr"/>
                </a:tc>
                <a:tc>
                  <a:txBody>
                    <a:bodyPr/>
                    <a:lstStyle/>
                    <a:p>
                      <a:r>
                        <a:rPr lang="en-US"/>
                        <a:t>1,000</a:t>
                      </a:r>
                    </a:p>
                  </a:txBody>
                  <a:tcPr anchor="ctr"/>
                </a:tc>
                <a:tc>
                  <a:txBody>
                    <a:bodyPr/>
                    <a:lstStyle/>
                    <a:p>
                      <a:r>
                        <a:rPr lang="en-US"/>
                        <a:t>700</a:t>
                      </a:r>
                    </a:p>
                  </a:txBody>
                  <a:tcPr anchor="ctr"/>
                </a:tc>
                <a:tc>
                  <a:txBody>
                    <a:bodyPr/>
                    <a:lstStyle/>
                    <a:p>
                      <a:r>
                        <a:rPr lang="en-US"/>
                        <a:t>300</a:t>
                      </a:r>
                    </a:p>
                  </a:txBody>
                  <a:tcPr anchor="ctr"/>
                </a:tc>
              </a:tr>
              <a:tr h="588285">
                <a:tc>
                  <a:txBody>
                    <a:bodyPr/>
                    <a:lstStyle/>
                    <a:p>
                      <a:r>
                        <a:rPr lang="en-US"/>
                        <a:t>3</a:t>
                      </a:r>
                    </a:p>
                  </a:txBody>
                  <a:tcPr anchor="ctr"/>
                </a:tc>
                <a:tc>
                  <a:txBody>
                    <a:bodyPr/>
                    <a:lstStyle/>
                    <a:p>
                      <a:r>
                        <a:rPr lang="en-US" dirty="0"/>
                        <a:t>Contingencies</a:t>
                      </a:r>
                    </a:p>
                  </a:txBody>
                  <a:tcPr anchor="ctr"/>
                </a:tc>
                <a:tc>
                  <a:txBody>
                    <a:bodyPr/>
                    <a:lstStyle/>
                    <a:p>
                      <a:r>
                        <a:rPr lang="en-US"/>
                        <a:t>500</a:t>
                      </a:r>
                    </a:p>
                  </a:txBody>
                  <a:tcPr anchor="ctr"/>
                </a:tc>
                <a:tc>
                  <a:txBody>
                    <a:bodyPr/>
                    <a:lstStyle/>
                    <a:p>
                      <a:r>
                        <a:rPr lang="en-US" dirty="0"/>
                        <a:t>350</a:t>
                      </a:r>
                    </a:p>
                  </a:txBody>
                  <a:tcPr anchor="ctr"/>
                </a:tc>
                <a:tc>
                  <a:txBody>
                    <a:bodyPr/>
                    <a:lstStyle/>
                    <a:p>
                      <a:r>
                        <a:rPr lang="en-US"/>
                        <a:t>150</a:t>
                      </a:r>
                    </a:p>
                  </a:txBody>
                  <a:tcPr anchor="ctr"/>
                </a:tc>
              </a:tr>
              <a:tr h="1029500">
                <a:tc>
                  <a:txBody>
                    <a:bodyPr/>
                    <a:lstStyle/>
                    <a:p>
                      <a:r>
                        <a:rPr lang="en-US"/>
                        <a:t>4</a:t>
                      </a:r>
                    </a:p>
                  </a:txBody>
                  <a:tcPr anchor="ctr"/>
                </a:tc>
                <a:tc>
                  <a:txBody>
                    <a:bodyPr/>
                    <a:lstStyle/>
                    <a:p>
                      <a:r>
                        <a:rPr lang="en-US" dirty="0"/>
                        <a:t>Travel &amp; Field Testing</a:t>
                      </a:r>
                    </a:p>
                  </a:txBody>
                  <a:tcPr anchor="ctr"/>
                </a:tc>
                <a:tc>
                  <a:txBody>
                    <a:bodyPr/>
                    <a:lstStyle/>
                    <a:p>
                      <a:r>
                        <a:rPr lang="en-US" dirty="0"/>
                        <a:t>900</a:t>
                      </a:r>
                    </a:p>
                  </a:txBody>
                  <a:tcPr anchor="ctr"/>
                </a:tc>
                <a:tc>
                  <a:txBody>
                    <a:bodyPr/>
                    <a:lstStyle/>
                    <a:p>
                      <a:r>
                        <a:rPr lang="en-US"/>
                        <a:t>700</a:t>
                      </a:r>
                    </a:p>
                  </a:txBody>
                  <a:tcPr anchor="ctr"/>
                </a:tc>
                <a:tc>
                  <a:txBody>
                    <a:bodyPr/>
                    <a:lstStyle/>
                    <a:p>
                      <a:r>
                        <a:rPr lang="en-US"/>
                        <a:t>200</a:t>
                      </a:r>
                    </a:p>
                  </a:txBody>
                  <a:tcPr anchor="ctr"/>
                </a:tc>
              </a:tr>
              <a:tr h="1029500">
                <a:tc>
                  <a:txBody>
                    <a:bodyPr/>
                    <a:lstStyle/>
                    <a:p>
                      <a:r>
                        <a:rPr lang="en-US"/>
                        <a:t>5</a:t>
                      </a:r>
                    </a:p>
                  </a:txBody>
                  <a:tcPr anchor="ctr"/>
                </a:tc>
                <a:tc>
                  <a:txBody>
                    <a:bodyPr/>
                    <a:lstStyle/>
                    <a:p>
                      <a:r>
                        <a:rPr lang="en-US"/>
                        <a:t>Overhead Charges</a:t>
                      </a:r>
                    </a:p>
                  </a:txBody>
                  <a:tcPr anchor="ctr"/>
                </a:tc>
                <a:tc>
                  <a:txBody>
                    <a:bodyPr/>
                    <a:lstStyle/>
                    <a:p>
                      <a:r>
                        <a:rPr lang="en-US" dirty="0"/>
                        <a:t>500</a:t>
                      </a:r>
                    </a:p>
                  </a:txBody>
                  <a:tcPr anchor="ctr"/>
                </a:tc>
                <a:tc>
                  <a:txBody>
                    <a:bodyPr/>
                    <a:lstStyle/>
                    <a:p>
                      <a:r>
                        <a:rPr lang="en-US" dirty="0"/>
                        <a:t>400</a:t>
                      </a:r>
                    </a:p>
                  </a:txBody>
                  <a:tcPr anchor="ctr"/>
                </a:tc>
                <a:tc>
                  <a:txBody>
                    <a:bodyPr/>
                    <a:lstStyle/>
                    <a:p>
                      <a:r>
                        <a:rPr lang="en-US" dirty="0"/>
                        <a:t>100</a:t>
                      </a:r>
                    </a:p>
                  </a:txBody>
                  <a:tcPr anchor="ctr"/>
                </a:tc>
              </a:tr>
            </a:tbl>
          </a:graphicData>
        </a:graphic>
      </p:graphicFrame>
    </p:spTree>
    <p:extLst>
      <p:ext uri="{BB962C8B-B14F-4D97-AF65-F5344CB8AC3E}">
        <p14:creationId xmlns="" xmlns:p14="http://schemas.microsoft.com/office/powerpoint/2010/main" val="5316709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3"/>
          <p:cNvGrpSpPr/>
          <p:nvPr/>
        </p:nvGrpSpPr>
        <p:grpSpPr>
          <a:xfrm>
            <a:off x="-26043" y="236269"/>
            <a:ext cx="12192000" cy="678131"/>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236964" y="160487"/>
            <a:ext cx="7383036" cy="1367041"/>
          </a:xfrm>
          <a:prstGeom prst="rect">
            <a:avLst/>
          </a:prstGeom>
        </p:spPr>
        <p:txBody>
          <a:bodyPr vert="horz" wrap="square" lIns="0" tIns="12700" rIns="0" bIns="0" rtlCol="0">
            <a:spAutoFit/>
          </a:bodyPr>
          <a:lstStyle/>
          <a:p>
            <a:pPr marL="12700">
              <a:spcBef>
                <a:spcPts val="100"/>
              </a:spcBef>
              <a:tabLst>
                <a:tab pos="2232025" algn="l"/>
              </a:tabLst>
            </a:pPr>
            <a:r>
              <a:rPr lang="en-US" b="1" dirty="0" smtClean="0">
                <a:latin typeface="Times New Roman" panose="02020603050405020304" pitchFamily="18" charset="0"/>
                <a:cs typeface="Times New Roman" panose="02020603050405020304" pitchFamily="18" charset="0"/>
              </a:rPr>
              <a:t>Budget </a:t>
            </a:r>
            <a:r>
              <a:rPr lang="en-US" b="1" dirty="0" smtClean="0">
                <a:latin typeface="Times New Roman" panose="02020603050405020304" pitchFamily="18" charset="0"/>
                <a:cs typeface="Times New Roman" panose="02020603050405020304" pitchFamily="18" charset="0"/>
              </a:rPr>
              <a:t>estimation </a:t>
            </a: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endParaRPr spc="-10" dirty="0"/>
          </a:p>
        </p:txBody>
      </p:sp>
      <p:sp>
        <p:nvSpPr>
          <p:cNvPr id="8" name="object 8"/>
          <p:cNvSpPr txBox="1">
            <a:spLocks noGrp="1"/>
          </p:cNvSpPr>
          <p:nvPr>
            <p:ph type="ftr" sz="quarter" idx="5"/>
          </p:nvPr>
        </p:nvSpPr>
        <p:spPr>
          <a:xfrm>
            <a:off x="152400"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15</a:t>
            </a:fld>
            <a:endParaRPr spc="-25" dirty="0"/>
          </a:p>
        </p:txBody>
      </p:sp>
      <p:sp>
        <p:nvSpPr>
          <p:cNvPr id="12" name="object 9">
            <a:extLst>
              <a:ext uri="{FF2B5EF4-FFF2-40B4-BE49-F238E27FC236}">
                <a16:creationId xmlns="" xmlns:a16="http://schemas.microsoft.com/office/drawing/2014/main" id="{B1B108D8-7176-DFD3-DD76-56EF66D0F76D}"/>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9" name="TextBox 8">
            <a:extLst>
              <a:ext uri="{FF2B5EF4-FFF2-40B4-BE49-F238E27FC236}">
                <a16:creationId xmlns="" xmlns:a16="http://schemas.microsoft.com/office/drawing/2014/main" id="{7288F165-7028-955D-D6CC-432D2AE064DE}"/>
              </a:ext>
            </a:extLst>
          </p:cNvPr>
          <p:cNvSpPr txBox="1"/>
          <p:nvPr/>
        </p:nvSpPr>
        <p:spPr>
          <a:xfrm>
            <a:off x="0" y="762000"/>
            <a:ext cx="12191999" cy="6001643"/>
          </a:xfrm>
          <a:prstGeom prst="rect">
            <a:avLst/>
          </a:prstGeom>
          <a:noFill/>
        </p:spPr>
        <p:txBody>
          <a:bodyPr wrap="square">
            <a:spAutoFit/>
          </a:bodyPr>
          <a:lstStyle/>
          <a:p>
            <a:endParaRPr lang="en-US" sz="2400" b="1" dirty="0" smtClean="0"/>
          </a:p>
          <a:p>
            <a:r>
              <a:rPr lang="en-US" sz="2400" b="1" dirty="0" smtClean="0"/>
              <a:t>Subtotal (Non-Recurring)</a:t>
            </a:r>
            <a:endParaRPr lang="en-US" sz="2400" dirty="0" smtClean="0"/>
          </a:p>
          <a:p>
            <a:r>
              <a:rPr lang="en-US" sz="2400" b="1" dirty="0" smtClean="0"/>
              <a:t>Estimated Cost:</a:t>
            </a:r>
            <a:r>
              <a:rPr lang="en-US" sz="2400" dirty="0" smtClean="0"/>
              <a:t> Rs. 22,100</a:t>
            </a:r>
          </a:p>
          <a:p>
            <a:r>
              <a:rPr lang="en-US" sz="2400" b="1" dirty="0" smtClean="0"/>
              <a:t>Arranged by Students:</a:t>
            </a:r>
            <a:r>
              <a:rPr lang="en-US" sz="2400" dirty="0" smtClean="0"/>
              <a:t> Rs. 11,350</a:t>
            </a:r>
          </a:p>
          <a:p>
            <a:r>
              <a:rPr lang="en-US" sz="2400" b="1" dirty="0" smtClean="0"/>
              <a:t>Fund Required from Institute:</a:t>
            </a:r>
            <a:r>
              <a:rPr lang="en-US" sz="2400" dirty="0" smtClean="0"/>
              <a:t> Rs. 10,750</a:t>
            </a:r>
          </a:p>
          <a:p>
            <a:endParaRPr lang="en-US" sz="2400" dirty="0" smtClean="0"/>
          </a:p>
          <a:p>
            <a:r>
              <a:rPr lang="en-US" sz="2400" b="1" dirty="0" smtClean="0"/>
              <a:t>Subtotal (Recurring Items)</a:t>
            </a:r>
            <a:endParaRPr lang="en-US" sz="2400" dirty="0" smtClean="0"/>
          </a:p>
          <a:p>
            <a:r>
              <a:rPr lang="en-US" sz="2400" b="1" dirty="0" smtClean="0"/>
              <a:t>Estimated Cost:</a:t>
            </a:r>
            <a:r>
              <a:rPr lang="en-US" sz="2400" dirty="0" smtClean="0"/>
              <a:t> Rs. 3,900</a:t>
            </a:r>
          </a:p>
          <a:p>
            <a:r>
              <a:rPr lang="en-US" sz="2400" b="1" dirty="0" smtClean="0"/>
              <a:t>Arranged by Students:</a:t>
            </a:r>
            <a:r>
              <a:rPr lang="en-US" sz="2400" dirty="0" smtClean="0"/>
              <a:t> Rs. 2,950</a:t>
            </a:r>
          </a:p>
          <a:p>
            <a:r>
              <a:rPr lang="en-US" sz="2400" b="1" dirty="0" smtClean="0"/>
              <a:t>Fund Required from Institute:</a:t>
            </a:r>
            <a:r>
              <a:rPr lang="en-US" sz="2400" dirty="0" smtClean="0"/>
              <a:t> Rs. 950</a:t>
            </a:r>
          </a:p>
          <a:p>
            <a:endParaRPr lang="en-US" sz="2400" dirty="0" smtClean="0"/>
          </a:p>
          <a:p>
            <a:r>
              <a:rPr lang="en-US" sz="2400" b="1" dirty="0" smtClean="0"/>
              <a:t>Grand Total (A + B)</a:t>
            </a:r>
          </a:p>
          <a:p>
            <a:r>
              <a:rPr lang="en-US" sz="2400" b="1" dirty="0" err="1" smtClean="0"/>
              <a:t>DescriptionAmount</a:t>
            </a:r>
            <a:r>
              <a:rPr lang="en-US" sz="2400" dirty="0" smtClean="0"/>
              <a:t> (Rs.)</a:t>
            </a:r>
            <a:r>
              <a:rPr lang="en-US" sz="2400" b="1" dirty="0" smtClean="0"/>
              <a:t>Total Estimated Cost  26,000</a:t>
            </a:r>
          </a:p>
          <a:p>
            <a:r>
              <a:rPr lang="en-US" sz="2400" b="1" dirty="0" smtClean="0"/>
              <a:t>Total Arranged by Students 14,300</a:t>
            </a:r>
          </a:p>
          <a:p>
            <a:r>
              <a:rPr lang="en-US" sz="2400" b="1" dirty="0" smtClean="0"/>
              <a:t>Total Fund Required from Institute 11,700</a:t>
            </a:r>
            <a:endParaRPr lang="en-US" sz="2400" dirty="0" smtClean="0"/>
          </a:p>
          <a:p>
            <a:pPr algn="just"/>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1783" y="160487"/>
            <a:ext cx="3888104" cy="695960"/>
          </a:xfrm>
          <a:prstGeom prst="rect">
            <a:avLst/>
          </a:prstGeom>
        </p:spPr>
        <p:txBody>
          <a:bodyPr vert="horz" wrap="square" lIns="0" tIns="12700" rIns="0" bIns="0" rtlCol="0">
            <a:spAutoFit/>
          </a:bodyPr>
          <a:lstStyle/>
          <a:p>
            <a:pPr marL="12700">
              <a:lnSpc>
                <a:spcPct val="100000"/>
              </a:lnSpc>
              <a:spcBef>
                <a:spcPts val="100"/>
              </a:spcBef>
            </a:pPr>
            <a:r>
              <a:rPr spc="-10" dirty="0"/>
              <a:t>Reference</a:t>
            </a:r>
          </a:p>
        </p:txBody>
      </p:sp>
      <p:sp>
        <p:nvSpPr>
          <p:cNvPr id="9" name="object 9"/>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1" name="object 11"/>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16</a:t>
            </a:fld>
            <a:endParaRPr spc="-25" dirty="0"/>
          </a:p>
        </p:txBody>
      </p:sp>
      <p:sp>
        <p:nvSpPr>
          <p:cNvPr id="13" name="object 9">
            <a:extLst>
              <a:ext uri="{FF2B5EF4-FFF2-40B4-BE49-F238E27FC236}">
                <a16:creationId xmlns="" xmlns:a16="http://schemas.microsoft.com/office/drawing/2014/main" id="{DB3CB73F-90E4-BBBF-9485-4264B813B45E}"/>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2" name="TextBox 1">
            <a:extLst>
              <a:ext uri="{FF2B5EF4-FFF2-40B4-BE49-F238E27FC236}">
                <a16:creationId xmlns="" xmlns:a16="http://schemas.microsoft.com/office/drawing/2014/main" id="{E98567D7-0835-E777-904C-4B43CBA57B04}"/>
              </a:ext>
            </a:extLst>
          </p:cNvPr>
          <p:cNvSpPr txBox="1"/>
          <p:nvPr/>
        </p:nvSpPr>
        <p:spPr>
          <a:xfrm>
            <a:off x="141784" y="1295400"/>
            <a:ext cx="12050214" cy="4893647"/>
          </a:xfrm>
          <a:prstGeom prst="rect">
            <a:avLst/>
          </a:prstGeom>
          <a:noFill/>
        </p:spPr>
        <p:txBody>
          <a:bodyPr wrap="square" rtlCol="0">
            <a:spAutoFit/>
          </a:bodyPr>
          <a:lstStyle/>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Prakash M. </a:t>
            </a:r>
            <a:r>
              <a:rPr lang="en-IN" sz="2400" dirty="0" err="1">
                <a:latin typeface="Times New Roman" panose="02020603050405020304" pitchFamily="18" charset="0"/>
                <a:cs typeface="Times New Roman" panose="02020603050405020304" pitchFamily="18" charset="0"/>
              </a:rPr>
              <a:t>Manikar</a:t>
            </a:r>
            <a:r>
              <a:rPr lang="en-IN" sz="2400" dirty="0">
                <a:latin typeface="Times New Roman" panose="02020603050405020304" pitchFamily="18" charset="0"/>
                <a:cs typeface="Times New Roman" panose="02020603050405020304" pitchFamily="18" charset="0"/>
              </a:rPr>
              <a:t>, Shreekant Ghorpade, Mayur Adawadkar, "Plant Leaf Disease Detection and Classification Using Image Processing Techniques," International Engineering Journal, Volume 2, Issue 4, 2015. </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2 Prof. Bhavana Patil, Mr. Hemant Panchal, Mr. SHUBHAM Yadav, Mr. Arvind Singh, Mr. Dinesh Patil, "Plant Monitoring Using Image Processing, Raspberry PI and IOT," Journal of Engineering and Technology, Volume 4, Issue 10, 2017</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3 Navin V. </a:t>
            </a:r>
            <a:r>
              <a:rPr lang="en-IN" sz="2400" dirty="0" err="1">
                <a:latin typeface="Times New Roman" panose="02020603050405020304" pitchFamily="18" charset="0"/>
                <a:cs typeface="Times New Roman" panose="02020603050405020304" pitchFamily="18" charset="0"/>
              </a:rPr>
              <a:t>Dumare</a:t>
            </a:r>
            <a:r>
              <a:rPr lang="en-IN" sz="2400" dirty="0">
                <a:latin typeface="Times New Roman" panose="02020603050405020304" pitchFamily="18" charset="0"/>
                <a:cs typeface="Times New Roman" panose="02020603050405020304" pitchFamily="18" charset="0"/>
              </a:rPr>
              <a:t>, Prof. S. S. </a:t>
            </a:r>
            <a:r>
              <a:rPr lang="en-IN" sz="2400" dirty="0" err="1">
                <a:latin typeface="Times New Roman" panose="02020603050405020304" pitchFamily="18" charset="0"/>
                <a:cs typeface="Times New Roman" panose="02020603050405020304" pitchFamily="18" charset="0"/>
              </a:rPr>
              <a:t>Mungona</a:t>
            </a:r>
            <a:r>
              <a:rPr lang="en-IN" sz="2400" dirty="0">
                <a:latin typeface="Times New Roman" panose="02020603050405020304" pitchFamily="18" charset="0"/>
                <a:cs typeface="Times New Roman" panose="02020603050405020304" pitchFamily="18" charset="0"/>
              </a:rPr>
              <a:t>, "Identification of Cotton Leaf Diseases Using Raspberry PI," Volume 5, Issue 5, 2017, International Journal on Recent and Technology Trends in Computing and Communication. </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Prathamesh. K. </a:t>
            </a:r>
            <a:r>
              <a:rPr lang="en-IN" sz="2400" dirty="0" err="1">
                <a:latin typeface="Times New Roman" panose="02020603050405020304" pitchFamily="18" charset="0"/>
                <a:cs typeface="Times New Roman" panose="02020603050405020304" pitchFamily="18" charset="0"/>
              </a:rPr>
              <a:t>Kharde</a:t>
            </a:r>
            <a:r>
              <a:rPr lang="en-IN" sz="2400" dirty="0">
                <a:latin typeface="Times New Roman" panose="02020603050405020304" pitchFamily="18" charset="0"/>
                <a:cs typeface="Times New Roman" panose="02020603050405020304" pitchFamily="18" charset="0"/>
              </a:rPr>
              <a:t>, Hemangi. H. Kulkarni, "A Special Method for the Detection of Grape Leaf Diseases," International Journal of Scientific Research, Volume 2, Issue 4, 2016.</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Jayaprakash Sethupathy, Veni S, International Journal of Engineering and Technology, Volume 8, No 5, 2016, "Open CV Based Disease Detection of Mango Leaves." </a:t>
            </a:r>
            <a:endParaRPr lang="en-IN"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1783" y="160487"/>
            <a:ext cx="3888104" cy="695960"/>
          </a:xfrm>
          <a:prstGeom prst="rect">
            <a:avLst/>
          </a:prstGeom>
        </p:spPr>
        <p:txBody>
          <a:bodyPr vert="horz" wrap="square" lIns="0" tIns="12700" rIns="0" bIns="0" rtlCol="0">
            <a:spAutoFit/>
          </a:bodyPr>
          <a:lstStyle/>
          <a:p>
            <a:pPr marL="12700">
              <a:lnSpc>
                <a:spcPct val="100000"/>
              </a:lnSpc>
              <a:spcBef>
                <a:spcPts val="100"/>
              </a:spcBef>
            </a:pPr>
            <a:r>
              <a:rPr lang="en-US" spc="-10" dirty="0"/>
              <a:t>Applications</a:t>
            </a:r>
            <a:endParaRPr spc="-10" dirty="0"/>
          </a:p>
        </p:txBody>
      </p:sp>
      <p:sp>
        <p:nvSpPr>
          <p:cNvPr id="11" name="object 11"/>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17</a:t>
            </a:fld>
            <a:endParaRPr spc="-25" dirty="0"/>
          </a:p>
        </p:txBody>
      </p:sp>
      <p:sp>
        <p:nvSpPr>
          <p:cNvPr id="13" name="object 9">
            <a:extLst>
              <a:ext uri="{FF2B5EF4-FFF2-40B4-BE49-F238E27FC236}">
                <a16:creationId xmlns="" xmlns:a16="http://schemas.microsoft.com/office/drawing/2014/main" id="{DB3CB73F-90E4-BBBF-9485-4264B813B45E}"/>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2" name="TextBox 1">
            <a:extLst>
              <a:ext uri="{FF2B5EF4-FFF2-40B4-BE49-F238E27FC236}">
                <a16:creationId xmlns="" xmlns:a16="http://schemas.microsoft.com/office/drawing/2014/main" id="{E98567D7-0835-E777-904C-4B43CBA57B04}"/>
              </a:ext>
            </a:extLst>
          </p:cNvPr>
          <p:cNvSpPr txBox="1"/>
          <p:nvPr/>
        </p:nvSpPr>
        <p:spPr>
          <a:xfrm>
            <a:off x="118138" y="1122410"/>
            <a:ext cx="12050214" cy="5632311"/>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Precision Agriculture</a:t>
            </a:r>
            <a:r>
              <a:rPr lang="en-US" sz="2400" dirty="0">
                <a:latin typeface="Times New Roman" panose="02020603050405020304" pitchFamily="18" charset="0"/>
                <a:cs typeface="Times New Roman" panose="02020603050405020304" pitchFamily="18" charset="0"/>
              </a:rPr>
              <a:t> – Automatically applies the right amount of fertilizer based on plant disease severity, improving crop health and yield.</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Reduction of Fertilizer Wastage</a:t>
            </a:r>
            <a:r>
              <a:rPr lang="en-US" sz="2400" dirty="0">
                <a:latin typeface="Times New Roman" panose="02020603050405020304" pitchFamily="18" charset="0"/>
                <a:cs typeface="Times New Roman" panose="02020603050405020304" pitchFamily="18" charset="0"/>
              </a:rPr>
              <a:t> – Prevents overuse of fertilizers by spraying only where and when needed, saving cost and resources.</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Smart Farming Automation</a:t>
            </a:r>
            <a:r>
              <a:rPr lang="en-US" sz="2400" dirty="0">
                <a:latin typeface="Times New Roman" panose="02020603050405020304" pitchFamily="18" charset="0"/>
                <a:cs typeface="Times New Roman" panose="02020603050405020304" pitchFamily="18" charset="0"/>
              </a:rPr>
              <a:t> – Reduces manual labor by automating disease detection, fertilizer spraying, and robot movement in agricultural fields.</a:t>
            </a: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Sustainable and Eco-friendly Farming</a:t>
            </a:r>
            <a:r>
              <a:rPr lang="en-US" sz="2400" dirty="0">
                <a:latin typeface="Times New Roman" panose="02020603050405020304" pitchFamily="18" charset="0"/>
                <a:cs typeface="Times New Roman" panose="02020603050405020304" pitchFamily="18" charset="0"/>
              </a:rPr>
              <a:t> – Uses solar power and optimized fertilizer usage to promote environmentally friendly agricultural practices.</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Remote Monitoring and Control</a:t>
            </a:r>
            <a:r>
              <a:rPr lang="en-US" sz="2400" dirty="0">
                <a:latin typeface="Times New Roman" panose="02020603050405020304" pitchFamily="18" charset="0"/>
                <a:cs typeface="Times New Roman" panose="02020603050405020304" pitchFamily="18" charset="0"/>
              </a:rPr>
              <a:t> – Allows farmers to wirelessly monitor and control the fertilizer spraying system via Bluetooth for easy operation and decision-making.</a:t>
            </a:r>
          </a:p>
          <a:p>
            <a:pPr marL="285750" indent="-285750"/>
            <a:endParaRPr lang="en-IN" sz="2400" dirty="0"/>
          </a:p>
        </p:txBody>
      </p:sp>
      <p:sp>
        <p:nvSpPr>
          <p:cNvPr id="7" name="TextBox 6">
            <a:extLst>
              <a:ext uri="{FF2B5EF4-FFF2-40B4-BE49-F238E27FC236}">
                <a16:creationId xmlns="" xmlns:a16="http://schemas.microsoft.com/office/drawing/2014/main" id="{61C69189-1F28-8FA8-1607-BB989B899BE4}"/>
              </a:ext>
            </a:extLst>
          </p:cNvPr>
          <p:cNvSpPr txBox="1"/>
          <p:nvPr/>
        </p:nvSpPr>
        <p:spPr>
          <a:xfrm>
            <a:off x="-1219200" y="1371600"/>
            <a:ext cx="184731" cy="369332"/>
          </a:xfrm>
          <a:prstGeom prst="rect">
            <a:avLst/>
          </a:prstGeom>
          <a:noFill/>
        </p:spPr>
        <p:txBody>
          <a:bodyPr wrap="none" rtlCol="0">
            <a:spAutoFit/>
          </a:bodyPr>
          <a:lstStyle/>
          <a:p>
            <a:endParaRPr lang="en-US" dirty="0">
              <a:solidFill>
                <a:schemeClr val="bg1"/>
              </a:solidFill>
            </a:endParaRPr>
          </a:p>
        </p:txBody>
      </p:sp>
      <p:sp>
        <p:nvSpPr>
          <p:cNvPr id="10" name="TextBox 9">
            <a:extLst>
              <a:ext uri="{FF2B5EF4-FFF2-40B4-BE49-F238E27FC236}">
                <a16:creationId xmlns="" xmlns:a16="http://schemas.microsoft.com/office/drawing/2014/main" id="{B40C4687-12D6-73EB-371E-719D6648FA00}"/>
              </a:ext>
            </a:extLst>
          </p:cNvPr>
          <p:cNvSpPr txBox="1"/>
          <p:nvPr/>
        </p:nvSpPr>
        <p:spPr>
          <a:xfrm>
            <a:off x="2176780" y="3884414"/>
            <a:ext cx="6791960" cy="369332"/>
          </a:xfrm>
          <a:prstGeom prst="rect">
            <a:avLst/>
          </a:prstGeom>
          <a:noFill/>
        </p:spPr>
        <p:txBody>
          <a:bodyPr wrap="square">
            <a:spAutoFit/>
          </a:bodyPr>
          <a:lstStyle/>
          <a:p>
            <a:r>
              <a:rPr lang="en-US" sz="1800" dirty="0">
                <a:solidFill>
                  <a:schemeClr val="bg1"/>
                </a:solidFill>
              </a:rPr>
              <a:t>B-10</a:t>
            </a:r>
          </a:p>
        </p:txBody>
      </p:sp>
      <p:sp>
        <p:nvSpPr>
          <p:cNvPr id="15" name="TextBox 14">
            <a:extLst>
              <a:ext uri="{FF2B5EF4-FFF2-40B4-BE49-F238E27FC236}">
                <a16:creationId xmlns="" xmlns:a16="http://schemas.microsoft.com/office/drawing/2014/main" id="{50A6CA49-A510-E369-68D9-223289EFC501}"/>
              </a:ext>
            </a:extLst>
          </p:cNvPr>
          <p:cNvSpPr txBox="1"/>
          <p:nvPr/>
        </p:nvSpPr>
        <p:spPr>
          <a:xfrm>
            <a:off x="0" y="6549041"/>
            <a:ext cx="671979" cy="369332"/>
          </a:xfrm>
          <a:prstGeom prst="rect">
            <a:avLst/>
          </a:prstGeom>
          <a:noFill/>
        </p:spPr>
        <p:txBody>
          <a:bodyPr wrap="none" rtlCol="0">
            <a:spAutoFit/>
          </a:bodyPr>
          <a:lstStyle/>
          <a:p>
            <a:r>
              <a:rPr lang="en-US" dirty="0">
                <a:solidFill>
                  <a:schemeClr val="bg1"/>
                </a:solidFill>
              </a:rPr>
              <a:t>B-10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1783" y="160487"/>
            <a:ext cx="3888104" cy="695960"/>
          </a:xfrm>
          <a:prstGeom prst="rect">
            <a:avLst/>
          </a:prstGeom>
        </p:spPr>
        <p:txBody>
          <a:bodyPr vert="horz" wrap="square" lIns="0" tIns="12700" rIns="0" bIns="0" rtlCol="0">
            <a:spAutoFit/>
          </a:bodyPr>
          <a:lstStyle/>
          <a:p>
            <a:pPr marL="12700">
              <a:lnSpc>
                <a:spcPct val="100000"/>
              </a:lnSpc>
              <a:spcBef>
                <a:spcPts val="100"/>
              </a:spcBef>
            </a:pPr>
            <a:r>
              <a:rPr lang="en-US" spc="-10" dirty="0"/>
              <a:t>Conclusion</a:t>
            </a:r>
            <a:endParaRPr spc="-10" dirty="0"/>
          </a:p>
        </p:txBody>
      </p:sp>
      <p:sp>
        <p:nvSpPr>
          <p:cNvPr id="9" name="object 9"/>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-10</a:t>
            </a:r>
            <a:endParaRPr spc="-25" dirty="0"/>
          </a:p>
        </p:txBody>
      </p:sp>
      <p:sp>
        <p:nvSpPr>
          <p:cNvPr id="11" name="object 11"/>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18</a:t>
            </a:fld>
            <a:endParaRPr spc="-25" dirty="0"/>
          </a:p>
        </p:txBody>
      </p:sp>
      <p:sp>
        <p:nvSpPr>
          <p:cNvPr id="13" name="object 9">
            <a:extLst>
              <a:ext uri="{FF2B5EF4-FFF2-40B4-BE49-F238E27FC236}">
                <a16:creationId xmlns="" xmlns:a16="http://schemas.microsoft.com/office/drawing/2014/main" id="{DB3CB73F-90E4-BBBF-9485-4264B813B45E}"/>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2" name="TextBox 1">
            <a:extLst>
              <a:ext uri="{FF2B5EF4-FFF2-40B4-BE49-F238E27FC236}">
                <a16:creationId xmlns="" xmlns:a16="http://schemas.microsoft.com/office/drawing/2014/main" id="{E98567D7-0835-E777-904C-4B43CBA57B04}"/>
              </a:ext>
            </a:extLst>
          </p:cNvPr>
          <p:cNvSpPr txBox="1"/>
          <p:nvPr/>
        </p:nvSpPr>
        <p:spPr>
          <a:xfrm>
            <a:off x="0" y="1020041"/>
            <a:ext cx="12050214" cy="5632311"/>
          </a:xfrm>
          <a:prstGeom prst="rect">
            <a:avLst/>
          </a:prstGeom>
          <a:noFill/>
        </p:spPr>
        <p:txBody>
          <a:bodyPr wrap="square" rtlCol="0">
            <a:spAutoFit/>
          </a:bodyPr>
          <a:lstStyle/>
          <a:p>
            <a:pPr marL="285750" indent="-285750" algn="just"/>
            <a:r>
              <a:rPr lang="en-US" sz="2400" dirty="0">
                <a:latin typeface="Times New Roman" panose="02020603050405020304" pitchFamily="18" charset="0"/>
                <a:cs typeface="Times New Roman" panose="02020603050405020304" pitchFamily="18" charset="0"/>
              </a:rPr>
              <a:t>The Smart Fertilizer Spraying System with Plant Disease Severity Analysis presents</a:t>
            </a:r>
          </a:p>
          <a:p>
            <a:pPr marL="285750" indent="-285750" algn="just"/>
            <a:r>
              <a:rPr lang="en-US" sz="2400" dirty="0">
                <a:latin typeface="Times New Roman" panose="02020603050405020304" pitchFamily="18" charset="0"/>
                <a:cs typeface="Times New Roman" panose="02020603050405020304" pitchFamily="18" charset="0"/>
              </a:rPr>
              <a:t>an effective and innovative solution for modern precision agriculture. By</a:t>
            </a:r>
          </a:p>
          <a:p>
            <a:pPr marL="285750" indent="-285750" algn="just"/>
            <a:r>
              <a:rPr lang="en-US" sz="2400" dirty="0">
                <a:latin typeface="Times New Roman" panose="02020603050405020304" pitchFamily="18" charset="0"/>
                <a:cs typeface="Times New Roman" panose="02020603050405020304" pitchFamily="18" charset="0"/>
              </a:rPr>
              <a:t>integrating image-based plant disease severity detection with automated fertilizer</a:t>
            </a:r>
          </a:p>
          <a:p>
            <a:pPr marL="285750" indent="-285750" algn="just"/>
            <a:r>
              <a:rPr lang="en-US" sz="2400" dirty="0">
                <a:latin typeface="Times New Roman" panose="02020603050405020304" pitchFamily="18" charset="0"/>
                <a:cs typeface="Times New Roman" panose="02020603050405020304" pitchFamily="18" charset="0"/>
              </a:rPr>
              <a:t>spraying, the system ensures accurate and need-based application of fertilizers,</a:t>
            </a:r>
          </a:p>
          <a:p>
            <a:pPr marL="285750" indent="-285750" algn="just"/>
            <a:r>
              <a:rPr lang="en-US" sz="2400" dirty="0">
                <a:latin typeface="Times New Roman" panose="02020603050405020304" pitchFamily="18" charset="0"/>
                <a:cs typeface="Times New Roman" panose="02020603050405020304" pitchFamily="18" charset="0"/>
              </a:rPr>
              <a:t>thereby reducing wastage and improving crop health. The coordinated operation of</a:t>
            </a:r>
          </a:p>
          <a:p>
            <a:pPr marL="285750" indent="-285750" algn="just"/>
            <a:r>
              <a:rPr lang="en-US" sz="2400" dirty="0">
                <a:latin typeface="Times New Roman" panose="02020603050405020304" pitchFamily="18" charset="0"/>
                <a:cs typeface="Times New Roman" panose="02020603050405020304" pitchFamily="18" charset="0"/>
              </a:rPr>
              <a:t>the Raspberry Pi for image processing and the </a:t>
            </a:r>
            <a:r>
              <a:rPr lang="en-US" sz="2400" dirty="0" err="1">
                <a:latin typeface="Times New Roman" panose="02020603050405020304" pitchFamily="18" charset="0"/>
                <a:cs typeface="Times New Roman" panose="02020603050405020304" pitchFamily="18" charset="0"/>
              </a:rPr>
              <a:t>Arduino</a:t>
            </a:r>
            <a:r>
              <a:rPr lang="en-US" sz="2400" dirty="0">
                <a:latin typeface="Times New Roman" panose="02020603050405020304" pitchFamily="18" charset="0"/>
                <a:cs typeface="Times New Roman" panose="02020603050405020304" pitchFamily="18" charset="0"/>
              </a:rPr>
              <a:t> microcontroller for</a:t>
            </a:r>
          </a:p>
          <a:p>
            <a:pPr marL="285750" indent="-285750" algn="just"/>
            <a:r>
              <a:rPr lang="en-US" sz="2400" dirty="0">
                <a:latin typeface="Times New Roman" panose="02020603050405020304" pitchFamily="18" charset="0"/>
                <a:cs typeface="Times New Roman" panose="02020603050405020304" pitchFamily="18" charset="0"/>
              </a:rPr>
              <a:t>hardware control enables efficient robot movement and reliable system</a:t>
            </a:r>
          </a:p>
          <a:p>
            <a:pPr marL="285750" indent="-285750" algn="just"/>
            <a:r>
              <a:rPr lang="en-US" sz="2400" dirty="0">
                <a:latin typeface="Times New Roman" panose="02020603050405020304" pitchFamily="18" charset="0"/>
                <a:cs typeface="Times New Roman" panose="02020603050405020304" pitchFamily="18" charset="0"/>
              </a:rPr>
              <a:t>performance. </a:t>
            </a:r>
          </a:p>
          <a:p>
            <a:pPr marL="285750" indent="-285750" algn="just"/>
            <a:endParaRPr lang="en-US" sz="2400" dirty="0">
              <a:latin typeface="Times New Roman" panose="02020603050405020304" pitchFamily="18" charset="0"/>
              <a:cs typeface="Times New Roman" panose="02020603050405020304" pitchFamily="18" charset="0"/>
            </a:endParaRPr>
          </a:p>
          <a:p>
            <a:pPr marL="285750" indent="-285750" algn="just"/>
            <a:r>
              <a:rPr lang="en-US" sz="2400" dirty="0">
                <a:latin typeface="Times New Roman" panose="02020603050405020304" pitchFamily="18" charset="0"/>
                <a:cs typeface="Times New Roman" panose="02020603050405020304" pitchFamily="18" charset="0"/>
              </a:rPr>
              <a:t>The use of solar-assisted power enhances sustainability, while</a:t>
            </a:r>
          </a:p>
          <a:p>
            <a:pPr marL="285750" indent="-285750" algn="just"/>
            <a:r>
              <a:rPr lang="en-US" sz="2400" dirty="0">
                <a:latin typeface="Times New Roman" panose="02020603050405020304" pitchFamily="18" charset="0"/>
                <a:cs typeface="Times New Roman" panose="02020603050405020304" pitchFamily="18" charset="0"/>
              </a:rPr>
              <a:t>Bluetooth connectivity provides convenient wireless monitoring and control.</a:t>
            </a:r>
          </a:p>
          <a:p>
            <a:pPr marL="285750" indent="-285750" algn="just"/>
            <a:r>
              <a:rPr lang="en-US" sz="2400" dirty="0">
                <a:latin typeface="Times New Roman" panose="02020603050405020304" pitchFamily="18" charset="0"/>
                <a:cs typeface="Times New Roman" panose="02020603050405020304" pitchFamily="18" charset="0"/>
              </a:rPr>
              <a:t>Overall, this system minimizes human intervention, optimizes resource utilization,</a:t>
            </a:r>
          </a:p>
          <a:p>
            <a:pPr marL="285750" indent="-285750" algn="just"/>
            <a:r>
              <a:rPr lang="en-US" sz="2400" dirty="0">
                <a:latin typeface="Times New Roman" panose="02020603050405020304" pitchFamily="18" charset="0"/>
                <a:cs typeface="Times New Roman" panose="02020603050405020304" pitchFamily="18" charset="0"/>
              </a:rPr>
              <a:t>and supports eco-friendly farming practices, making it a promising approach for</a:t>
            </a:r>
          </a:p>
          <a:p>
            <a:pPr marL="285750" indent="-285750" algn="just"/>
            <a:r>
              <a:rPr lang="en-US" sz="2400" dirty="0">
                <a:latin typeface="Times New Roman" panose="02020603050405020304" pitchFamily="18" charset="0"/>
                <a:cs typeface="Times New Roman" panose="02020603050405020304" pitchFamily="18" charset="0"/>
              </a:rPr>
              <a:t>improving agricultural productivity and sustainability in real-world farming</a:t>
            </a:r>
          </a:p>
          <a:p>
            <a:pPr marL="285750" indent="-285750" algn="just"/>
            <a:r>
              <a:rPr lang="en-US" sz="2400" dirty="0">
                <a:latin typeface="Times New Roman" panose="02020603050405020304" pitchFamily="18" charset="0"/>
                <a:cs typeface="Times New Roman" panose="02020603050405020304" pitchFamily="18" charset="0"/>
              </a:rPr>
              <a:t>environments.</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4831" y="220980"/>
            <a:ext cx="8136255" cy="695960"/>
          </a:xfrm>
          <a:prstGeom prst="rect">
            <a:avLst/>
          </a:prstGeom>
        </p:spPr>
        <p:txBody>
          <a:bodyPr vert="horz" wrap="square" lIns="0" tIns="12700" rIns="0" bIns="0" rtlCol="0">
            <a:spAutoFit/>
          </a:bodyPr>
          <a:lstStyle/>
          <a:p>
            <a:pPr marL="12700">
              <a:lnSpc>
                <a:spcPct val="100000"/>
              </a:lnSpc>
              <a:spcBef>
                <a:spcPts val="100"/>
              </a:spcBef>
              <a:tabLst>
                <a:tab pos="1966595" algn="l"/>
                <a:tab pos="5348605" algn="l"/>
                <a:tab pos="6511925" algn="l"/>
              </a:tabLst>
            </a:pPr>
            <a:r>
              <a:rPr dirty="0"/>
              <a:t>Git</a:t>
            </a:r>
            <a:r>
              <a:rPr spc="-75" dirty="0"/>
              <a:t> </a:t>
            </a:r>
            <a:r>
              <a:rPr spc="-25" dirty="0"/>
              <a:t>Hub</a:t>
            </a:r>
            <a:r>
              <a:t>	Dashboard</a:t>
            </a:r>
            <a:endParaRPr spc="-10" dirty="0"/>
          </a:p>
        </p:txBody>
      </p:sp>
      <p:sp>
        <p:nvSpPr>
          <p:cNvPr id="13" name="object 13"/>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5" name="object 15"/>
          <p:cNvSpPr txBox="1"/>
          <p:nvPr/>
        </p:nvSpPr>
        <p:spPr>
          <a:xfrm>
            <a:off x="7147577" y="6629311"/>
            <a:ext cx="43586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19</a:t>
            </a:fld>
            <a:endParaRPr spc="-25" dirty="0"/>
          </a:p>
        </p:txBody>
      </p:sp>
      <p:sp>
        <p:nvSpPr>
          <p:cNvPr id="17" name="object 9">
            <a:extLst>
              <a:ext uri="{FF2B5EF4-FFF2-40B4-BE49-F238E27FC236}">
                <a16:creationId xmlns="" xmlns:a16="http://schemas.microsoft.com/office/drawing/2014/main" id="{D6CEC1F6-617C-1215-8F71-FD4FF09C0AD7}"/>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pic>
        <p:nvPicPr>
          <p:cNvPr id="12" name="Picture 11" descr="Screenshot (6).png"/>
          <p:cNvPicPr>
            <a:picLocks noChangeAspect="1"/>
          </p:cNvPicPr>
          <p:nvPr/>
        </p:nvPicPr>
        <p:blipFill>
          <a:blip r:embed="rId3"/>
          <a:stretch>
            <a:fillRect/>
          </a:stretch>
        </p:blipFill>
        <p:spPr>
          <a:xfrm>
            <a:off x="228600" y="1066800"/>
            <a:ext cx="11201400" cy="525779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141783" y="6627168"/>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6" name="object 6"/>
          <p:cNvSpPr txBox="1"/>
          <p:nvPr/>
        </p:nvSpPr>
        <p:spPr>
          <a:xfrm>
            <a:off x="7147577" y="6629310"/>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20</a:t>
            </a:fld>
            <a:endParaRPr spc="-25" dirty="0"/>
          </a:p>
        </p:txBody>
      </p:sp>
      <p:sp>
        <p:nvSpPr>
          <p:cNvPr id="3" name="object 3"/>
          <p:cNvSpPr txBox="1">
            <a:spLocks noGrp="1"/>
          </p:cNvSpPr>
          <p:nvPr>
            <p:ph type="title"/>
          </p:nvPr>
        </p:nvSpPr>
        <p:spPr>
          <a:xfrm>
            <a:off x="2826638" y="2352302"/>
            <a:ext cx="6692265" cy="1488440"/>
          </a:xfrm>
          <a:prstGeom prst="rect">
            <a:avLst/>
          </a:prstGeom>
        </p:spPr>
        <p:txBody>
          <a:bodyPr vert="horz" wrap="square" lIns="0" tIns="12700" rIns="0" bIns="0" rtlCol="0">
            <a:spAutoFit/>
          </a:bodyPr>
          <a:lstStyle/>
          <a:p>
            <a:pPr marL="12700">
              <a:lnSpc>
                <a:spcPct val="100000"/>
              </a:lnSpc>
              <a:spcBef>
                <a:spcPts val="100"/>
              </a:spcBef>
            </a:pPr>
            <a:r>
              <a:rPr sz="9600" i="1" dirty="0">
                <a:solidFill>
                  <a:srgbClr val="FF6600"/>
                </a:solidFill>
                <a:latin typeface="Times New Roman"/>
                <a:cs typeface="Times New Roman"/>
              </a:rPr>
              <a:t>Any</a:t>
            </a:r>
            <a:r>
              <a:rPr sz="9600" i="1" spc="-30" dirty="0">
                <a:solidFill>
                  <a:srgbClr val="FF6600"/>
                </a:solidFill>
                <a:latin typeface="Times New Roman"/>
                <a:cs typeface="Times New Roman"/>
              </a:rPr>
              <a:t> </a:t>
            </a:r>
            <a:r>
              <a:rPr sz="9600" i="1" spc="-10" dirty="0">
                <a:solidFill>
                  <a:srgbClr val="FF6600"/>
                </a:solidFill>
                <a:latin typeface="Times New Roman"/>
                <a:cs typeface="Times New Roman"/>
              </a:rPr>
              <a:t>Queries?</a:t>
            </a:r>
            <a:endParaRPr sz="9600">
              <a:latin typeface="Times New Roman"/>
              <a:cs typeface="Times New Roman"/>
            </a:endParaRPr>
          </a:p>
        </p:txBody>
      </p:sp>
      <p:sp>
        <p:nvSpPr>
          <p:cNvPr id="8" name="object 9">
            <a:extLst>
              <a:ext uri="{FF2B5EF4-FFF2-40B4-BE49-F238E27FC236}">
                <a16:creationId xmlns="" xmlns:a16="http://schemas.microsoft.com/office/drawing/2014/main" id="{38036199-2B51-9B00-5280-3FB15D955DE6}"/>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6" name="object 6"/>
          <p:cNvSpPr txBox="1"/>
          <p:nvPr/>
        </p:nvSpPr>
        <p:spPr>
          <a:xfrm>
            <a:off x="7147577" y="6629311"/>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21</a:t>
            </a:fld>
            <a:endParaRPr spc="-25" dirty="0"/>
          </a:p>
        </p:txBody>
      </p:sp>
      <p:sp>
        <p:nvSpPr>
          <p:cNvPr id="3" name="object 3"/>
          <p:cNvSpPr txBox="1">
            <a:spLocks noGrp="1"/>
          </p:cNvSpPr>
          <p:nvPr>
            <p:ph type="title"/>
          </p:nvPr>
        </p:nvSpPr>
        <p:spPr>
          <a:xfrm>
            <a:off x="2826638" y="2249889"/>
            <a:ext cx="3140710" cy="3156585"/>
          </a:xfrm>
          <a:prstGeom prst="rect">
            <a:avLst/>
          </a:prstGeom>
        </p:spPr>
        <p:txBody>
          <a:bodyPr vert="horz" wrap="square" lIns="0" tIns="12700" rIns="0" bIns="0" rtlCol="0">
            <a:spAutoFit/>
          </a:bodyPr>
          <a:lstStyle/>
          <a:p>
            <a:pPr marL="12700" marR="5080">
              <a:lnSpc>
                <a:spcPct val="107000"/>
              </a:lnSpc>
              <a:spcBef>
                <a:spcPts val="100"/>
              </a:spcBef>
            </a:pPr>
            <a:r>
              <a:rPr sz="9600" i="1" spc="-10" dirty="0">
                <a:solidFill>
                  <a:srgbClr val="FF6600"/>
                </a:solidFill>
                <a:latin typeface="Times New Roman"/>
                <a:cs typeface="Times New Roman"/>
              </a:rPr>
              <a:t>Thank You!!!</a:t>
            </a:r>
            <a:endParaRPr sz="9600">
              <a:latin typeface="Times New Roman"/>
              <a:cs typeface="Times New Roman"/>
            </a:endParaRPr>
          </a:p>
        </p:txBody>
      </p:sp>
      <p:sp>
        <p:nvSpPr>
          <p:cNvPr id="8" name="object 9">
            <a:extLst>
              <a:ext uri="{FF2B5EF4-FFF2-40B4-BE49-F238E27FC236}">
                <a16:creationId xmlns="" xmlns:a16="http://schemas.microsoft.com/office/drawing/2014/main" id="{54D73473-8B89-25C7-80BC-FF44172E7C40}"/>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563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851</TotalTime>
  <Words>2495</Words>
  <Application>Microsoft Office PowerPoint</Application>
  <PresentationFormat>Custom</PresentationFormat>
  <Paragraphs>347</Paragraphs>
  <Slides>21</Slides>
  <Notes>14</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  Smart Fertilizer Spraying System Using Plant Disease Severity Analysis</vt:lpstr>
      <vt:lpstr>Contents</vt:lpstr>
      <vt:lpstr>Abstract</vt:lpstr>
      <vt:lpstr>Introduction</vt:lpstr>
      <vt:lpstr>Problem statement                </vt:lpstr>
      <vt:lpstr>Objectives</vt:lpstr>
      <vt:lpstr>Methodology</vt:lpstr>
      <vt:lpstr>Implementation details</vt:lpstr>
      <vt:lpstr>Expected outcomes / Results </vt:lpstr>
      <vt:lpstr>Components</vt:lpstr>
      <vt:lpstr>Components</vt:lpstr>
      <vt:lpstr>Block Diagram</vt:lpstr>
      <vt:lpstr>Non-Recurring  Budget estimation  </vt:lpstr>
      <vt:lpstr>Recurring  Budget estimation</vt:lpstr>
      <vt:lpstr>Budget estimation  </vt:lpstr>
      <vt:lpstr>Reference</vt:lpstr>
      <vt:lpstr>Applications</vt:lpstr>
      <vt:lpstr>Conclusion</vt:lpstr>
      <vt:lpstr>Git Hub Dashboard</vt:lpstr>
      <vt:lpstr>Any Queries?</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IOT-BASED  COMPREHENSIVE REAL-TIME CHILD MONITORING FOR                                  IMPROVED SAFETY AND OVERSIGHT</dc:title>
  <dc:creator>SARVAGNA VEMULA</dc:creator>
  <cp:lastModifiedBy>Smile</cp:lastModifiedBy>
  <cp:revision>17</cp:revision>
  <dcterms:created xsi:type="dcterms:W3CDTF">2025-09-12T04:18:11Z</dcterms:created>
  <dcterms:modified xsi:type="dcterms:W3CDTF">2026-02-20T11:46:39Z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Creator">
    <vt:lpwstr>Google</vt:lpwstr>
  </property>
  <property fmtid="{D5CDD505-2E9C-101B-9397-08002B2CF9AE}" pid="4" name="LastSaved">
    <vt:filetime>2025-09-12T00:00:00Z</vt:filetime>
  </property>
</Properties>
</file>