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8" r:id="rId3"/>
    <p:sldId id="257" r:id="rId4"/>
    <p:sldId id="259" r:id="rId5"/>
    <p:sldId id="295" r:id="rId6"/>
    <p:sldId id="276" r:id="rId7"/>
    <p:sldId id="267" r:id="rId8"/>
    <p:sldId id="260" r:id="rId9"/>
    <p:sldId id="269" r:id="rId10"/>
    <p:sldId id="261" r:id="rId11"/>
    <p:sldId id="270" r:id="rId12"/>
    <p:sldId id="285" r:id="rId13"/>
    <p:sldId id="275" r:id="rId14"/>
    <p:sldId id="288" r:id="rId15"/>
    <p:sldId id="274" r:id="rId16"/>
    <p:sldId id="287" r:id="rId17"/>
    <p:sldId id="277" r:id="rId18"/>
    <p:sldId id="300" r:id="rId19"/>
    <p:sldId id="289" r:id="rId20"/>
    <p:sldId id="290" r:id="rId21"/>
    <p:sldId id="291" r:id="rId22"/>
    <p:sldId id="296" r:id="rId23"/>
    <p:sldId id="297" r:id="rId24"/>
    <p:sldId id="298" r:id="rId25"/>
    <p:sldId id="301" r:id="rId26"/>
    <p:sldId id="292" r:id="rId27"/>
    <p:sldId id="302" r:id="rId28"/>
    <p:sldId id="293" r:id="rId29"/>
    <p:sldId id="294" r:id="rId30"/>
    <p:sldId id="262" r:id="rId31"/>
    <p:sldId id="263" r:id="rId32"/>
    <p:sldId id="264" r:id="rId33"/>
    <p:sldId id="265" r:id="rId34"/>
  </p:sldIdLst>
  <p:sldSz cx="12192000" cy="6858000"/>
  <p:notesSz cx="12192000" cy="6858000"/>
  <p:defaultTextStyle>
    <a:defPPr>
      <a:defRPr kern="0"/>
    </a:defPPr>
  </p:defaultTextStyle>
  <p:extLst>
    <p:ext uri="{521415D9-36F7-43E2-AB2F-B90AF26B5E84}">
      <p14:sectionLst xmlns="" xmlns:p14="http://schemas.microsoft.com/office/powerpoint/2010/main">
        <p14:section name="Default Section" id="{A289E9F3-74E8-4CB1-A7E3-D4DEAB46E5B2}">
          <p14:sldIdLst>
            <p14:sldId id="256"/>
            <p14:sldId id="258"/>
            <p14:sldId id="257"/>
            <p14:sldId id="259"/>
            <p14:sldId id="276"/>
            <p14:sldId id="267"/>
            <p14:sldId id="260"/>
            <p14:sldId id="269"/>
            <p14:sldId id="261"/>
            <p14:sldId id="275"/>
            <p14:sldId id="270"/>
            <p14:sldId id="271"/>
            <p14:sldId id="274"/>
            <p14:sldId id="277"/>
            <p14:sldId id="278"/>
            <p14:sldId id="279"/>
            <p14:sldId id="281"/>
            <p14:sldId id="282"/>
            <p14:sldId id="283"/>
            <p14:sldId id="262"/>
            <p14:sldId id="263"/>
            <p14:sldId id="264"/>
            <p14:sldId id="265"/>
          </p14:sldIdLst>
        </p14:section>
        <p14:section name="Untitled Section" id="{C6B00087-380B-4DEF-BDE3-E525EFBAC2FB}">
          <p14:sldIdLst/>
        </p14:section>
      </p14:sectionLst>
    </p:ex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F81B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0878" autoAdjust="0"/>
    <p:restoredTop sz="88604" autoAdjust="0"/>
  </p:normalViewPr>
  <p:slideViewPr>
    <p:cSldViewPr>
      <p:cViewPr varScale="1">
        <p:scale>
          <a:sx n="60" d="100"/>
          <a:sy n="60" d="100"/>
        </p:scale>
        <p:origin x="-522" y="-18"/>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thi Bomma" userId="071ddb6149ff7e44" providerId="LiveId" clId="{CF4DF93A-E27A-43F8-A3A3-DE667DFC5CB1}"/>
    <pc:docChg chg="modSld sldOrd">
      <pc:chgData name="Revathi Bomma" userId="071ddb6149ff7e44" providerId="LiveId" clId="{CF4DF93A-E27A-43F8-A3A3-DE667DFC5CB1}" dt="2026-01-31T08:31:02.667" v="1"/>
      <pc:docMkLst>
        <pc:docMk/>
      </pc:docMkLst>
      <pc:sldChg chg="ord">
        <pc:chgData name="Revathi Bomma" userId="071ddb6149ff7e44" providerId="LiveId" clId="{CF4DF93A-E27A-43F8-A3A3-DE667DFC5CB1}" dt="2026-01-31T08:31:02.667" v="1"/>
        <pc:sldMkLst>
          <pc:docMk/>
          <pc:sldMk cId="651118734"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pPr/>
              <a:t>07-04-2026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pPr/>
              <a:t>‹#›</a:t>
            </a:fld>
            <a:endParaRPr lang="en-IN"/>
          </a:p>
        </p:txBody>
      </p:sp>
    </p:spTree>
    <p:extLst>
      <p:ext uri="{BB962C8B-B14F-4D97-AF65-F5344CB8AC3E}">
        <p14:creationId xmlns=""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a:t>
            </a:fld>
            <a:endParaRPr lang="en-IN"/>
          </a:p>
        </p:txBody>
      </p:sp>
    </p:spTree>
    <p:extLst>
      <p:ext uri="{BB962C8B-B14F-4D97-AF65-F5344CB8AC3E}">
        <p14:creationId xmlns="" xmlns:p14="http://schemas.microsoft.com/office/powerpoint/2010/main" val="292934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a:t>
            </a:fld>
            <a:endParaRPr lang="en-IN"/>
          </a:p>
        </p:txBody>
      </p:sp>
    </p:spTree>
    <p:extLst>
      <p:ext uri="{BB962C8B-B14F-4D97-AF65-F5344CB8AC3E}">
        <p14:creationId xmlns="" xmlns:p14="http://schemas.microsoft.com/office/powerpoint/2010/main" val="192493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F6C3B33B-8296-1550-FF38-02DB2D092164}"/>
              </a:ext>
            </a:extLst>
          </p:cNvPr>
          <p:cNvSpPr>
            <a:spLocks noGrp="1"/>
          </p:cNvSpPr>
          <p:nvPr>
            <p:ph type="sldNum" sz="quarter" idx="5"/>
          </p:nvPr>
        </p:nvSpPr>
        <p:spPr/>
        <p:txBody>
          <a:bodyPr/>
          <a:lstStyle/>
          <a:p>
            <a:fld id="{623472F7-00EC-40F3-A111-228D446E4BD5}" type="slidenum">
              <a:rPr lang="en-IN" smtClean="0"/>
              <a:pPr/>
              <a:t>5</a:t>
            </a:fld>
            <a:endParaRPr lang="en-IN"/>
          </a:p>
        </p:txBody>
      </p:sp>
    </p:spTree>
    <p:extLst>
      <p:ext uri="{BB962C8B-B14F-4D97-AF65-F5344CB8AC3E}">
        <p14:creationId xmlns:p14="http://schemas.microsoft.com/office/powerpoint/2010/main" xmlns="" val="1120643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7</a:t>
            </a:fld>
            <a:endParaRPr lang="en-IN"/>
          </a:p>
        </p:txBody>
      </p:sp>
    </p:spTree>
    <p:extLst>
      <p:ext uri="{BB962C8B-B14F-4D97-AF65-F5344CB8AC3E}">
        <p14:creationId xmlns="" xmlns:p14="http://schemas.microsoft.com/office/powerpoint/2010/main" val="1120643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8</a:t>
            </a:fld>
            <a:endParaRPr lang="en-IN"/>
          </a:p>
        </p:txBody>
      </p:sp>
    </p:spTree>
    <p:extLst>
      <p:ext uri="{BB962C8B-B14F-4D97-AF65-F5344CB8AC3E}">
        <p14:creationId xmlns="" xmlns:p14="http://schemas.microsoft.com/office/powerpoint/2010/main" val="2350675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694E565-AD43-1278-9517-8C0476160F6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FE76C30B-5F2F-95B2-DE81-F3CE232EE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3524EDD-B1C0-DA73-2CFA-E3E9BC8241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6A5B7884-73C6-05E5-1212-9B18803104F6}"/>
              </a:ext>
            </a:extLst>
          </p:cNvPr>
          <p:cNvSpPr>
            <a:spLocks noGrp="1"/>
          </p:cNvSpPr>
          <p:nvPr>
            <p:ph type="sldNum" sz="quarter" idx="5"/>
          </p:nvPr>
        </p:nvSpPr>
        <p:spPr/>
        <p:txBody>
          <a:bodyPr/>
          <a:lstStyle/>
          <a:p>
            <a:fld id="{623472F7-00EC-40F3-A111-228D446E4BD5}" type="slidenum">
              <a:rPr lang="en-IN" smtClean="0"/>
              <a:pPr/>
              <a:t>9</a:t>
            </a:fld>
            <a:endParaRPr lang="en-IN"/>
          </a:p>
        </p:txBody>
      </p:sp>
    </p:spTree>
    <p:extLst>
      <p:ext uri="{BB962C8B-B14F-4D97-AF65-F5344CB8AC3E}">
        <p14:creationId xmlns="" xmlns:p14="http://schemas.microsoft.com/office/powerpoint/2010/main" val="2048284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10</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F895C7D-8089-3950-CC57-8FD06EBB195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50D2808-40BE-889D-B39E-741353B2EE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698C2AE4-78B9-072F-68D1-34E31FEDE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2F0DE719-3D56-9CB5-3F3E-360884A1B0A4}"/>
              </a:ext>
            </a:extLst>
          </p:cNvPr>
          <p:cNvSpPr>
            <a:spLocks noGrp="1"/>
          </p:cNvSpPr>
          <p:nvPr>
            <p:ph type="sldNum" sz="quarter" idx="5"/>
          </p:nvPr>
        </p:nvSpPr>
        <p:spPr/>
        <p:txBody>
          <a:bodyPr/>
          <a:lstStyle/>
          <a:p>
            <a:fld id="{623472F7-00EC-40F3-A111-228D446E4BD5}" type="slidenum">
              <a:rPr lang="en-IN" smtClean="0"/>
              <a:pPr/>
              <a:t>11</a:t>
            </a:fld>
            <a:endParaRPr lang="en-IN"/>
          </a:p>
        </p:txBody>
      </p:sp>
    </p:spTree>
    <p:extLst>
      <p:ext uri="{BB962C8B-B14F-4D97-AF65-F5344CB8AC3E}">
        <p14:creationId xmlns="" xmlns:p14="http://schemas.microsoft.com/office/powerpoint/2010/main" val="249986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12</a:t>
            </a:fld>
            <a:endParaRPr lang="en-IN"/>
          </a:p>
        </p:txBody>
      </p:sp>
    </p:spTree>
    <p:extLst>
      <p:ext uri="{BB962C8B-B14F-4D97-AF65-F5344CB8AC3E}">
        <p14:creationId xmlns="" xmlns:p14="http://schemas.microsoft.com/office/powerpoint/2010/main" val="1120643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39DB46-5517-9347-2D0C-9C71009F187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A89987A-3215-97D9-6A91-2BE1C14FDE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2C99CED-0AA4-0527-03BC-277722CC20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73DBBC1-0BEC-D5EB-7858-514DD2384F96}"/>
              </a:ext>
            </a:extLst>
          </p:cNvPr>
          <p:cNvSpPr>
            <a:spLocks noGrp="1"/>
          </p:cNvSpPr>
          <p:nvPr>
            <p:ph type="sldNum" sz="quarter" idx="5"/>
          </p:nvPr>
        </p:nvSpPr>
        <p:spPr/>
        <p:txBody>
          <a:bodyPr/>
          <a:lstStyle/>
          <a:p>
            <a:fld id="{623472F7-00EC-40F3-A111-228D446E4BD5}" type="slidenum">
              <a:rPr lang="en-IN" smtClean="0"/>
              <a:pPr/>
              <a:t>13</a:t>
            </a:fld>
            <a:endParaRPr lang="en-IN"/>
          </a:p>
        </p:txBody>
      </p:sp>
    </p:spTree>
    <p:extLst>
      <p:ext uri="{BB962C8B-B14F-4D97-AF65-F5344CB8AC3E}">
        <p14:creationId xmlns="" xmlns:p14="http://schemas.microsoft.com/office/powerpoint/2010/main" val="2175133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C97FAEC8-30ED-53D4-C23D-5EFAF7CE6EB4}"/>
              </a:ext>
            </a:extLst>
          </p:cNvPr>
          <p:cNvSpPr>
            <a:spLocks noGrp="1"/>
          </p:cNvSpPr>
          <p:nvPr>
            <p:ph type="sldNum" sz="quarter" idx="5"/>
          </p:nvPr>
        </p:nvSpPr>
        <p:spPr/>
        <p:txBody>
          <a:bodyPr/>
          <a:lstStyle/>
          <a:p>
            <a:fld id="{623472F7-00EC-40F3-A111-228D446E4BD5}" type="slidenum">
              <a:rPr lang="en-IN" smtClean="0"/>
              <a:pPr/>
              <a:t>14</a:t>
            </a:fld>
            <a:endParaRPr lang="en-IN"/>
          </a:p>
        </p:txBody>
      </p:sp>
    </p:spTree>
    <p:extLst>
      <p:ext uri="{BB962C8B-B14F-4D97-AF65-F5344CB8AC3E}">
        <p14:creationId xmlns:p14="http://schemas.microsoft.com/office/powerpoint/2010/main" xmlns="" val="98809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15</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16</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17</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18</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19</a:t>
            </a:fld>
            <a:endParaRPr lang="en-IN"/>
          </a:p>
        </p:txBody>
      </p:sp>
    </p:spTree>
    <p:extLst>
      <p:ext uri="{BB962C8B-B14F-4D97-AF65-F5344CB8AC3E}">
        <p14:creationId xmlns:p14="http://schemas.microsoft.com/office/powerpoint/2010/main" xmlns="" val="3112281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20</a:t>
            </a:fld>
            <a:endParaRPr lang="en-IN"/>
          </a:p>
        </p:txBody>
      </p:sp>
    </p:spTree>
    <p:extLst>
      <p:ext uri="{BB962C8B-B14F-4D97-AF65-F5344CB8AC3E}">
        <p14:creationId xmlns:p14="http://schemas.microsoft.com/office/powerpoint/2010/main" xmlns="" val="3112281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21</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22</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23</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24</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25</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32</a:t>
            </a:fld>
            <a:endParaRPr lang="en-IN"/>
          </a:p>
        </p:txBody>
      </p:sp>
    </p:spTree>
    <p:extLst>
      <p:ext uri="{BB962C8B-B14F-4D97-AF65-F5344CB8AC3E}">
        <p14:creationId xmlns=""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35564" y="-12787"/>
            <a:ext cx="12192000" cy="308246"/>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pPr algn="ctr"/>
            <a:r>
              <a:rPr lang="en-US" dirty="0">
                <a:solidFill>
                  <a:schemeClr val="bg1"/>
                </a:solidFill>
              </a:rPr>
              <a:t>Smart Fertilizer Spraying System Using Plant Disease Severity Analysis</a:t>
            </a:r>
            <a:endParaRPr dirty="0">
              <a:solidFill>
                <a:schemeClr val="bg1"/>
              </a:solidFill>
            </a:endParaRPr>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US" dirty="0">
                <a:solidFill>
                  <a:schemeClr val="bg1"/>
                </a:solidFill>
              </a:rPr>
              <a:t>B-10</a:t>
            </a:r>
            <a:endParaRPr dirty="0">
              <a:solidFill>
                <a:schemeClr val="bg1"/>
              </a:solidFill>
            </a:endParaRPr>
          </a:p>
        </p:txBody>
      </p:sp>
      <p:sp>
        <p:nvSpPr>
          <p:cNvPr id="8" name="object 8"/>
          <p:cNvSpPr txBox="1"/>
          <p:nvPr/>
        </p:nvSpPr>
        <p:spPr>
          <a:xfrm>
            <a:off x="8821037" y="1686288"/>
            <a:ext cx="1990725"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Sravani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24G1A33A4</a:t>
            </a:r>
            <a:endParaRPr sz="1100" dirty="0">
              <a:latin typeface="Times New Roman"/>
              <a:cs typeface="Times New Roman"/>
            </a:endParaRPr>
          </a:p>
        </p:txBody>
      </p:sp>
      <p:sp>
        <p:nvSpPr>
          <p:cNvPr id="9" name="object 9"/>
          <p:cNvSpPr txBox="1"/>
          <p:nvPr/>
        </p:nvSpPr>
        <p:spPr>
          <a:xfrm>
            <a:off x="2362200" y="2512042"/>
            <a:ext cx="6629400" cy="744435"/>
          </a:xfrm>
          <a:prstGeom prst="rect">
            <a:avLst/>
          </a:prstGeom>
        </p:spPr>
        <p:txBody>
          <a:bodyPr vert="horz" wrap="square" lIns="0" tIns="71755" rIns="0" bIns="0" rtlCol="0">
            <a:spAutoFit/>
          </a:bodyPr>
          <a:lstStyle/>
          <a:p>
            <a:pPr>
              <a:spcBef>
                <a:spcPts val="300"/>
              </a:spcBef>
            </a:pPr>
            <a:r>
              <a:rPr lang="en-US" sz="1400" b="0" i="1" dirty="0"/>
              <a:t>                              		Under the guidance of</a:t>
            </a:r>
          </a:p>
          <a:p>
            <a:pPr algn="ctr">
              <a:spcBef>
                <a:spcPts val="200"/>
              </a:spcBef>
            </a:pPr>
            <a:r>
              <a:rPr lang="en-US" sz="2400" b="0" dirty="0">
                <a:effectLst>
                  <a:outerShdw blurRad="38100" dist="38100" dir="2700000" algn="tl">
                    <a:srgbClr val="000000">
                      <a:alpha val="43137"/>
                    </a:srgbClr>
                  </a:outerShdw>
                </a:effectLst>
              </a:rPr>
              <a:t>          </a:t>
            </a:r>
            <a:r>
              <a:rPr lang="en-US" sz="1600" b="0" dirty="0">
                <a:effectLst>
                  <a:outerShdw blurRad="38100" dist="38100" dir="2700000" algn="tl">
                    <a:srgbClr val="000000">
                      <a:alpha val="43137"/>
                    </a:srgbClr>
                  </a:outerShdw>
                </a:effectLst>
              </a:rPr>
              <a:t> </a:t>
            </a:r>
            <a:r>
              <a:rPr lang="en-US" sz="2800" dirty="0"/>
              <a:t>Dr. C. Sasikala </a:t>
            </a:r>
            <a:r>
              <a:rPr lang="en-US" sz="1600" dirty="0" err="1"/>
              <a:t>M.Tech</a:t>
            </a:r>
            <a:r>
              <a:rPr lang="en-US" sz="1600" dirty="0"/>
              <a:t>., Ph.D.  </a:t>
            </a:r>
            <a:endParaRPr lang="en-IN" sz="1600" b="0" baseline="-25000" dirty="0">
              <a:effectLst>
                <a:outerShdw blurRad="38100" dist="38100" dir="2700000" algn="tl">
                  <a:srgbClr val="000000">
                    <a:alpha val="43137"/>
                  </a:srgbClr>
                </a:outerShdw>
              </a:effectLst>
            </a:endParaRPr>
          </a:p>
        </p:txBody>
      </p:sp>
      <p:sp>
        <p:nvSpPr>
          <p:cNvPr id="11" name="object 11"/>
          <p:cNvSpPr txBox="1"/>
          <p:nvPr/>
        </p:nvSpPr>
        <p:spPr>
          <a:xfrm>
            <a:off x="2709823" y="5109203"/>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4140839" y="1704327"/>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G Sreeja</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24G1A33A9</a:t>
            </a:r>
            <a:endParaRPr sz="1100" dirty="0">
              <a:latin typeface="Times New Roman"/>
              <a:cs typeface="Times New Roman"/>
            </a:endParaRPr>
          </a:p>
        </p:txBody>
      </p:sp>
      <p:sp>
        <p:nvSpPr>
          <p:cNvPr id="13" name="object 13"/>
          <p:cNvSpPr txBox="1"/>
          <p:nvPr/>
        </p:nvSpPr>
        <p:spPr>
          <a:xfrm>
            <a:off x="1399594" y="1704327"/>
            <a:ext cx="2268799"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Trinesh Reddy</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34G5A3311</a:t>
            </a:r>
            <a:endParaRPr sz="1100" dirty="0">
              <a:latin typeface="Times New Roman"/>
              <a:cs typeface="Times New Roman"/>
            </a:endParaRPr>
          </a:p>
        </p:txBody>
      </p:sp>
      <p:sp>
        <p:nvSpPr>
          <p:cNvPr id="14" name="object 14"/>
          <p:cNvSpPr txBox="1"/>
          <p:nvPr/>
        </p:nvSpPr>
        <p:spPr>
          <a:xfrm>
            <a:off x="6604010" y="1674584"/>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B Revathi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24G1A3380</a:t>
            </a:r>
            <a:endParaRPr sz="1100" dirty="0">
              <a:latin typeface="Times New Roman"/>
              <a:cs typeface="Times New Roman"/>
            </a:endParaRPr>
          </a:p>
        </p:txBody>
      </p:sp>
      <p:grpSp>
        <p:nvGrpSpPr>
          <p:cNvPr id="15" name="object 15"/>
          <p:cNvGrpSpPr/>
          <p:nvPr/>
        </p:nvGrpSpPr>
        <p:grpSpPr>
          <a:xfrm>
            <a:off x="262722" y="253730"/>
            <a:ext cx="11449396" cy="1125770"/>
            <a:chOff x="697859" y="297171"/>
            <a:chExt cx="10642600" cy="972185"/>
          </a:xfrm>
        </p:grpSpPr>
        <p:pic>
          <p:nvPicPr>
            <p:cNvPr id="16" name="object 16"/>
            <p:cNvPicPr/>
            <p:nvPr/>
          </p:nvPicPr>
          <p:blipFill>
            <a:blip r:embed="rId2"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777238" y="524621"/>
            <a:ext cx="11951340" cy="443711"/>
          </a:xfrm>
          <a:prstGeom prst="rect">
            <a:avLst/>
          </a:prstGeom>
        </p:spPr>
        <p:txBody>
          <a:bodyPr vert="horz" wrap="square" lIns="0" tIns="12700" rIns="0" bIns="0" rtlCol="0">
            <a:spAutoFit/>
          </a:bodyPr>
          <a:lstStyle/>
          <a:p>
            <a:pPr marL="12700">
              <a:lnSpc>
                <a:spcPct val="100000"/>
              </a:lnSpc>
              <a:spcBef>
                <a:spcPts val="100"/>
              </a:spcBef>
            </a:pPr>
            <a:r>
              <a:rPr lang="en-US" sz="2800" dirty="0"/>
              <a:t>  Smart Fertilizer Spraying System Using Plant Disease Severity Analysis</a:t>
            </a:r>
            <a:endParaRPr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3" cstate="print"/>
          <a:stretch>
            <a:fillRect/>
          </a:stretch>
        </p:blipFill>
        <p:spPr>
          <a:xfrm>
            <a:off x="5342105" y="3477045"/>
            <a:ext cx="1843672" cy="1685486"/>
          </a:xfrm>
          <a:prstGeom prst="rect">
            <a:avLst/>
          </a:prstGeom>
        </p:spPr>
      </p:pic>
      <p:sp>
        <p:nvSpPr>
          <p:cNvPr id="25" name="object 9">
            <a:extLst>
              <a:ext uri="{FF2B5EF4-FFF2-40B4-BE49-F238E27FC236}">
                <a16:creationId xmlns="" xmlns:a16="http://schemas.microsoft.com/office/drawing/2014/main" id="{D4A2D25B-33EC-CC7B-AF2F-5309C2997632}"/>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7" name="TextBox 26">
            <a:extLst>
              <a:ext uri="{FF2B5EF4-FFF2-40B4-BE49-F238E27FC236}">
                <a16:creationId xmlns="" xmlns:a16="http://schemas.microsoft.com/office/drawing/2014/main" id="{359CF6B6-5F8C-ABC8-2607-C8A5865035DA}"/>
              </a:ext>
            </a:extLst>
          </p:cNvPr>
          <p:cNvSpPr txBox="1"/>
          <p:nvPr/>
        </p:nvSpPr>
        <p:spPr>
          <a:xfrm>
            <a:off x="6183186" y="6581001"/>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                              1</a:t>
            </a:r>
            <a:endParaRPr lang="en-US" sz="1800" dirty="0">
              <a:latin typeface="Times New Roman"/>
              <a:cs typeface="Times New Roman"/>
            </a:endParaRPr>
          </a:p>
        </p:txBody>
      </p:sp>
      <p:sp>
        <p:nvSpPr>
          <p:cNvPr id="21" name="TextBox 20">
            <a:extLst>
              <a:ext uri="{FF2B5EF4-FFF2-40B4-BE49-F238E27FC236}">
                <a16:creationId xmlns="" xmlns:a16="http://schemas.microsoft.com/office/drawing/2014/main" id="{00D44161-CDDD-7E98-7A6C-7DBBFAF7BAA2}"/>
              </a:ext>
            </a:extLst>
          </p:cNvPr>
          <p:cNvSpPr txBox="1"/>
          <p:nvPr/>
        </p:nvSpPr>
        <p:spPr>
          <a:xfrm>
            <a:off x="2913036" y="3221871"/>
            <a:ext cx="6365240" cy="369332"/>
          </a:xfrm>
          <a:prstGeom prst="rect">
            <a:avLst/>
          </a:prstGeom>
          <a:noFill/>
        </p:spPr>
        <p:txBody>
          <a:bodyPr wrap="square">
            <a:spAutoFit/>
          </a:bodyPr>
          <a:lstStyle/>
          <a:p>
            <a:pPr algn="ctr"/>
            <a:r>
              <a:rPr lang="en-US" dirty="0"/>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0071" y="20947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2</a:t>
            </a:r>
            <a:endParaRPr sz="1600" dirty="0">
              <a:latin typeface="Times New Roman"/>
              <a:cs typeface="Times New Roman"/>
            </a:endParaRPr>
          </a:p>
        </p:txBody>
      </p:sp>
      <p:sp>
        <p:nvSpPr>
          <p:cNvPr id="12" name="TextBox 11">
            <a:extLst>
              <a:ext uri="{FF2B5EF4-FFF2-40B4-BE49-F238E27FC236}">
                <a16:creationId xmlns="" xmlns:a16="http://schemas.microsoft.com/office/drawing/2014/main" id="{F9701E11-DBAB-CE68-E741-A3B1A4F51729}"/>
              </a:ext>
            </a:extLst>
          </p:cNvPr>
          <p:cNvSpPr txBox="1"/>
          <p:nvPr/>
        </p:nvSpPr>
        <p:spPr>
          <a:xfrm>
            <a:off x="33448" y="6560059"/>
            <a:ext cx="914400" cy="369332"/>
          </a:xfrm>
          <a:prstGeom prst="rect">
            <a:avLst/>
          </a:prstGeom>
          <a:noFill/>
        </p:spPr>
        <p:txBody>
          <a:bodyPr wrap="square" rtlCol="0">
            <a:spAutoFit/>
          </a:bodyPr>
          <a:lstStyle/>
          <a:p>
            <a:r>
              <a:rPr lang="en-US" dirty="0">
                <a:solidFill>
                  <a:schemeClr val="bg1"/>
                </a:solidFill>
              </a:rPr>
              <a:t>B-10</a:t>
            </a:r>
          </a:p>
        </p:txBody>
      </p:sp>
      <p:sp>
        <p:nvSpPr>
          <p:cNvPr id="8" name="TextBox 7">
            <a:extLst>
              <a:ext uri="{FF2B5EF4-FFF2-40B4-BE49-F238E27FC236}">
                <a16:creationId xmlns="" xmlns:a16="http://schemas.microsoft.com/office/drawing/2014/main" id="{2A898996-AB5B-BD2B-A3CD-6B3AD4153972}"/>
              </a:ext>
            </a:extLst>
          </p:cNvPr>
          <p:cNvSpPr txBox="1"/>
          <p:nvPr/>
        </p:nvSpPr>
        <p:spPr>
          <a:xfrm>
            <a:off x="160071" y="1051624"/>
            <a:ext cx="6240729" cy="600164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Abstract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Objectives of Project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 for objectives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Planning</a:t>
            </a:r>
          </a:p>
          <a:p>
            <a:pPr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Requirements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Flow </a:t>
            </a:r>
            <a:r>
              <a:rPr lang="en-US" sz="2000" dirty="0" smtClean="0">
                <a:latin typeface="Times New Roman" panose="02020603050405020304" pitchFamily="18" charset="0"/>
                <a:cs typeface="Times New Roman" panose="02020603050405020304" pitchFamily="18" charset="0"/>
              </a:rPr>
              <a:t>Diagrams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Design</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Implementation &amp; Methodology</a:t>
            </a:r>
            <a:endParaRPr lang="en-US" sz="2000" dirty="0">
              <a:latin typeface="Times New Roman" panose="02020603050405020304" pitchFamily="18" charset="0"/>
              <a:cs typeface="Times New Roman" panose="02020603050405020304" pitchFamily="18" charset="0"/>
            </a:endParaRPr>
          </a:p>
          <a:p>
            <a:pPr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Preprocessing Techniques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Code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Screenshots (Project Output</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Future Scope</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Applications &amp; Conclusion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GitHub Link</a:t>
            </a:r>
          </a:p>
          <a:p>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24956"/>
            <a:ext cx="11395712" cy="233039"/>
            <a:chOff x="777238" y="6634572"/>
            <a:chExt cx="11395710" cy="223427"/>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34798"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r>
                <a:rPr lang="en-US" sz="1600" dirty="0"/>
                <a:t> 3</a:t>
              </a:r>
              <a:endParaRPr sz="1600" dirty="0"/>
            </a:p>
          </p:txBody>
        </p:sp>
      </p:grpSp>
      <p:sp>
        <p:nvSpPr>
          <p:cNvPr id="6" name="object 6"/>
          <p:cNvSpPr/>
          <p:nvPr/>
        </p:nvSpPr>
        <p:spPr>
          <a:xfrm>
            <a:off x="0" y="-5183"/>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r>
              <a:rPr lang="en-US" sz="1800" b="1" i="1" dirty="0">
                <a:solidFill>
                  <a:srgbClr val="FFFFFF"/>
                </a:solidFill>
                <a:latin typeface="Times New Roman"/>
                <a:cs typeface="Times New Roman"/>
              </a:rPr>
              <a:t>                                                                   </a:t>
            </a:r>
            <a:endParaRPr lang="en-US" sz="1500" b="1" dirty="0">
              <a:latin typeface="Times New Roman"/>
              <a:cs typeface="Times New Roman"/>
            </a:endParaRPr>
          </a:p>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marL="12700">
              <a:lnSpc>
                <a:spcPts val="1845"/>
              </a:lnSpc>
            </a:pPr>
            <a:r>
              <a:rPr lang="en-US" sz="1600" spc="-25" dirty="0">
                <a:solidFill>
                  <a:schemeClr val="bg1"/>
                </a:solidFill>
              </a:rPr>
              <a:t>  B - 10</a:t>
            </a:r>
          </a:p>
        </p:txBody>
      </p:sp>
      <p:sp>
        <p:nvSpPr>
          <p:cNvPr id="10" name="object 9">
            <a:extLst>
              <a:ext uri="{FF2B5EF4-FFF2-40B4-BE49-F238E27FC236}">
                <a16:creationId xmlns="" xmlns:a16="http://schemas.microsoft.com/office/drawing/2014/main" id="{541F5DB9-DC70-842B-1465-3F4E1CFFEA66}"/>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object 5">
            <a:extLst>
              <a:ext uri="{FF2B5EF4-FFF2-40B4-BE49-F238E27FC236}">
                <a16:creationId xmlns="" xmlns:a16="http://schemas.microsoft.com/office/drawing/2014/main" id="{1F8162E0-03D8-FFC9-68AC-DDFC70A7433A}"/>
              </a:ext>
            </a:extLst>
          </p:cNvPr>
          <p:cNvSpPr/>
          <p:nvPr/>
        </p:nvSpPr>
        <p:spPr>
          <a:xfrm>
            <a:off x="-10350" y="233044"/>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sp>
        <p:nvSpPr>
          <p:cNvPr id="12" name="TextBox 11">
            <a:extLst>
              <a:ext uri="{FF2B5EF4-FFF2-40B4-BE49-F238E27FC236}">
                <a16:creationId xmlns="" xmlns:a16="http://schemas.microsoft.com/office/drawing/2014/main" id="{5CF40C25-388B-8BFE-A772-519ED202E660}"/>
              </a:ext>
            </a:extLst>
          </p:cNvPr>
          <p:cNvSpPr txBox="1"/>
          <p:nvPr/>
        </p:nvSpPr>
        <p:spPr>
          <a:xfrm>
            <a:off x="6559061" y="6629793"/>
            <a:ext cx="5195135" cy="553998"/>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a:t>
            </a:r>
            <a:endParaRPr lang="en-US" sz="1800" dirty="0">
              <a:latin typeface="Times New Roman"/>
              <a:cs typeface="Times New Roman"/>
            </a:endParaRPr>
          </a:p>
          <a:p>
            <a:pPr marL="12700">
              <a:lnSpc>
                <a:spcPts val="1845"/>
              </a:lnSpc>
            </a:pPr>
            <a:endParaRPr lang="en-US" sz="1800" dirty="0">
              <a:latin typeface="Times New Roman"/>
              <a:cs typeface="Times New Roman"/>
            </a:endParaRPr>
          </a:p>
        </p:txBody>
      </p:sp>
      <p:sp>
        <p:nvSpPr>
          <p:cNvPr id="8" name="object 8"/>
          <p:cNvSpPr txBox="1">
            <a:spLocks noGrp="1"/>
          </p:cNvSpPr>
          <p:nvPr>
            <p:ph type="title"/>
          </p:nvPr>
        </p:nvSpPr>
        <p:spPr>
          <a:xfrm>
            <a:off x="379193" y="176499"/>
            <a:ext cx="1915160" cy="695960"/>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spc="-10" dirty="0"/>
          </a:p>
        </p:txBody>
      </p:sp>
      <p:sp>
        <p:nvSpPr>
          <p:cNvPr id="14" name="TextBox 13">
            <a:extLst>
              <a:ext uri="{FF2B5EF4-FFF2-40B4-BE49-F238E27FC236}">
                <a16:creationId xmlns="" xmlns:a16="http://schemas.microsoft.com/office/drawing/2014/main" id="{29A68E3C-6099-B180-7254-EAAF8399ED3B}"/>
              </a:ext>
            </a:extLst>
          </p:cNvPr>
          <p:cNvSpPr txBox="1"/>
          <p:nvPr/>
        </p:nvSpPr>
        <p:spPr>
          <a:xfrm>
            <a:off x="203010" y="1448752"/>
            <a:ext cx="11963400"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designed to enhance crop management through precision farming. The system employs a Raspberry Pi equipped with a USB camera to capture plant images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disease severity using advanced image processing techniques. Based on the detected severity levels, the system dynamically regulates fertilizer spraying duration through three dedicated nozzles, ensuring precise application and minimizing wastage.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Arduino microcontroller manages the operation of DC motors, water pumps, relays, and the robot chassis for efficient movement. Powered by a 12V battery and supported by a 9V solar panel, the system offers sustainable and energy-efficient operation. Bluetooth connectivity facilitates wireless monitoring and control. By combining disease severity detection with intelligent fertilizer management, this system reduces human intervention, optimizes resource utilization, and promotes eco-friendly farming practices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4111" y="78755"/>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4577" y="201000"/>
            <a:ext cx="3856552" cy="689932"/>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4</a:t>
            </a:fld>
            <a:endParaRPr spc="-25" dirty="0"/>
          </a:p>
        </p:txBody>
      </p:sp>
      <p:sp>
        <p:nvSpPr>
          <p:cNvPr id="10" name="object 10"/>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4" name="TextBox 13">
            <a:extLst>
              <a:ext uri="{FF2B5EF4-FFF2-40B4-BE49-F238E27FC236}">
                <a16:creationId xmlns="" xmlns:a16="http://schemas.microsoft.com/office/drawing/2014/main" id="{4C1451A4-759F-E2B2-5571-50D7B7C9E59F}"/>
              </a:ext>
            </a:extLst>
          </p:cNvPr>
          <p:cNvSpPr txBox="1"/>
          <p:nvPr/>
        </p:nvSpPr>
        <p:spPr>
          <a:xfrm>
            <a:off x="-28224" y="904312"/>
            <a:ext cx="12206113" cy="5632311"/>
          </a:xfrm>
          <a:prstGeom prst="rect">
            <a:avLst/>
          </a:prstGeom>
          <a:noFill/>
        </p:spPr>
        <p:txBody>
          <a:bodyPr wrap="square">
            <a:spAutoFit/>
          </a:bodyPr>
          <a:lstStyle/>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developed to improve crop management through precision farming. The system uses a Raspberry Pi integrated with a USB camera to capture plant images and analyze disease severity using advanced image processing techniques. Based on the detected severity levels, the system automatically controls the fertilizer spraying process by adjusting the spray duration through three dedicated nozzles, ensuring accurate application while minimizing fertilizer wastage. </a:t>
            </a:r>
          </a:p>
          <a:p>
            <a:pPr marL="0" lvl="0" indent="0" algn="just" defTabSz="914400" eaLnBrk="0" fontAlgn="base" hangingPunct="0">
              <a:spcBef>
                <a:spcPct val="0"/>
              </a:spcBef>
              <a:spcAft>
                <a:spcPct val="0"/>
              </a:spcAft>
              <a:buClrTx/>
              <a:buSzTx/>
              <a:buNone/>
            </a:pPr>
            <a:endParaRPr lang="en-US" sz="2400" dirty="0">
              <a:latin typeface="Times New Roman" panose="02020603050405020304" pitchFamily="18" charset="0"/>
              <a:cs typeface="Times New Roman" panose="02020603050405020304" pitchFamily="18" charset="0"/>
            </a:endParaRPr>
          </a:p>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An Arduino microcontroller manages the robot’s movement and controls hardware components such as DC motors, water pumps, relays, and the chassis to enable efficient field navigation. The system is powered by a 12V battery supported by a 9V solar panel, providing sustainable and energy-efficient operation. Bluetooth connectivity allows wireless monitoring and control of the system. By integrating plant disease severity detection with intelligent fertilizer management, the proposed system reduces human intervention, optimizes resource utilization, and promotes eco-friendly and sustainable agricultural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5AF4F7-60A0-8052-A532-FAAF8F770F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xmlns=""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a16="http://schemas.microsoft.com/office/drawing/2014/main" xmlns=""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xmlns=""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xmlns="" id="{0093C833-898A-E91C-40A3-1287C9945E2B}"/>
              </a:ext>
            </a:extLst>
          </p:cNvPr>
          <p:cNvSpPr txBox="1">
            <a:spLocks noGrp="1"/>
          </p:cNvSpPr>
          <p:nvPr>
            <p:ph type="title"/>
          </p:nvPr>
        </p:nvSpPr>
        <p:spPr>
          <a:xfrm>
            <a:off x="160070" y="209470"/>
            <a:ext cx="6088329" cy="1367041"/>
          </a:xfrm>
          <a:prstGeom prst="rect">
            <a:avLst/>
          </a:prstGeom>
        </p:spPr>
        <p:txBody>
          <a:bodyPr vert="horz" wrap="square" lIns="0" tIns="12700" rIns="0" bIns="0" rtlCol="0">
            <a:spAutoFit/>
          </a:bodyPr>
          <a:lstStyle/>
          <a:p>
            <a:pPr marL="12700">
              <a:spcBef>
                <a:spcPts val="100"/>
              </a:spcBef>
            </a:pPr>
            <a:r>
              <a:rPr lang="en-US" dirty="0" smtClean="0">
                <a:latin typeface="Times New Roman" panose="02020603050405020304" pitchFamily="18" charset="0"/>
                <a:cs typeface="Times New Roman" panose="02020603050405020304" pitchFamily="18" charset="0"/>
              </a:rPr>
              <a:t>Problem statement               </a:t>
            </a:r>
            <a:br>
              <a:rPr lang="en-US" dirty="0" smtClean="0">
                <a:latin typeface="Times New Roman" panose="02020603050405020304" pitchFamily="18" charset="0"/>
                <a:cs typeface="Times New Roman" panose="02020603050405020304" pitchFamily="18" charset="0"/>
              </a:rPr>
            </a:br>
            <a:endParaRPr spc="-10" dirty="0"/>
          </a:p>
        </p:txBody>
      </p:sp>
      <p:sp>
        <p:nvSpPr>
          <p:cNvPr id="8" name="object 8">
            <a:extLst>
              <a:ext uri="{FF2B5EF4-FFF2-40B4-BE49-F238E27FC236}">
                <a16:creationId xmlns:a16="http://schemas.microsoft.com/office/drawing/2014/main" xmlns=""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xmlns=""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a16="http://schemas.microsoft.com/office/drawing/2014/main" xmlns=""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xmlns=""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a16="http://schemas.microsoft.com/office/drawing/2014/main" xmlns="" id="{06C27353-C81E-6D02-EDD9-9B798985605C}"/>
              </a:ext>
            </a:extLst>
          </p:cNvPr>
          <p:cNvSpPr txBox="1"/>
          <p:nvPr/>
        </p:nvSpPr>
        <p:spPr>
          <a:xfrm>
            <a:off x="155388" y="1108871"/>
            <a:ext cx="12036611" cy="5262979"/>
          </a:xfrm>
          <a:prstGeom prst="rect">
            <a:avLst/>
          </a:prstGeom>
          <a:noFill/>
        </p:spPr>
        <p:txBody>
          <a:bodyPr wrap="square">
            <a:spAutoFit/>
          </a:bodyPr>
          <a:lstStyle/>
          <a:p>
            <a:r>
              <a:rPr lang="en-US" sz="2400" dirty="0" smtClean="0"/>
              <a:t>Plant diseases significantly reduce crop yield and quality, directly affecting farmers income and overall agricultural productivity. Traditional disease monitoring and fertilizer spraying methods are manual, time-consuming, and labor-intensive. Farmers often apply fertilizers or pesticides uniformly across the field without assessing the actual severity of infection. This results in chemical wastage, increased operational costs, and environmental pollution. Continuous monitoring of large agricultural fields is also difficult and inefficient.</a:t>
            </a:r>
          </a:p>
          <a:p>
            <a:endParaRPr lang="en-US" sz="2400" dirty="0" smtClean="0"/>
          </a:p>
          <a:p>
            <a:r>
              <a:rPr lang="en-US" sz="2400" dirty="0" smtClean="0"/>
              <a:t>Therefore, there is a need for an intelligent and automated system that can detect plant diseases in real time, analyze their severity accurately, and spray fertilizer precisely where required. The proposed Smart Fertilizer Spraying Robot aims to support precision agriculture, reduce human effort, minimize chemical usage, and promote sustainable and efficient farming practices.</a:t>
            </a:r>
          </a:p>
          <a:p>
            <a:pPr marL="457200" indent="-457200"/>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6890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603640-8082-4B57-E585-62087834913D}"/>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6E9640A7-3647-25D9-31BB-9280B8ECFFF6}"/>
              </a:ext>
            </a:extLst>
          </p:cNvPr>
          <p:cNvGrpSpPr/>
          <p:nvPr/>
        </p:nvGrpSpPr>
        <p:grpSpPr>
          <a:xfrm>
            <a:off x="-14111" y="78755"/>
            <a:ext cx="12192000" cy="803910"/>
            <a:chOff x="-2" y="216249"/>
            <a:chExt cx="12192000" cy="803910"/>
          </a:xfrm>
        </p:grpSpPr>
        <p:pic>
          <p:nvPicPr>
            <p:cNvPr id="4" name="object 4">
              <a:extLst>
                <a:ext uri="{FF2B5EF4-FFF2-40B4-BE49-F238E27FC236}">
                  <a16:creationId xmlns="" xmlns:a16="http://schemas.microsoft.com/office/drawing/2014/main" id="{E7F9B45C-7AEE-B4A1-1106-4CE45B88FE7C}"/>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702A45AA-FF3F-592C-4B26-80078D53FD8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38F8DCF9-43CD-09DA-7CA2-284777F953E7}"/>
              </a:ext>
            </a:extLst>
          </p:cNvPr>
          <p:cNvSpPr txBox="1">
            <a:spLocks noGrp="1"/>
          </p:cNvSpPr>
          <p:nvPr>
            <p:ph type="title"/>
          </p:nvPr>
        </p:nvSpPr>
        <p:spPr>
          <a:xfrm>
            <a:off x="104576" y="201000"/>
            <a:ext cx="6143823" cy="689932"/>
          </a:xfrm>
          <a:prstGeom prst="rect">
            <a:avLst/>
          </a:prstGeom>
        </p:spPr>
        <p:txBody>
          <a:bodyPr vert="horz" wrap="square" lIns="0" tIns="12700" rIns="0" bIns="0" rtlCol="0">
            <a:spAutoFit/>
          </a:bodyPr>
          <a:lstStyle/>
          <a:p>
            <a:pPr marL="12700">
              <a:lnSpc>
                <a:spcPct val="100000"/>
              </a:lnSpc>
              <a:spcBef>
                <a:spcPts val="100"/>
              </a:spcBef>
            </a:pPr>
            <a:r>
              <a:rPr lang="en-IN" spc="-10" dirty="0"/>
              <a:t>Objectives Of Project</a:t>
            </a:r>
            <a:endParaRPr spc="-10" dirty="0"/>
          </a:p>
        </p:txBody>
      </p:sp>
      <p:sp>
        <p:nvSpPr>
          <p:cNvPr id="8" name="object 8">
            <a:extLst>
              <a:ext uri="{FF2B5EF4-FFF2-40B4-BE49-F238E27FC236}">
                <a16:creationId xmlns="" xmlns:a16="http://schemas.microsoft.com/office/drawing/2014/main" id="{61B3BC52-706C-4E4F-55A1-8744DEF3404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CC71CEDC-2945-E7CC-D988-3F3097DDB8C2}"/>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a:extLst>
              <a:ext uri="{FF2B5EF4-FFF2-40B4-BE49-F238E27FC236}">
                <a16:creationId xmlns="" xmlns:a16="http://schemas.microsoft.com/office/drawing/2014/main" id="{989FB7AB-F4C3-1293-30FD-2BBE9E7940E4}"/>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6</a:t>
            </a:fld>
            <a:endParaRPr spc="-25" dirty="0"/>
          </a:p>
        </p:txBody>
      </p:sp>
      <p:sp>
        <p:nvSpPr>
          <p:cNvPr id="10" name="object 10">
            <a:extLst>
              <a:ext uri="{FF2B5EF4-FFF2-40B4-BE49-F238E27FC236}">
                <a16:creationId xmlns="" xmlns:a16="http://schemas.microsoft.com/office/drawing/2014/main" id="{86106A82-0EA6-1E8D-709E-0E4799987545}"/>
              </a:ext>
            </a:extLst>
          </p:cNvPr>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TextBox 11">
            <a:extLst>
              <a:ext uri="{FF2B5EF4-FFF2-40B4-BE49-F238E27FC236}">
                <a16:creationId xmlns="" xmlns:a16="http://schemas.microsoft.com/office/drawing/2014/main" id="{4BAD7648-1607-1773-1EC4-0BC7A0453780}"/>
              </a:ext>
            </a:extLst>
          </p:cNvPr>
          <p:cNvSpPr txBox="1"/>
          <p:nvPr/>
        </p:nvSpPr>
        <p:spPr>
          <a:xfrm>
            <a:off x="304800" y="996667"/>
            <a:ext cx="10363200" cy="5262979"/>
          </a:xfrm>
          <a:prstGeom prst="rect">
            <a:avLst/>
          </a:prstGeom>
          <a:noFill/>
        </p:spPr>
        <p:txBody>
          <a:bodyPr wrap="square" rtlCol="0">
            <a:spAutoFit/>
          </a:bodyPr>
          <a:lstStyle/>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implement </a:t>
            </a:r>
            <a:r>
              <a:rPr lang="en-US" sz="2400" b="1" dirty="0">
                <a:latin typeface="Times New Roman" panose="02020603050405020304" pitchFamily="18" charset="0"/>
                <a:cs typeface="Times New Roman" panose="02020603050405020304" pitchFamily="18" charset="0"/>
              </a:rPr>
              <a:t>plant disease severity analysis</a:t>
            </a:r>
            <a:r>
              <a:rPr lang="en-US" sz="2400" dirty="0">
                <a:latin typeface="Times New Roman" panose="02020603050405020304" pitchFamily="18" charset="0"/>
                <a:cs typeface="Times New Roman" panose="02020603050405020304" pitchFamily="18" charset="0"/>
              </a:rPr>
              <a:t> using image processing techniques.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capture real-time crop images using a </a:t>
            </a:r>
            <a:r>
              <a:rPr lang="en-US" sz="2400" b="1" dirty="0">
                <a:latin typeface="Times New Roman" panose="02020603050405020304" pitchFamily="18" charset="0"/>
                <a:cs typeface="Times New Roman" panose="02020603050405020304" pitchFamily="18" charset="0"/>
              </a:rPr>
              <a:t>Raspberry Pi with USB camera</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classify disease severity levels accurately for effective treatment.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automatically control </a:t>
            </a:r>
            <a:r>
              <a:rPr lang="en-US" sz="2400" b="1" dirty="0">
                <a:latin typeface="Times New Roman" panose="02020603050405020304" pitchFamily="18" charset="0"/>
                <a:cs typeface="Times New Roman" panose="02020603050405020304" pitchFamily="18" charset="0"/>
              </a:rPr>
              <a:t>fertilizer spraying duration</a:t>
            </a:r>
            <a:r>
              <a:rPr lang="en-US" sz="2400" dirty="0">
                <a:latin typeface="Times New Roman" panose="02020603050405020304" pitchFamily="18" charset="0"/>
                <a:cs typeface="Times New Roman" panose="02020603050405020304" pitchFamily="18" charset="0"/>
              </a:rPr>
              <a:t> based on detected severity.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ensure </a:t>
            </a:r>
            <a:r>
              <a:rPr lang="en-US" sz="2400" b="1" dirty="0">
                <a:latin typeface="Times New Roman" panose="02020603050405020304" pitchFamily="18" charset="0"/>
                <a:cs typeface="Times New Roman" panose="02020603050405020304" pitchFamily="18" charset="0"/>
              </a:rPr>
              <a:t>precise fertilizer application</a:t>
            </a:r>
            <a:r>
              <a:rPr lang="en-US" sz="2400" dirty="0">
                <a:latin typeface="Times New Roman" panose="02020603050405020304" pitchFamily="18" charset="0"/>
                <a:cs typeface="Times New Roman" panose="02020603050405020304" pitchFamily="18" charset="0"/>
              </a:rPr>
              <a:t> using multiple dedicated nozzles.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reduce </a:t>
            </a:r>
            <a:r>
              <a:rPr lang="en-US" sz="2400" b="1" dirty="0">
                <a:latin typeface="Times New Roman" panose="02020603050405020304" pitchFamily="18" charset="0"/>
                <a:cs typeface="Times New Roman" panose="02020603050405020304" pitchFamily="18" charset="0"/>
              </a:rPr>
              <a:t>fertilizer wastage</a:t>
            </a:r>
            <a:r>
              <a:rPr lang="en-US" sz="2400" dirty="0">
                <a:latin typeface="Times New Roman" panose="02020603050405020304" pitchFamily="18" charset="0"/>
                <a:cs typeface="Times New Roman" panose="02020603050405020304" pitchFamily="18" charset="0"/>
              </a:rPr>
              <a:t> and prevent environmental damage.</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integrate </a:t>
            </a:r>
            <a:r>
              <a:rPr lang="en-US" sz="2400" b="1" dirty="0">
                <a:latin typeface="Times New Roman" panose="02020603050405020304" pitchFamily="18" charset="0"/>
                <a:cs typeface="Times New Roman" panose="02020603050405020304" pitchFamily="18" charset="0"/>
              </a:rPr>
              <a:t>Arduino-based control</a:t>
            </a:r>
            <a:r>
              <a:rPr lang="en-US" sz="2400" dirty="0">
                <a:latin typeface="Times New Roman" panose="02020603050405020304" pitchFamily="18" charset="0"/>
                <a:cs typeface="Times New Roman" panose="02020603050405020304" pitchFamily="18" charset="0"/>
              </a:rPr>
              <a:t> for robot movement and hardware operations.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provide </a:t>
            </a:r>
            <a:r>
              <a:rPr lang="en-US" sz="2400" b="1" dirty="0">
                <a:latin typeface="Times New Roman" panose="02020603050405020304" pitchFamily="18" charset="0"/>
                <a:cs typeface="Times New Roman" panose="02020603050405020304" pitchFamily="18" charset="0"/>
              </a:rPr>
              <a:t>wireless monitoring and control</a:t>
            </a:r>
            <a:r>
              <a:rPr lang="en-US" sz="2400" dirty="0">
                <a:latin typeface="Times New Roman" panose="02020603050405020304" pitchFamily="18" charset="0"/>
                <a:cs typeface="Times New Roman" panose="02020603050405020304" pitchFamily="18" charset="0"/>
              </a:rPr>
              <a:t> using Bluetooth technology.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promote </a:t>
            </a:r>
            <a:r>
              <a:rPr lang="en-US" sz="2400" b="1" dirty="0">
                <a:latin typeface="Times New Roman" panose="02020603050405020304" pitchFamily="18" charset="0"/>
                <a:cs typeface="Times New Roman" panose="02020603050405020304" pitchFamily="18" charset="0"/>
              </a:rPr>
              <a:t>eco-friendly, energy-efficient, and sustainable farming practices</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minimize </a:t>
            </a:r>
            <a:r>
              <a:rPr lang="en-US" sz="2400" b="1" dirty="0">
                <a:latin typeface="Times New Roman" panose="02020603050405020304" pitchFamily="18" charset="0"/>
                <a:cs typeface="Times New Roman" panose="02020603050405020304" pitchFamily="18" charset="0"/>
              </a:rPr>
              <a:t>human intervention</a:t>
            </a:r>
            <a:r>
              <a:rPr lang="en-US" sz="2400" dirty="0">
                <a:latin typeface="Times New Roman" panose="02020603050405020304" pitchFamily="18" charset="0"/>
                <a:cs typeface="Times New Roman" panose="02020603050405020304" pitchFamily="18" charset="0"/>
              </a:rPr>
              <a:t> in fertilizer spraying operations.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7316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a:t>Literature Survey</a:t>
            </a:r>
            <a:endParaRPr spc="-10" dirty="0"/>
          </a:p>
        </p:txBody>
      </p:sp>
      <p:sp>
        <p:nvSpPr>
          <p:cNvPr id="8" name="object 8">
            <a:extLst>
              <a:ext uri="{FF2B5EF4-FFF2-40B4-BE49-F238E27FC236}">
                <a16:creationId xmlns=""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 xmlns:a16="http://schemas.microsoft.com/office/drawing/2014/main" id="{06C27353-C81E-6D02-EDD9-9B798985605C}"/>
              </a:ext>
            </a:extLst>
          </p:cNvPr>
          <p:cNvSpPr txBox="1"/>
          <p:nvPr/>
        </p:nvSpPr>
        <p:spPr>
          <a:xfrm>
            <a:off x="155388" y="1108871"/>
            <a:ext cx="12036611" cy="5139869"/>
          </a:xfrm>
          <a:prstGeom prst="rect">
            <a:avLst/>
          </a:prstGeom>
          <a:noFill/>
        </p:spPr>
        <p:txBody>
          <a:bodyPr wrap="square">
            <a:spAutoFit/>
          </a:bodyPr>
          <a:lstStyle/>
          <a:p>
            <a:pPr marL="457200" indent="-457200">
              <a:buAutoNum type="arabicPeriod"/>
            </a:pPr>
            <a:r>
              <a:rPr lang="en-US" sz="2400" b="1" dirty="0"/>
              <a:t>Plant Disease Detection System for Smart Agriculture:</a:t>
            </a:r>
          </a:p>
          <a:p>
            <a:r>
              <a:rPr lang="en-US" sz="2000" dirty="0">
                <a:latin typeface="Times New Roman" panose="02020603050405020304" pitchFamily="18" charset="0"/>
                <a:cs typeface="Times New Roman" panose="02020603050405020304" pitchFamily="18" charset="0"/>
              </a:rPr>
              <a:t>The Indian economy relies on agriculture to a great extent. In traditional agricultural practices, farmers identify crop diseases either through direct visual inspection or by consulting experts, sometimes by sharing diseased crop images through online services. However, continuous monitoring and assessment of disease severity cannot be performed manually, often leading to delayed treatment and increased crop loss.</a:t>
            </a:r>
          </a:p>
          <a:p>
            <a:r>
              <a:rPr lang="en-US" sz="2000" dirty="0">
                <a:latin typeface="Times New Roman" panose="02020603050405020304" pitchFamily="18" charset="0"/>
                <a:cs typeface="Times New Roman" panose="02020603050405020304" pitchFamily="18" charset="0"/>
              </a:rPr>
              <a:t>In the plant disease detection system, the image to be tested is acquired, pre-processed, segmented, and analyzed to determine both the type of disease and its severity level. The classification and severity estimation are performed using a probabilistic linear classifier, namely the Naive Bayes algorithm. The system is developed using Android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Studio, and python is used as the programming language.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application identifies plant diseases based on pixel intensity analysis and evaluates the extent of disease spread </a:t>
            </a:r>
            <a:r>
              <a:rPr lang="en-US" sz="2000" b="1" dirty="0">
                <a:latin typeface="Times New Roman" panose="02020603050405020304" pitchFamily="18" charset="0"/>
                <a:cs typeface="Times New Roman" panose="02020603050405020304" pitchFamily="18" charset="0"/>
              </a:rPr>
              <a:t>(severity)</a:t>
            </a:r>
            <a:r>
              <a:rPr lang="en-US" sz="2000" dirty="0">
                <a:latin typeface="Times New Roman" panose="02020603050405020304" pitchFamily="18" charset="0"/>
                <a:cs typeface="Times New Roman" panose="02020603050405020304" pitchFamily="18" charset="0"/>
              </a:rPr>
              <a:t> on the affected leaves. Based on the detected severity level, the system predicts plant growth conditions and provides recommendations for appropriate fertilizers and pesticides. The developed system achieves an accuracy and its implementation reduces manpower requirements while improving productivity through timely and severity-based intervention.</a:t>
            </a: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8900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228600" y="216249"/>
            <a:ext cx="3946525" cy="695960"/>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8</a:t>
            </a:fld>
            <a:endParaRPr spc="-25" dirty="0"/>
          </a:p>
        </p:txBody>
      </p:sp>
      <p:sp>
        <p:nvSpPr>
          <p:cNvPr id="13" name="Rectangle 12">
            <a:extLst>
              <a:ext uri="{FF2B5EF4-FFF2-40B4-BE49-F238E27FC236}">
                <a16:creationId xmlns="" xmlns:a16="http://schemas.microsoft.com/office/drawing/2014/main" id="{D1C4E9E8-EE25-1745-B030-5644C2327CEE}"/>
              </a:ext>
            </a:extLst>
          </p:cNvPr>
          <p:cNvSpPr/>
          <p:nvPr/>
        </p:nvSpPr>
        <p:spPr>
          <a:xfrm>
            <a:off x="11460148" y="5939532"/>
            <a:ext cx="685800" cy="685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12" name="TextBox 11">
            <a:extLst>
              <a:ext uri="{FF2B5EF4-FFF2-40B4-BE49-F238E27FC236}">
                <a16:creationId xmlns="" xmlns:a16="http://schemas.microsoft.com/office/drawing/2014/main" id="{54DC6A21-A96F-02AA-6030-BED8C9E2DB5C}"/>
              </a:ext>
            </a:extLst>
          </p:cNvPr>
          <p:cNvSpPr txBox="1"/>
          <p:nvPr/>
        </p:nvSpPr>
        <p:spPr>
          <a:xfrm>
            <a:off x="35560" y="989150"/>
            <a:ext cx="11477823" cy="5940088"/>
          </a:xfrm>
          <a:prstGeom prst="rect">
            <a:avLst/>
          </a:prstGeom>
          <a:noFill/>
        </p:spPr>
        <p:txBody>
          <a:bodyPr wrap="square" rtlCol="0">
            <a:spAutoFit/>
          </a:bodyPr>
          <a:lstStyle/>
          <a:p>
            <a:pPr marL="0" indent="0" algn="just">
              <a:buNone/>
            </a:pPr>
            <a:r>
              <a:rPr lang="en-US" sz="2000" b="1" dirty="0">
                <a:latin typeface="Times New Roman" panose="02020603050405020304" pitchFamily="18" charset="0"/>
                <a:cs typeface="Times New Roman" panose="02020603050405020304" pitchFamily="18" charset="0"/>
              </a:rPr>
              <a:t>2. Crop Care – An AI-Integrated System for Smart Crop Protection and Disease Detection: </a:t>
            </a:r>
          </a:p>
          <a:p>
            <a:r>
              <a:rPr lang="en-US" sz="2000" dirty="0">
                <a:latin typeface="Times New Roman" panose="02020603050405020304" pitchFamily="18" charset="0"/>
                <a:cs typeface="Times New Roman" panose="02020603050405020304" pitchFamily="18" charset="0"/>
              </a:rPr>
              <a:t>Agriculture plays a vital role in sustaining human life by ensuring food security for a growing population. However, plant diseases and improper fertilizer application often lead to reduced crop yield, economic losses, and environmental damage. To overcome these challenges, Crop Care proposes an AI-integrated automated agricultural robot designed to detect plant disease severity and perform precision fertilizer spraying without direct human intervention.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utilizes a Raspberry Pi integrated with a USB camera to capture real-time images of crops and analyze disease severity using advanced image processing and machine learning techniques. Based on the identified severity level, the system automatically regulates fertilizer spraying duration through three dedicated nozzles, ensuring accurate application while minimizing fertilizer wastage.</a:t>
            </a:r>
          </a:p>
          <a:p>
            <a:r>
              <a:rPr lang="en-US" sz="2000" dirty="0">
                <a:latin typeface="Times New Roman" panose="02020603050405020304" pitchFamily="18" charset="0"/>
                <a:cs typeface="Times New Roman" panose="02020603050405020304" pitchFamily="18" charset="0"/>
              </a:rPr>
              <a:t>An Arduino microcontroller is employed to control the robot’s movement and manage hardware components such as DC motors, water pumps, relays, and the chassis, enabling efficient navigation across the field. The system is powered by a 12V battery supported by a 9V solar panel, ensuring energy-efficient and sustainable operation. Additionally, Bluetooth connectivity enables wireless monitoring and control of the robot.</a:t>
            </a:r>
          </a:p>
          <a:p>
            <a:r>
              <a:rPr lang="en-US" sz="2000" dirty="0">
                <a:latin typeface="Times New Roman" panose="02020603050405020304" pitchFamily="18" charset="0"/>
                <a:cs typeface="Times New Roman" panose="02020603050405020304" pitchFamily="18" charset="0"/>
              </a:rPr>
              <a:t>By combining plant disease severity detection with intelligent and automated fertilizer management, the proposed system significantly reduces human effort, optimizes resource utilization, prevents overuse of fertilizers, and supports eco-friendly and sustainable farming practices.</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62A56A8-D484-B9B9-F523-A3B65DE55474}"/>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326A738C-0EFB-0579-2A81-A608F050D368}"/>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BE0A08C1-D240-BE32-CCB5-558BB67B84C0}"/>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E7F9EA04-6273-62C0-073F-04779AE503CE}"/>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AE89D641-3A81-7688-7651-67DC9DA0577F}"/>
              </a:ext>
            </a:extLst>
          </p:cNvPr>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Existing System</a:t>
            </a:r>
            <a:endParaRPr spc="-10" dirty="0"/>
          </a:p>
        </p:txBody>
      </p:sp>
      <p:sp>
        <p:nvSpPr>
          <p:cNvPr id="8" name="object 8">
            <a:extLst>
              <a:ext uri="{FF2B5EF4-FFF2-40B4-BE49-F238E27FC236}">
                <a16:creationId xmlns="" xmlns:a16="http://schemas.microsoft.com/office/drawing/2014/main" id="{D8FF0DD2-CF2B-DB03-4799-FA92DC7ED7C5}"/>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2488AF73-9DEF-D4EA-7543-59F4CBD8C92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FA9AE410-5E6A-330A-665C-4231BB3444A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9</a:t>
            </a:fld>
            <a:endParaRPr spc="-25" dirty="0"/>
          </a:p>
        </p:txBody>
      </p:sp>
      <p:sp>
        <p:nvSpPr>
          <p:cNvPr id="12" name="object 9">
            <a:extLst>
              <a:ext uri="{FF2B5EF4-FFF2-40B4-BE49-F238E27FC236}">
                <a16:creationId xmlns="" xmlns:a16="http://schemas.microsoft.com/office/drawing/2014/main" id="{24A3AE38-89BA-16A0-15B7-BD5A6F78CD8A}"/>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F0DE90C-D6D3-08AE-9D5A-1A0DE666DCB6}"/>
              </a:ext>
            </a:extLst>
          </p:cNvPr>
          <p:cNvSpPr txBox="1"/>
          <p:nvPr/>
        </p:nvSpPr>
        <p:spPr>
          <a:xfrm>
            <a:off x="-1" y="1056571"/>
            <a:ext cx="12165957" cy="4832092"/>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Traditionally, crop health monitoring and fertilizer application rely on manual inspection, where farmers visually examine plants to identify diseases, pests, or nutrient deficiencies and then apply fertilizer or pesticides using hand-operated or tractor-mounted sprayers.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This approach is </a:t>
            </a:r>
            <a:r>
              <a:rPr lang="en-IN" sz="2800" dirty="0" err="1">
                <a:latin typeface="Times New Roman" panose="02020603050405020304" pitchFamily="18" charset="0"/>
                <a:cs typeface="Times New Roman" panose="02020603050405020304" pitchFamily="18" charset="0"/>
              </a:rPr>
              <a:t>labor-intensive</a:t>
            </a:r>
            <a:r>
              <a:rPr lang="en-IN" sz="2800" dirty="0">
                <a:latin typeface="Times New Roman" panose="02020603050405020304" pitchFamily="18" charset="0"/>
                <a:cs typeface="Times New Roman" panose="02020603050405020304" pitchFamily="18" charset="0"/>
              </a:rPr>
              <a:t>, time-consuming, and prone to human error, often resulting in under- or over-application of chemicals. Additionally, uniform spraying without considering disease severity leads to wastage of resources and potential environmental harm. Compared to this traditional method, automated systems that integrate disease severity detection with targeted fertilizer application offer greater efficiency, accuracy, and sustainability.</a:t>
            </a:r>
          </a:p>
        </p:txBody>
      </p:sp>
    </p:spTree>
    <p:extLst>
      <p:ext uri="{BB962C8B-B14F-4D97-AF65-F5344CB8AC3E}">
        <p14:creationId xmlns="" xmlns:p14="http://schemas.microsoft.com/office/powerpoint/2010/main" val="1902439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10</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1094897"/>
            <a:ext cx="12191999" cy="4893647"/>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proposed Smart Fertilizer Spraying System integrates plant disease severity detection with precision fertilizer application to optimize crop management. The system uses a Raspberry Pi equipped with a USB camera to capture real-time images of plants. Image processing techniques are applied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these images and determine the severity of detected diseases. Based on the severity level, the system intelligently adjusts the spraying duration of three separate nozzles, ensuring precise fertilizer application and minimizing waste.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Arduino microcontroller controls the movement of the robot chassis, DC motors, water pumps, and relays to execute spraying operations efficiently. The system is powered by a 12V battery and supported by a 9V solar panel for sustainable operation. Bluetooth communication enables wireless monitoring and control, allowing farmers to track system performance and adjust settings remotely. This approach reduces human intervention, improves crop health, and promotes eco-friendly farming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5EB3A63-8396-ED2F-3CD9-A1072F422C78}"/>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981F7BDF-4C8A-7955-4BA1-CE016E88645C}"/>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AF5F28A8-2C54-6EEB-C12C-7F6EC2E9761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C6481701-C883-1054-6589-3DBCEBD5825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6C995E1-22B1-7E29-9C45-39FC942CF8A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Planning</a:t>
            </a:r>
            <a:endParaRPr spc="-10" dirty="0"/>
          </a:p>
        </p:txBody>
      </p:sp>
      <p:sp>
        <p:nvSpPr>
          <p:cNvPr id="10" name="object 10">
            <a:extLst>
              <a:ext uri="{FF2B5EF4-FFF2-40B4-BE49-F238E27FC236}">
                <a16:creationId xmlns="" xmlns:a16="http://schemas.microsoft.com/office/drawing/2014/main" id="{7AD41838-7DF3-4062-9FDE-010B8FE121E9}"/>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069C1D68-81B2-5232-455E-AFC5349FB38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11</a:t>
            </a:fld>
            <a:endParaRPr spc="-25" dirty="0"/>
          </a:p>
        </p:txBody>
      </p:sp>
      <p:sp>
        <p:nvSpPr>
          <p:cNvPr id="7" name="object 7">
            <a:extLst>
              <a:ext uri="{FF2B5EF4-FFF2-40B4-BE49-F238E27FC236}">
                <a16:creationId xmlns="" xmlns:a16="http://schemas.microsoft.com/office/drawing/2014/main" id="{6A6B85BB-B8C4-F7A9-7E28-493B24BCADCF}"/>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A3C6434D-A982-D362-BB7A-2465AFDDEABE}"/>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TextBox 12">
            <a:extLst>
              <a:ext uri="{FF2B5EF4-FFF2-40B4-BE49-F238E27FC236}">
                <a16:creationId xmlns="" xmlns:a16="http://schemas.microsoft.com/office/drawing/2014/main" id="{D89B072C-28A9-0686-A994-4865CC0B849E}"/>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 xmlns:a16="http://schemas.microsoft.com/office/drawing/2014/main" id="{FD1BB238-7B52-5AFF-0AA4-4D4A4CB4D17B}"/>
              </a:ext>
            </a:extLst>
          </p:cNvPr>
          <p:cNvSpPr txBox="1"/>
          <p:nvPr/>
        </p:nvSpPr>
        <p:spPr>
          <a:xfrm>
            <a:off x="221198" y="1115843"/>
            <a:ext cx="9684802" cy="984885"/>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IN" dirty="0"/>
          </a:p>
        </p:txBody>
      </p:sp>
      <p:pic>
        <p:nvPicPr>
          <p:cNvPr id="9" name="Picture 8">
            <a:extLst>
              <a:ext uri="{FF2B5EF4-FFF2-40B4-BE49-F238E27FC236}">
                <a16:creationId xmlns="" xmlns:a16="http://schemas.microsoft.com/office/drawing/2014/main" id="{093F8031-AE8F-E012-9382-E0CE7212BD0B}"/>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523991" y="1142995"/>
            <a:ext cx="9144018" cy="4572009"/>
          </a:xfrm>
          <a:prstGeom prst="rect">
            <a:avLst/>
          </a:prstGeom>
        </p:spPr>
      </p:pic>
    </p:spTree>
    <p:extLst>
      <p:ext uri="{BB962C8B-B14F-4D97-AF65-F5344CB8AC3E}">
        <p14:creationId xmlns="" xmlns:p14="http://schemas.microsoft.com/office/powerpoint/2010/main" val="363819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Planning</a:t>
            </a:r>
            <a:endParaRPr spc="-10" dirty="0"/>
          </a:p>
        </p:txBody>
      </p:sp>
      <p:sp>
        <p:nvSpPr>
          <p:cNvPr id="8" name="object 8">
            <a:extLst>
              <a:ext uri="{FF2B5EF4-FFF2-40B4-BE49-F238E27FC236}">
                <a16:creationId xmlns=""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 xmlns:a16="http://schemas.microsoft.com/office/drawing/2014/main" id="{06C27353-C81E-6D02-EDD9-9B798985605C}"/>
              </a:ext>
            </a:extLst>
          </p:cNvPr>
          <p:cNvSpPr txBox="1"/>
          <p:nvPr/>
        </p:nvSpPr>
        <p:spPr>
          <a:xfrm>
            <a:off x="155388" y="990600"/>
            <a:ext cx="12036611" cy="6001643"/>
          </a:xfrm>
          <a:prstGeom prst="rect">
            <a:avLst/>
          </a:prstGeom>
          <a:noFill/>
        </p:spPr>
        <p:txBody>
          <a:bodyPr wrap="square">
            <a:spAutoFit/>
          </a:bodyPr>
          <a:lstStyle/>
          <a:p>
            <a:r>
              <a:rPr lang="en-US" sz="2400" b="1" dirty="0" smtClean="0"/>
              <a:t>Objectives</a:t>
            </a:r>
          </a:p>
          <a:p>
            <a:r>
              <a:rPr lang="en-US" sz="2400" dirty="0" smtClean="0"/>
              <a:t>The objective of this project is to develop a </a:t>
            </a:r>
            <a:r>
              <a:rPr lang="en-US" sz="2400" b="1" dirty="0" smtClean="0"/>
              <a:t>Smart Fertilizer Spraying System</a:t>
            </a:r>
            <a:r>
              <a:rPr lang="en-US" sz="2400" dirty="0" smtClean="0"/>
              <a:t> using deep learning and embedded systems to improve precision agriculture. The system uses </a:t>
            </a:r>
            <a:r>
              <a:rPr lang="en-US" sz="2400" b="1" dirty="0" smtClean="0"/>
              <a:t>YOLOv8</a:t>
            </a:r>
            <a:r>
              <a:rPr lang="en-US" sz="2400" dirty="0" smtClean="0"/>
              <a:t> to detect tomato disease severity and automatically control fertilizer spraying.</a:t>
            </a:r>
          </a:p>
          <a:p>
            <a:endParaRPr lang="en-US" sz="2400" dirty="0" smtClean="0"/>
          </a:p>
          <a:p>
            <a:r>
              <a:rPr lang="en-US" sz="2400" b="1" dirty="0" smtClean="0"/>
              <a:t>Scope</a:t>
            </a:r>
          </a:p>
          <a:p>
            <a:r>
              <a:rPr lang="en-US" sz="2400" dirty="0" smtClean="0"/>
              <a:t>In this proposed model, tomato diseases are detected from images using the YOLOv8 model. Based on the severity level, the system automatically sprays fertilizer using Raspberry Pi and </a:t>
            </a:r>
            <a:r>
              <a:rPr lang="en-US" sz="2400" dirty="0" err="1" smtClean="0"/>
              <a:t>Arduino</a:t>
            </a:r>
            <a:r>
              <a:rPr lang="en-US" sz="2400" dirty="0" smtClean="0"/>
              <a:t> to improve crop management and reduce chemical wastage.</a:t>
            </a:r>
          </a:p>
          <a:p>
            <a:endParaRPr lang="en-US" sz="2400" dirty="0" smtClean="0"/>
          </a:p>
          <a:p>
            <a:r>
              <a:rPr lang="en-US" sz="2400" b="1" dirty="0" smtClean="0"/>
              <a:t>Performance</a:t>
            </a:r>
          </a:p>
          <a:p>
            <a:r>
              <a:rPr lang="en-US" sz="2400" dirty="0" smtClean="0"/>
              <a:t>The system aims to achieve accurate disease severity detection and efficient fertilizer spraying. It helps reduce manual effort, optimize fertilizer usage, and support sustainable farming practices.</a:t>
            </a:r>
          </a:p>
          <a:p>
            <a:pPr marL="457200" indent="-457200"/>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8900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3A38F3-2B4B-3602-5098-BBE644B76F80}"/>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BC0DAD87-BB5E-0CB1-BA7A-3969D0DC338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ABC2F721-904A-AD3A-29C9-2B0D5502279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7B1CA44-FB46-F518-2EF3-F435CF2CE247}"/>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BEB5CBE5-8A34-B986-E00A-3C114E75D6A3}"/>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Requirements</a:t>
            </a:r>
            <a:endParaRPr spc="-10" dirty="0"/>
          </a:p>
        </p:txBody>
      </p:sp>
      <p:sp>
        <p:nvSpPr>
          <p:cNvPr id="10" name="object 10">
            <a:extLst>
              <a:ext uri="{FF2B5EF4-FFF2-40B4-BE49-F238E27FC236}">
                <a16:creationId xmlns="" xmlns:a16="http://schemas.microsoft.com/office/drawing/2014/main" id="{3F3F03C5-1211-C057-B6CC-AAC1026BEA9A}"/>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857A61-B1B2-55C5-D534-126922D496D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13</a:t>
            </a:fld>
            <a:endParaRPr spc="-25" dirty="0"/>
          </a:p>
        </p:txBody>
      </p:sp>
      <p:sp>
        <p:nvSpPr>
          <p:cNvPr id="7" name="object 7">
            <a:extLst>
              <a:ext uri="{FF2B5EF4-FFF2-40B4-BE49-F238E27FC236}">
                <a16:creationId xmlns="" xmlns:a16="http://schemas.microsoft.com/office/drawing/2014/main" id="{BEAEEA8E-C274-616F-0046-BA5031AFD8AB}"/>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2E5B23C9-3E98-3B27-FF7C-17F202F494C5}"/>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4" name="TextBox 13">
            <a:extLst>
              <a:ext uri="{FF2B5EF4-FFF2-40B4-BE49-F238E27FC236}">
                <a16:creationId xmlns="" xmlns:a16="http://schemas.microsoft.com/office/drawing/2014/main" id="{B6DEB68C-6852-E9E1-CD91-BBBF516BB513}"/>
              </a:ext>
            </a:extLst>
          </p:cNvPr>
          <p:cNvSpPr txBox="1"/>
          <p:nvPr/>
        </p:nvSpPr>
        <p:spPr>
          <a:xfrm flipH="1">
            <a:off x="0" y="1115843"/>
            <a:ext cx="4905871" cy="707886"/>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4CA23E84-1247-5D58-3E8E-38FC60447C02}"/>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 xmlns:a16="http://schemas.microsoft.com/office/drawing/2014/main" id="{F9B7515E-4F4B-AFBF-B9ED-05CD10AC66DF}"/>
              </a:ext>
            </a:extLst>
          </p:cNvPr>
          <p:cNvSpPr txBox="1"/>
          <p:nvPr/>
        </p:nvSpPr>
        <p:spPr>
          <a:xfrm>
            <a:off x="236964" y="1067081"/>
            <a:ext cx="8678436" cy="569386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Software Requirements</a:t>
            </a:r>
          </a:p>
          <a:p>
            <a:pPr>
              <a:buNone/>
            </a:pPr>
            <a:endParaRPr lang="en-IN"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Raspberry Pi OS, Windows 10/11</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Languages:</a:t>
            </a:r>
            <a:r>
              <a:rPr lang="en-IN" dirty="0">
                <a:latin typeface="Times New Roman" panose="02020603050405020304" pitchFamily="18" charset="0"/>
                <a:cs typeface="Times New Roman" panose="02020603050405020304" pitchFamily="18" charset="0"/>
              </a:rPr>
              <a:t> Python, Embedded C</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IDE / Tools:</a:t>
            </a:r>
            <a:r>
              <a:rPr lang="en-IN" dirty="0">
                <a:latin typeface="Times New Roman" panose="02020603050405020304" pitchFamily="18" charset="0"/>
                <a:cs typeface="Times New Roman" panose="02020603050405020304" pitchFamily="18" charset="0"/>
              </a:rPr>
              <a:t> Arduino IDE, Thonny / VS Code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Libraries:</a:t>
            </a:r>
            <a:r>
              <a:rPr lang="en-IN" dirty="0">
                <a:latin typeface="Times New Roman" panose="02020603050405020304" pitchFamily="18" charset="0"/>
                <a:cs typeface="Times New Roman" panose="02020603050405020304" pitchFamily="18" charset="0"/>
              </a:rPr>
              <a:t> OpenCV, NumPy</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Bluetooth (Serial)</a:t>
            </a:r>
          </a:p>
          <a:p>
            <a:endParaRPr lang="en-IN" dirty="0"/>
          </a:p>
          <a:p>
            <a:endParaRPr lang="en-IN" dirty="0"/>
          </a:p>
          <a:p>
            <a:r>
              <a:rPr lang="en-IN" sz="2000"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Controllers:</a:t>
            </a:r>
            <a:r>
              <a:rPr lang="en-IN" dirty="0">
                <a:latin typeface="Times New Roman" panose="02020603050405020304" pitchFamily="18" charset="0"/>
                <a:cs typeface="Times New Roman" panose="02020603050405020304" pitchFamily="18" charset="0"/>
              </a:rPr>
              <a:t> Raspberry Pi, Arduino</a:t>
            </a:r>
          </a:p>
          <a:p>
            <a:r>
              <a:rPr lang="en-IN" b="1" dirty="0">
                <a:latin typeface="Times New Roman" panose="02020603050405020304" pitchFamily="18" charset="0"/>
                <a:cs typeface="Times New Roman" panose="02020603050405020304" pitchFamily="18" charset="0"/>
              </a:rPr>
              <a:t>Camera &amp; Memory:</a:t>
            </a:r>
            <a:r>
              <a:rPr lang="en-IN" dirty="0">
                <a:latin typeface="Times New Roman" panose="02020603050405020304" pitchFamily="18" charset="0"/>
                <a:cs typeface="Times New Roman" panose="02020603050405020304" pitchFamily="18" charset="0"/>
              </a:rPr>
              <a:t> USB Web Camera, Micro SD Card</a:t>
            </a:r>
          </a:p>
          <a:p>
            <a:r>
              <a:rPr lang="en-IN" b="1" dirty="0">
                <a:latin typeface="Times New Roman" panose="02020603050405020304" pitchFamily="18" charset="0"/>
                <a:cs typeface="Times New Roman" panose="02020603050405020304" pitchFamily="18" charset="0"/>
              </a:rPr>
              <a:t>Power Supply:</a:t>
            </a:r>
            <a:r>
              <a:rPr lang="en-IN" dirty="0">
                <a:latin typeface="Times New Roman" panose="02020603050405020304" pitchFamily="18" charset="0"/>
                <a:cs typeface="Times New Roman" panose="02020603050405020304" pitchFamily="18" charset="0"/>
              </a:rPr>
              <a:t> 12V Battery, 9V Solar Panel, 12V Adapter (2A)</a:t>
            </a:r>
          </a:p>
          <a:p>
            <a:r>
              <a:rPr lang="en-IN" b="1" dirty="0">
                <a:latin typeface="Times New Roman" panose="02020603050405020304" pitchFamily="18" charset="0"/>
                <a:cs typeface="Times New Roman" panose="02020603050405020304" pitchFamily="18" charset="0"/>
              </a:rPr>
              <a:t>Motors &amp; Actuators:</a:t>
            </a:r>
            <a:r>
              <a:rPr lang="en-IN" dirty="0">
                <a:latin typeface="Times New Roman" panose="02020603050405020304" pitchFamily="18" charset="0"/>
                <a:cs typeface="Times New Roman" panose="02020603050405020304" pitchFamily="18" charset="0"/>
              </a:rPr>
              <a:t> DC Motors (2), DC Water Pumps (3)</a:t>
            </a:r>
          </a:p>
          <a:p>
            <a:r>
              <a:rPr lang="en-IN" b="1" dirty="0">
                <a:latin typeface="Times New Roman" panose="02020603050405020304" pitchFamily="18" charset="0"/>
                <a:cs typeface="Times New Roman" panose="02020603050405020304" pitchFamily="18" charset="0"/>
              </a:rPr>
              <a:t>Control Modules:</a:t>
            </a:r>
            <a:r>
              <a:rPr lang="en-IN" dirty="0">
                <a:latin typeface="Times New Roman" panose="02020603050405020304" pitchFamily="18" charset="0"/>
                <a:cs typeface="Times New Roman" panose="02020603050405020304" pitchFamily="18" charset="0"/>
              </a:rPr>
              <a:t> Motor Driver, Relays (3), Bluetooth Module</a:t>
            </a:r>
          </a:p>
          <a:p>
            <a:r>
              <a:rPr lang="en-IN" b="1" dirty="0">
                <a:latin typeface="Times New Roman" panose="02020603050405020304" pitchFamily="18" charset="0"/>
                <a:cs typeface="Times New Roman" panose="02020603050405020304" pitchFamily="18" charset="0"/>
              </a:rPr>
              <a:t>Mechanical Setup:</a:t>
            </a:r>
            <a:r>
              <a:rPr lang="en-IN" dirty="0">
                <a:latin typeface="Times New Roman" panose="02020603050405020304" pitchFamily="18" charset="0"/>
                <a:cs typeface="Times New Roman" panose="02020603050405020304" pitchFamily="18" charset="0"/>
              </a:rPr>
              <a:t> Robot Chassis, Wheels (4), Dummy Shafts (2)</a:t>
            </a:r>
          </a:p>
          <a:p>
            <a:r>
              <a:rPr lang="en-IN" b="1" dirty="0">
                <a:latin typeface="Times New Roman" panose="02020603050405020304" pitchFamily="18" charset="0"/>
                <a:cs typeface="Times New Roman" panose="02020603050405020304" pitchFamily="18" charset="0"/>
              </a:rPr>
              <a:t>Spraying System:</a:t>
            </a:r>
            <a:r>
              <a:rPr lang="en-IN" dirty="0">
                <a:latin typeface="Times New Roman" panose="02020603050405020304" pitchFamily="18" charset="0"/>
                <a:cs typeface="Times New Roman" panose="02020603050405020304" pitchFamily="18" charset="0"/>
              </a:rPr>
              <a:t> Nozzles (3), Plastic Boxes</a:t>
            </a:r>
          </a:p>
          <a:p>
            <a:r>
              <a:rPr lang="en-IN" b="1" dirty="0">
                <a:latin typeface="Times New Roman" panose="02020603050405020304" pitchFamily="18" charset="0"/>
                <a:cs typeface="Times New Roman" panose="02020603050405020304" pitchFamily="18" charset="0"/>
              </a:rPr>
              <a:t>Others:</a:t>
            </a:r>
            <a:r>
              <a:rPr lang="en-IN" dirty="0">
                <a:latin typeface="Times New Roman" panose="02020603050405020304" pitchFamily="18" charset="0"/>
                <a:cs typeface="Times New Roman" panose="02020603050405020304" pitchFamily="18" charset="0"/>
              </a:rPr>
              <a:t> LEDs, Slide Switch</a:t>
            </a:r>
          </a:p>
          <a:p>
            <a:pPr>
              <a:buFont typeface="Arial" panose="020B0604020202020204" pitchFamily="34" charset="0"/>
              <a:buChar char="•"/>
            </a:pPr>
            <a:endParaRPr lang="en-IN" dirty="0"/>
          </a:p>
        </p:txBody>
      </p:sp>
    </p:spTree>
    <p:extLst>
      <p:ext uri="{BB962C8B-B14F-4D97-AF65-F5344CB8AC3E}">
        <p14:creationId xmlns="" xmlns:p14="http://schemas.microsoft.com/office/powerpoint/2010/main" val="651118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4AF259-3B4B-A37A-97F7-3AF71A23E972}"/>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8" name="object 8">
            <a:extLst>
              <a:ext uri="{FF2B5EF4-FFF2-40B4-BE49-F238E27FC236}">
                <a16:creationId xmlns:a16="http://schemas.microsoft.com/office/drawing/2014/main" xmlns=""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14</a:t>
            </a:fld>
            <a:endParaRPr spc="-25" dirty="0"/>
          </a:p>
        </p:txBody>
      </p:sp>
      <p:sp>
        <p:nvSpPr>
          <p:cNvPr id="7" name="object 7">
            <a:extLst>
              <a:ext uri="{FF2B5EF4-FFF2-40B4-BE49-F238E27FC236}">
                <a16:creationId xmlns:a16="http://schemas.microsoft.com/office/drawing/2014/main" xmlns=""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9" name="Content Placeholder 4">
            <a:extLst>
              <a:ext uri="{FF2B5EF4-FFF2-40B4-BE49-F238E27FC236}">
                <a16:creationId xmlns:a16="http://schemas.microsoft.com/office/drawing/2014/main" xmlns="" id="{DFBF0C03-838C-311A-05CA-EE4A4E718AF8}"/>
              </a:ext>
            </a:extLst>
          </p:cNvPr>
          <p:cNvPicPr>
            <a:picLocks noChangeAspect="1"/>
          </p:cNvPicPr>
          <p:nvPr/>
        </p:nvPicPr>
        <p:blipFill>
          <a:blip r:embed="rId4"/>
          <a:stretch>
            <a:fillRect/>
          </a:stretch>
        </p:blipFill>
        <p:spPr>
          <a:xfrm>
            <a:off x="685800" y="1219200"/>
            <a:ext cx="3404382" cy="2372429"/>
          </a:xfrm>
          <a:prstGeom prst="rect">
            <a:avLst/>
          </a:prstGeom>
        </p:spPr>
      </p:pic>
      <p:sp>
        <p:nvSpPr>
          <p:cNvPr id="16" name="TextBox 15">
            <a:extLst>
              <a:ext uri="{FF2B5EF4-FFF2-40B4-BE49-F238E27FC236}">
                <a16:creationId xmlns:a16="http://schemas.microsoft.com/office/drawing/2014/main" xmlns="" id="{318B849A-DC09-0A65-B7F0-BDF6CE3502B7}"/>
              </a:ext>
            </a:extLst>
          </p:cNvPr>
          <p:cNvSpPr txBox="1"/>
          <p:nvPr/>
        </p:nvSpPr>
        <p:spPr>
          <a:xfrm>
            <a:off x="197346" y="1077368"/>
            <a:ext cx="843452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Arduino Uno</a:t>
            </a:r>
            <a:endParaRPr lang="en-IN" sz="20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3BA1B4BC-97D6-736B-19FA-6D19AB6F45CA}"/>
              </a:ext>
            </a:extLst>
          </p:cNvPr>
          <p:cNvSpPr txBox="1"/>
          <p:nvPr/>
        </p:nvSpPr>
        <p:spPr>
          <a:xfrm>
            <a:off x="5257800" y="2057400"/>
            <a:ext cx="1729961" cy="707886"/>
          </a:xfrm>
          <a:prstGeom prst="rect">
            <a:avLst/>
          </a:prstGeom>
          <a:noFill/>
        </p:spPr>
        <p:txBody>
          <a:bodyPr wrap="none" rtlCol="0">
            <a:spAutoFit/>
          </a:bodyPr>
          <a:lstStyle/>
          <a:p>
            <a:r>
              <a:rPr lang="en-US" altLang="en-US" sz="2000" b="1" dirty="0">
                <a:latin typeface="Times New Roman" panose="02020603050405020304" pitchFamily="18" charset="0"/>
                <a:cs typeface="Times New Roman" panose="02020603050405020304" pitchFamily="18" charset="0"/>
              </a:rPr>
              <a:t>Raspberry Pi:</a:t>
            </a:r>
          </a:p>
          <a:p>
            <a:endParaRPr lang="en-IN" sz="2000" b="1" dirty="0"/>
          </a:p>
        </p:txBody>
      </p:sp>
      <p:pic>
        <p:nvPicPr>
          <p:cNvPr id="18" name="Content Placeholder 9">
            <a:extLst>
              <a:ext uri="{FF2B5EF4-FFF2-40B4-BE49-F238E27FC236}">
                <a16:creationId xmlns:a16="http://schemas.microsoft.com/office/drawing/2014/main" xmlns="" id="{7C56853C-0554-ACD7-7B5E-D8A26DF3FC0D}"/>
              </a:ext>
            </a:extLst>
          </p:cNvPr>
          <p:cNvPicPr>
            <a:picLocks noGrp="1" noChangeAspect="1"/>
          </p:cNvPicPr>
          <p:nvPr/>
        </p:nvPicPr>
        <p:blipFill>
          <a:blip r:embed="rId5"/>
          <a:stretch>
            <a:fillRect/>
          </a:stretch>
        </p:blipFill>
        <p:spPr>
          <a:xfrm>
            <a:off x="3922330" y="1064633"/>
            <a:ext cx="3663462" cy="3052274"/>
          </a:xfrm>
          <a:prstGeom prst="rect">
            <a:avLst/>
          </a:prstGeom>
        </p:spPr>
      </p:pic>
      <p:sp>
        <p:nvSpPr>
          <p:cNvPr id="20" name="TextBox 19">
            <a:extLst>
              <a:ext uri="{FF2B5EF4-FFF2-40B4-BE49-F238E27FC236}">
                <a16:creationId xmlns:a16="http://schemas.microsoft.com/office/drawing/2014/main" xmlns="" id="{6E54945F-B7F9-02C8-0B94-A1A6BC1D4FF6}"/>
              </a:ext>
            </a:extLst>
          </p:cNvPr>
          <p:cNvSpPr txBox="1"/>
          <p:nvPr/>
        </p:nvSpPr>
        <p:spPr>
          <a:xfrm>
            <a:off x="3818580" y="1019741"/>
            <a:ext cx="6073140" cy="400110"/>
          </a:xfrm>
          <a:prstGeom prst="rect">
            <a:avLst/>
          </a:prstGeom>
          <a:noFill/>
        </p:spPr>
        <p:txBody>
          <a:bodyPr wrap="square">
            <a:spAutoFit/>
          </a:bodyPr>
          <a:lstStyle/>
          <a:p>
            <a:r>
              <a:rPr lang="en-US" altLang="en-US" sz="2000" b="1" dirty="0">
                <a:latin typeface="Times New Roman" panose="02020603050405020304" pitchFamily="18" charset="0"/>
                <a:cs typeface="Times New Roman" panose="02020603050405020304" pitchFamily="18" charset="0"/>
              </a:rPr>
              <a:t>Raspberry Pi</a:t>
            </a:r>
            <a:endParaRPr lang="en-IN" sz="2000" b="1" dirty="0"/>
          </a:p>
        </p:txBody>
      </p:sp>
      <p:pic>
        <p:nvPicPr>
          <p:cNvPr id="22" name="Content Placeholder 4">
            <a:extLst>
              <a:ext uri="{FF2B5EF4-FFF2-40B4-BE49-F238E27FC236}">
                <a16:creationId xmlns:a16="http://schemas.microsoft.com/office/drawing/2014/main" xmlns="" id="{EA59766E-BBA8-8219-ADF8-2C625070C29C}"/>
              </a:ext>
            </a:extLst>
          </p:cNvPr>
          <p:cNvPicPr>
            <a:picLocks noGrp="1" noChangeAspect="1"/>
          </p:cNvPicPr>
          <p:nvPr/>
        </p:nvPicPr>
        <p:blipFill>
          <a:blip r:embed="rId6" cstate="print"/>
          <a:stretch>
            <a:fillRect/>
          </a:stretch>
        </p:blipFill>
        <p:spPr>
          <a:xfrm>
            <a:off x="7754162" y="1219796"/>
            <a:ext cx="2659605" cy="2659605"/>
          </a:xfrm>
          <a:prstGeom prst="rect">
            <a:avLst/>
          </a:prstGeom>
        </p:spPr>
      </p:pic>
      <p:sp>
        <p:nvSpPr>
          <p:cNvPr id="24" name="TextBox 23">
            <a:extLst>
              <a:ext uri="{FF2B5EF4-FFF2-40B4-BE49-F238E27FC236}">
                <a16:creationId xmlns:a16="http://schemas.microsoft.com/office/drawing/2014/main" xmlns="" id="{9DA9579D-AA00-3AF3-7A8F-F6651106B23E}"/>
              </a:ext>
            </a:extLst>
          </p:cNvPr>
          <p:cNvSpPr txBox="1"/>
          <p:nvPr/>
        </p:nvSpPr>
        <p:spPr>
          <a:xfrm>
            <a:off x="8015178" y="970960"/>
            <a:ext cx="614172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Web cam</a:t>
            </a:r>
            <a:endParaRPr lang="en-IN" sz="2000" b="1" dirty="0"/>
          </a:p>
        </p:txBody>
      </p:sp>
      <p:pic>
        <p:nvPicPr>
          <p:cNvPr id="26" name="Content Placeholder 4">
            <a:extLst>
              <a:ext uri="{FF2B5EF4-FFF2-40B4-BE49-F238E27FC236}">
                <a16:creationId xmlns:a16="http://schemas.microsoft.com/office/drawing/2014/main" xmlns="" id="{CE98C2A1-05B9-0EF0-4076-CBE1192CAB93}"/>
              </a:ext>
            </a:extLst>
          </p:cNvPr>
          <p:cNvPicPr>
            <a:picLocks noGrp="1" noChangeAspect="1"/>
          </p:cNvPicPr>
          <p:nvPr/>
        </p:nvPicPr>
        <p:blipFill>
          <a:blip r:embed="rId7"/>
          <a:stretch>
            <a:fillRect/>
          </a:stretch>
        </p:blipFill>
        <p:spPr>
          <a:xfrm>
            <a:off x="2353184" y="3977089"/>
            <a:ext cx="2969923" cy="1988597"/>
          </a:xfrm>
          <a:prstGeom prst="rect">
            <a:avLst/>
          </a:prstGeom>
        </p:spPr>
      </p:pic>
      <p:sp>
        <p:nvSpPr>
          <p:cNvPr id="28" name="TextBox 27">
            <a:extLst>
              <a:ext uri="{FF2B5EF4-FFF2-40B4-BE49-F238E27FC236}">
                <a16:creationId xmlns:a16="http://schemas.microsoft.com/office/drawing/2014/main" xmlns="" id="{D0A16944-1A40-EB03-7400-9612103B40EA}"/>
              </a:ext>
            </a:extLst>
          </p:cNvPr>
          <p:cNvSpPr txBox="1"/>
          <p:nvPr/>
        </p:nvSpPr>
        <p:spPr>
          <a:xfrm>
            <a:off x="2720015" y="6092740"/>
            <a:ext cx="2969923"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Motor Driver</a:t>
            </a:r>
            <a:endParaRPr lang="en-IN" sz="2000" b="1" dirty="0"/>
          </a:p>
        </p:txBody>
      </p:sp>
      <p:pic>
        <p:nvPicPr>
          <p:cNvPr id="30" name="Content Placeholder 4">
            <a:extLst>
              <a:ext uri="{FF2B5EF4-FFF2-40B4-BE49-F238E27FC236}">
                <a16:creationId xmlns:a16="http://schemas.microsoft.com/office/drawing/2014/main" xmlns="" id="{423CABC3-7325-1864-870F-F51819C0BB1E}"/>
              </a:ext>
            </a:extLst>
          </p:cNvPr>
          <p:cNvPicPr>
            <a:picLocks noGrp="1" noChangeAspect="1"/>
          </p:cNvPicPr>
          <p:nvPr/>
        </p:nvPicPr>
        <p:blipFill>
          <a:blip r:embed="rId8"/>
          <a:stretch>
            <a:fillRect/>
          </a:stretch>
        </p:blipFill>
        <p:spPr>
          <a:xfrm>
            <a:off x="6682599" y="3813065"/>
            <a:ext cx="2143125" cy="2143125"/>
          </a:xfrm>
          <a:prstGeom prst="rect">
            <a:avLst/>
          </a:prstGeom>
        </p:spPr>
      </p:pic>
      <p:sp>
        <p:nvSpPr>
          <p:cNvPr id="32" name="TextBox 31">
            <a:extLst>
              <a:ext uri="{FF2B5EF4-FFF2-40B4-BE49-F238E27FC236}">
                <a16:creationId xmlns:a16="http://schemas.microsoft.com/office/drawing/2014/main" xmlns="" id="{CC39ADC6-B861-375D-3367-F2EDDE4B2DCB}"/>
              </a:ext>
            </a:extLst>
          </p:cNvPr>
          <p:cNvSpPr txBox="1"/>
          <p:nvPr/>
        </p:nvSpPr>
        <p:spPr>
          <a:xfrm>
            <a:off x="7090640" y="5771524"/>
            <a:ext cx="712216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12v Battery</a:t>
            </a:r>
            <a:endParaRPr lang="en-IN" sz="2000" b="1" dirty="0"/>
          </a:p>
        </p:txBody>
      </p:sp>
    </p:spTree>
    <p:extLst>
      <p:ext uri="{BB962C8B-B14F-4D97-AF65-F5344CB8AC3E}">
        <p14:creationId xmlns:p14="http://schemas.microsoft.com/office/powerpoint/2010/main" xmlns="" val="531670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Flow Diagram</a:t>
            </a:r>
            <a:endParaRPr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15</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4" name="Picture 13" descr="ChatGPT Image Jan 1, 2026, 05_54_58 PM.png"/>
          <p:cNvPicPr>
            <a:picLocks noChangeAspect="1"/>
          </p:cNvPicPr>
          <p:nvPr/>
        </p:nvPicPr>
        <p:blipFill>
          <a:blip r:embed="rId4"/>
          <a:stretch>
            <a:fillRect/>
          </a:stretch>
        </p:blipFill>
        <p:spPr>
          <a:xfrm>
            <a:off x="2286000" y="1219200"/>
            <a:ext cx="7620000" cy="5305425"/>
          </a:xfrm>
          <a:prstGeom prst="rect">
            <a:avLst/>
          </a:prstGeom>
        </p:spPr>
      </p:pic>
    </p:spTree>
    <p:extLst>
      <p:ext uri="{BB962C8B-B14F-4D97-AF65-F5344CB8AC3E}">
        <p14:creationId xmlns="" xmlns:p14="http://schemas.microsoft.com/office/powerpoint/2010/main" val="531670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Design</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16</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2937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000" dirty="0" smtClean="0"/>
              <a:t>The proposed Smart Fertilizer Spraying System is designed to integrate </a:t>
            </a:r>
            <a:r>
              <a:rPr lang="en-US" sz="2000" b="1" dirty="0" smtClean="0"/>
              <a:t>deep learning, embedded systems, and automated hardware</a:t>
            </a:r>
            <a:r>
              <a:rPr lang="en-US" sz="2000" dirty="0" smtClean="0"/>
              <a:t> to improve precision agriculture. The system consists of a </a:t>
            </a:r>
            <a:r>
              <a:rPr lang="en-US" sz="2000" b="1" dirty="0" smtClean="0"/>
              <a:t>camera module, Raspberry Pi, </a:t>
            </a:r>
            <a:r>
              <a:rPr lang="en-US" sz="2000" b="1" dirty="0" err="1" smtClean="0"/>
              <a:t>Arduino</a:t>
            </a:r>
            <a:r>
              <a:rPr lang="en-US" sz="2000" b="1" dirty="0" smtClean="0"/>
              <a:t> microcontroller, motor driver, pump mechanism, and power supply</a:t>
            </a:r>
            <a:r>
              <a:rPr lang="en-US" sz="2000" dirty="0" smtClean="0"/>
              <a:t>.</a:t>
            </a:r>
          </a:p>
          <a:p>
            <a:endParaRPr lang="en-US" sz="2000" dirty="0" smtClean="0"/>
          </a:p>
          <a:p>
            <a:r>
              <a:rPr lang="en-US" sz="2000" dirty="0" smtClean="0"/>
              <a:t>First, the </a:t>
            </a:r>
            <a:r>
              <a:rPr lang="en-US" sz="2000" b="1" dirty="0" smtClean="0"/>
              <a:t>camera captures images of tomato plants</a:t>
            </a:r>
            <a:r>
              <a:rPr lang="en-US" sz="2000" dirty="0" smtClean="0"/>
              <a:t>, which are processed by the </a:t>
            </a:r>
            <a:r>
              <a:rPr lang="en-US" sz="2000" b="1" dirty="0" smtClean="0"/>
              <a:t>Raspberry Pi</a:t>
            </a:r>
            <a:r>
              <a:rPr lang="en-US" sz="2000" dirty="0" smtClean="0"/>
              <a:t> using the </a:t>
            </a:r>
            <a:r>
              <a:rPr lang="en-US" sz="2000" b="1" dirty="0" smtClean="0"/>
              <a:t>YOLOv8 deep learning model</a:t>
            </a:r>
            <a:r>
              <a:rPr lang="en-US" sz="2000" dirty="0" smtClean="0"/>
              <a:t> to detect disease severity levels. Based on the detected severity (low, medium, or high), the Raspberry Pi sends a control signal to the </a:t>
            </a:r>
            <a:r>
              <a:rPr lang="en-US" sz="2000" b="1" dirty="0" err="1" smtClean="0"/>
              <a:t>Arduino</a:t>
            </a:r>
            <a:r>
              <a:rPr lang="en-US" sz="2000" b="1" dirty="0" smtClean="0"/>
              <a:t> microcontroller</a:t>
            </a:r>
            <a:r>
              <a:rPr lang="en-US" sz="2000" dirty="0" smtClean="0"/>
              <a:t>.</a:t>
            </a:r>
          </a:p>
          <a:p>
            <a:endParaRPr lang="en-US" sz="2000" dirty="0" smtClean="0"/>
          </a:p>
          <a:p>
            <a:r>
              <a:rPr lang="en-US" sz="2000" dirty="0" smtClean="0"/>
              <a:t>The </a:t>
            </a:r>
            <a:r>
              <a:rPr lang="en-US" sz="2000" b="1" dirty="0" err="1" smtClean="0"/>
              <a:t>Arduino</a:t>
            </a:r>
            <a:r>
              <a:rPr lang="en-US" sz="2000" dirty="0" smtClean="0"/>
              <a:t> then controls the </a:t>
            </a:r>
            <a:r>
              <a:rPr lang="en-US" sz="2000" b="1" dirty="0" smtClean="0"/>
              <a:t>motor and pump system</a:t>
            </a:r>
            <a:r>
              <a:rPr lang="en-US" sz="2000" dirty="0" smtClean="0"/>
              <a:t> to spray fertilizer for a specific duration depending on the severity level. This automated process ensures that fertilizer is applied only where needed, reducing chemical wastage and improving crop health.</a:t>
            </a:r>
          </a:p>
          <a:p>
            <a:endParaRPr lang="en-US" sz="2000" dirty="0" smtClean="0"/>
          </a:p>
          <a:p>
            <a:r>
              <a:rPr lang="en-US" sz="2000" dirty="0" smtClean="0"/>
              <a:t>The overall system design enables </a:t>
            </a:r>
            <a:r>
              <a:rPr lang="en-US" sz="2000" b="1" dirty="0" smtClean="0"/>
              <a:t>real-time monitoring, automated fertilizer spraying, and efficient crop management</a:t>
            </a:r>
            <a:r>
              <a:rPr lang="en-US" sz="2000" dirty="0" smtClean="0"/>
              <a:t>, making it suitable for modern </a:t>
            </a:r>
            <a:r>
              <a:rPr lang="en-US" sz="2000" b="1" dirty="0" smtClean="0"/>
              <a:t>precision agriculture applications</a:t>
            </a:r>
            <a:r>
              <a:rPr lang="en-US" sz="2000" dirty="0" smtClean="0"/>
              <a:t>.</a:t>
            </a:r>
          </a:p>
          <a:p>
            <a:r>
              <a:rPr lang="en-US" sz="2000" dirty="0" smtClean="0"/>
              <a:t>.</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Block Diagram</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17</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027" name="Picture 3"/>
          <p:cNvPicPr>
            <a:picLocks noChangeAspect="1" noChangeArrowheads="1"/>
          </p:cNvPicPr>
          <p:nvPr/>
        </p:nvPicPr>
        <p:blipFill>
          <a:blip r:embed="rId4"/>
          <a:srcRect/>
          <a:stretch>
            <a:fillRect/>
          </a:stretch>
        </p:blipFill>
        <p:spPr bwMode="auto">
          <a:xfrm>
            <a:off x="228601" y="1295400"/>
            <a:ext cx="6553200" cy="4724399"/>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6781800" y="990600"/>
            <a:ext cx="5410200" cy="4800600"/>
          </a:xfrm>
          <a:prstGeom prst="rect">
            <a:avLst/>
          </a:prstGeom>
          <a:noFill/>
          <a:ln w="9525">
            <a:noFill/>
            <a:miter lim="800000"/>
            <a:headEnd/>
            <a:tailEnd/>
          </a:ln>
          <a:effectLst/>
        </p:spPr>
      </p:pic>
    </p:spTree>
    <p:extLst>
      <p:ext uri="{BB962C8B-B14F-4D97-AF65-F5344CB8AC3E}">
        <p14:creationId xmlns="" xmlns:p14="http://schemas.microsoft.com/office/powerpoint/2010/main" val="1592579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Block Diagram</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18</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4" name="Picture 13"/>
          <p:cNvPicPr/>
          <p:nvPr/>
        </p:nvPicPr>
        <p:blipFill>
          <a:blip r:embed="rId4">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fl="http://schemas.microsoft.com/office/word/2024/wordml/sdtformatlock" xmlns:w16sdtdh="http://schemas.microsoft.com/office/word/2020/wordml/sdtdatahash" xmlns:w16du="http://schemas.microsoft.com/office/word/2023/wordml/word16du"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0" y="1066800"/>
            <a:ext cx="11277600" cy="5562600"/>
          </a:xfrm>
          <a:prstGeom prst="rect">
            <a:avLst/>
          </a:prstGeom>
          <a:noFill/>
        </p:spPr>
      </p:pic>
    </p:spTree>
    <p:extLst>
      <p:ext uri="{BB962C8B-B14F-4D97-AF65-F5344CB8AC3E}">
        <p14:creationId xmlns="" xmlns:p14="http://schemas.microsoft.com/office/powerpoint/2010/main" val="1592579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dirty="0" smtClean="0">
                <a:latin typeface="Times New Roman" panose="02020603050405020304" pitchFamily="18" charset="0"/>
                <a:cs typeface="Times New Roman" panose="02020603050405020304" pitchFamily="18" charset="0"/>
              </a:rPr>
              <a:t>Methodology</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19</a:t>
            </a:fld>
            <a:endParaRPr spc="-25" dirty="0"/>
          </a:p>
        </p:txBody>
      </p:sp>
      <p:sp>
        <p:nvSpPr>
          <p:cNvPr id="12" name="object 9">
            <a:extLst>
              <a:ext uri="{FF2B5EF4-FFF2-40B4-BE49-F238E27FC236}">
                <a16:creationId xmlns:a16="http://schemas.microsoft.com/office/drawing/2014/main" xmlns=""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288F165-7028-955D-D6CC-432D2AE064DE}"/>
              </a:ext>
            </a:extLst>
          </p:cNvPr>
          <p:cNvSpPr txBox="1"/>
          <p:nvPr/>
        </p:nvSpPr>
        <p:spPr>
          <a:xfrm>
            <a:off x="0" y="1094897"/>
            <a:ext cx="12191999" cy="5632311"/>
          </a:xfrm>
          <a:prstGeom prst="rect">
            <a:avLst/>
          </a:prstGeom>
          <a:noFill/>
        </p:spPr>
        <p:txBody>
          <a:bodyPr wrap="square">
            <a:spAutoFit/>
          </a:bodyPr>
          <a:lstStyle/>
          <a:p>
            <a:r>
              <a:rPr lang="en-US" sz="2400" dirty="0" smtClean="0"/>
              <a:t>The Smart Fertilizer Spraying Robot begins its operation by initializing all hardware components including the Raspberry Pi, </a:t>
            </a:r>
            <a:r>
              <a:rPr lang="en-US" sz="2400" dirty="0" err="1" smtClean="0"/>
              <a:t>Arduino</a:t>
            </a:r>
            <a:r>
              <a:rPr lang="en-US" sz="2400" dirty="0" smtClean="0"/>
              <a:t>, USB camera, DC motors, water pump, relay module, Bluetooth module, and rechargeable battery. Proper communication is established between the Raspberry Pi and </a:t>
            </a:r>
            <a:r>
              <a:rPr lang="en-US" sz="2400" dirty="0" err="1" smtClean="0"/>
              <a:t>Arduino</a:t>
            </a:r>
            <a:r>
              <a:rPr lang="en-US" sz="2400" dirty="0" smtClean="0"/>
              <a:t> for coordinated functioning. As the robot moves along the crop rows, the camera captures real-time images of the plants. These images are processed by the Raspberry Pi using preprocessing techniques such as resizing, noise removal, and color conversion to enhance image quality.</a:t>
            </a:r>
          </a:p>
          <a:p>
            <a:endParaRPr lang="en-US" sz="2400" dirty="0" smtClean="0"/>
          </a:p>
          <a:p>
            <a:r>
              <a:rPr lang="en-US" sz="2400" dirty="0"/>
              <a:t> </a:t>
            </a:r>
            <a:r>
              <a:rPr lang="en-US" sz="2400" dirty="0" smtClean="0"/>
              <a:t>    Image segmentation and </a:t>
            </a:r>
            <a:r>
              <a:rPr lang="en-US" sz="2400" dirty="0" err="1" smtClean="0"/>
              <a:t>thresholding</a:t>
            </a:r>
            <a:r>
              <a:rPr lang="en-US" sz="2400" dirty="0" smtClean="0"/>
              <a:t> methods are then applied to detect infected regions and calculate the percentage of affected area. Based on the severity level (Low, Medium, or High), control signals are sent to the </a:t>
            </a:r>
            <a:r>
              <a:rPr lang="en-US" sz="2400" dirty="0" err="1" smtClean="0"/>
              <a:t>Arduino</a:t>
            </a:r>
            <a:r>
              <a:rPr lang="en-US" sz="2400" dirty="0" smtClean="0"/>
              <a:t> to regulate the pump and adjust the spraying duration accordingly. If no disease is detected, the robot continues its movement without spraying. This integrated process ensures accurate disease detection, precise fertilizer application, and efficient coverage of the agricultural field.</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678131"/>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7383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spc="-10" dirty="0" smtClean="0"/>
              <a:t>Implementation details</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20</a:t>
            </a:fld>
            <a:endParaRPr spc="-25" dirty="0"/>
          </a:p>
        </p:txBody>
      </p:sp>
      <p:sp>
        <p:nvSpPr>
          <p:cNvPr id="12" name="object 9">
            <a:extLst>
              <a:ext uri="{FF2B5EF4-FFF2-40B4-BE49-F238E27FC236}">
                <a16:creationId xmlns:a16="http://schemas.microsoft.com/office/drawing/2014/main" xmlns=""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288F165-7028-955D-D6CC-432D2AE064DE}"/>
              </a:ext>
            </a:extLst>
          </p:cNvPr>
          <p:cNvSpPr txBox="1"/>
          <p:nvPr/>
        </p:nvSpPr>
        <p:spPr>
          <a:xfrm>
            <a:off x="0" y="762000"/>
            <a:ext cx="12191999" cy="6370975"/>
          </a:xfrm>
          <a:prstGeom prst="rect">
            <a:avLst/>
          </a:prstGeom>
          <a:noFill/>
        </p:spPr>
        <p:txBody>
          <a:bodyPr wrap="square">
            <a:spAutoFit/>
          </a:bodyPr>
          <a:lstStyle/>
          <a:p>
            <a:r>
              <a:rPr lang="en-US" sz="2400" dirty="0" smtClean="0"/>
              <a:t>The Smart Fertilizer Spraying Robot is implemented using an integrated Raspberry Pi and </a:t>
            </a:r>
            <a:r>
              <a:rPr lang="en-US" sz="2400" dirty="0" err="1" smtClean="0"/>
              <a:t>Arduino</a:t>
            </a:r>
            <a:r>
              <a:rPr lang="en-US" sz="2400" dirty="0" smtClean="0"/>
              <a:t> architecture. Plant disease detection is performed using </a:t>
            </a:r>
            <a:r>
              <a:rPr lang="en-US" sz="2400" b="1" dirty="0" smtClean="0"/>
              <a:t>YOLOv8</a:t>
            </a:r>
            <a:r>
              <a:rPr lang="en-US" sz="2400" dirty="0" smtClean="0"/>
              <a:t>, which enables fast and real-time object detection instead of using a traditional CNN model. A custom dataset of plant images is collected and trained, achieving approximately </a:t>
            </a:r>
            <a:r>
              <a:rPr lang="en-US" sz="2400" b="1" dirty="0" smtClean="0"/>
              <a:t>80% detection accuracy</a:t>
            </a:r>
            <a:r>
              <a:rPr lang="en-US" sz="2400" dirty="0" smtClean="0"/>
              <a:t>.</a:t>
            </a:r>
          </a:p>
          <a:p>
            <a:r>
              <a:rPr lang="en-US" sz="2400" dirty="0" smtClean="0"/>
              <a:t>The Raspberry Pi processes images captured from the camera and determines the disease severity level. Based on the severity classification, control signals are sent to the </a:t>
            </a:r>
            <a:r>
              <a:rPr lang="en-US" sz="2400" dirty="0" err="1" smtClean="0"/>
              <a:t>Arduino</a:t>
            </a:r>
            <a:r>
              <a:rPr lang="en-US" sz="2400" dirty="0" smtClean="0"/>
              <a:t> for spraying action. The fertilizer spraying system is controlled using a relay module that activates the water pump. The spraying duration is set according to severity levels: </a:t>
            </a:r>
            <a:r>
              <a:rPr lang="en-US" sz="2400" b="1" dirty="0" smtClean="0"/>
              <a:t>High severity – 7 seconds</a:t>
            </a:r>
            <a:r>
              <a:rPr lang="en-US" sz="2400" dirty="0" smtClean="0"/>
              <a:t>, </a:t>
            </a:r>
            <a:r>
              <a:rPr lang="en-US" sz="2400" b="1" dirty="0" smtClean="0"/>
              <a:t>Medium severity – 5 seconds</a:t>
            </a:r>
            <a:r>
              <a:rPr lang="en-US" sz="2400" dirty="0" smtClean="0"/>
              <a:t>, and </a:t>
            </a:r>
            <a:r>
              <a:rPr lang="en-US" sz="2400" b="1" dirty="0" smtClean="0"/>
              <a:t>Low severity – 2 seconds</a:t>
            </a:r>
            <a:r>
              <a:rPr lang="en-US" sz="2400" dirty="0" smtClean="0"/>
              <a:t>.</a:t>
            </a:r>
          </a:p>
          <a:p>
            <a:r>
              <a:rPr lang="en-US" sz="2400" dirty="0" smtClean="0"/>
              <a:t>Bluetooth communication is used to interact with the </a:t>
            </a:r>
            <a:r>
              <a:rPr lang="en-US" sz="2400" dirty="0" err="1" smtClean="0"/>
              <a:t>Arduino</a:t>
            </a:r>
            <a:r>
              <a:rPr lang="en-US" sz="2400" dirty="0" smtClean="0"/>
              <a:t> for wireless control and monitoring. For interfacing and accessing the Raspberry Pi remotely, </a:t>
            </a:r>
            <a:r>
              <a:rPr lang="en-US" sz="2400" b="1" dirty="0" smtClean="0"/>
              <a:t>VNC Viewer</a:t>
            </a:r>
            <a:r>
              <a:rPr lang="en-US" sz="2400" dirty="0" smtClean="0"/>
              <a:t> is used to execute and monitor the YOLOv8 detection model. This implementation ensures precise spraying, real-time detection, and efficient coordination between hardware and software components.</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Preprocessing Techniques</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21</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8169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buFont typeface="Arial" pitchFamily="34" charset="0"/>
              <a:buChar char="•"/>
            </a:pPr>
            <a:r>
              <a:rPr lang="en-US" sz="2000" b="1" dirty="0"/>
              <a:t>Image Resizing</a:t>
            </a:r>
            <a:r>
              <a:rPr lang="en-US" dirty="0"/>
              <a:t/>
            </a:r>
            <a:br>
              <a:rPr lang="en-US" dirty="0"/>
            </a:br>
            <a:r>
              <a:rPr lang="en-US" dirty="0"/>
              <a:t>Captured leaf images are resized to a fixed resolution to reduce processing time and ensure uniform input.</a:t>
            </a:r>
          </a:p>
          <a:p>
            <a:pPr>
              <a:buFont typeface="Arial" pitchFamily="34" charset="0"/>
              <a:buChar char="•"/>
            </a:pPr>
            <a:r>
              <a:rPr lang="en-US" sz="2000" b="1" dirty="0"/>
              <a:t>Noise Removal</a:t>
            </a:r>
            <a:r>
              <a:rPr lang="en-US" dirty="0"/>
              <a:t/>
            </a:r>
            <a:br>
              <a:rPr lang="en-US" dirty="0"/>
            </a:br>
            <a:r>
              <a:rPr lang="en-US" dirty="0"/>
              <a:t> Filters such as Gaussian or Median filters are applied to remove noise caused by dust, lighting, or camera disturbances.</a:t>
            </a:r>
          </a:p>
          <a:p>
            <a:pPr>
              <a:buFont typeface="Arial" pitchFamily="34" charset="0"/>
              <a:buChar char="•"/>
            </a:pPr>
            <a:r>
              <a:rPr lang="en-US" sz="2000" b="1" dirty="0"/>
              <a:t>Image Enhancement</a:t>
            </a:r>
            <a:r>
              <a:rPr lang="en-US" dirty="0"/>
              <a:t/>
            </a:r>
            <a:br>
              <a:rPr lang="en-US" dirty="0"/>
            </a:br>
            <a:r>
              <a:rPr lang="en-US" dirty="0"/>
              <a:t>Contrast enhancement techniques are used to highlight disease-affected regions on the leaf surface.</a:t>
            </a:r>
          </a:p>
          <a:p>
            <a:pPr>
              <a:buFont typeface="Arial" pitchFamily="34" charset="0"/>
              <a:buChar char="•"/>
            </a:pPr>
            <a:r>
              <a:rPr lang="en-US" sz="2000" b="1" dirty="0"/>
              <a:t>Color Space Conversion</a:t>
            </a:r>
            <a:r>
              <a:rPr lang="en-US" dirty="0"/>
              <a:t/>
            </a:r>
            <a:br>
              <a:rPr lang="en-US" dirty="0"/>
            </a:br>
            <a:r>
              <a:rPr lang="en-US" dirty="0"/>
              <a:t>RGB images are converted to HSV or LAB color space for better separation of disease colors from background and lighting effects.</a:t>
            </a:r>
          </a:p>
          <a:p>
            <a:pPr>
              <a:buFont typeface="Arial" pitchFamily="34" charset="0"/>
              <a:buChar char="•"/>
            </a:pPr>
            <a:r>
              <a:rPr lang="en-US" sz="2000" b="1" dirty="0"/>
              <a:t>Image Segmentation</a:t>
            </a:r>
            <a:r>
              <a:rPr lang="en-US" dirty="0"/>
              <a:t/>
            </a:r>
            <a:br>
              <a:rPr lang="en-US" dirty="0"/>
            </a:br>
            <a:r>
              <a:rPr lang="en-US" dirty="0"/>
              <a:t>The leaf region is separated from the background using </a:t>
            </a:r>
            <a:r>
              <a:rPr lang="en-US" dirty="0" err="1"/>
              <a:t>thresholding</a:t>
            </a:r>
            <a:r>
              <a:rPr lang="en-US" dirty="0"/>
              <a:t> or color-based segmentation to focus analysis on infected areas.</a:t>
            </a:r>
          </a:p>
          <a:p>
            <a:pPr>
              <a:buFont typeface="Arial" pitchFamily="34" charset="0"/>
              <a:buChar char="•"/>
            </a:pPr>
            <a:r>
              <a:rPr lang="en-US" sz="2000" b="1" dirty="0"/>
              <a:t>Image Normalization</a:t>
            </a:r>
            <a:r>
              <a:rPr lang="en-US" dirty="0"/>
              <a:t/>
            </a:r>
            <a:br>
              <a:rPr lang="en-US" dirty="0"/>
            </a:br>
            <a:r>
              <a:rPr lang="en-US" dirty="0"/>
              <a:t>Pixel intensity values are normalized to a standard range to improve consistency and accuracy during disease analysis.</a:t>
            </a:r>
          </a:p>
          <a:p>
            <a:pPr>
              <a:buFont typeface="Arial" pitchFamily="34" charset="0"/>
              <a:buChar char="•"/>
            </a:pPr>
            <a:r>
              <a:rPr lang="en-US" sz="2000" b="1" dirty="0"/>
              <a:t>Feature Extraction</a:t>
            </a:r>
            <a:r>
              <a:rPr lang="en-US" dirty="0"/>
              <a:t/>
            </a:r>
            <a:br>
              <a:rPr lang="en-US" dirty="0"/>
            </a:br>
            <a:r>
              <a:rPr lang="en-US" dirty="0"/>
              <a:t>Important features such as color, texture, and shape are extracted from the processed image to identify disease severity levels.</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22</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0" y="1040179"/>
            <a:ext cx="4953000"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r>
              <a:rPr lang="en-US" sz="2800" b="1" dirty="0" smtClean="0"/>
              <a:t>System Initialization</a:t>
            </a:r>
            <a:endParaRPr sz="2800" b="1"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5707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#include &lt;</a:t>
            </a:r>
            <a:r>
              <a:rPr kumimoji="0" lang="en-US" b="0" i="0" u="none" strike="noStrike" cap="none" normalizeH="0" baseline="0" dirty="0" err="1" smtClean="0">
                <a:ln>
                  <a:noFill/>
                </a:ln>
                <a:solidFill>
                  <a:schemeClr val="tx1"/>
                </a:solidFill>
                <a:effectLst/>
                <a:latin typeface="Arial" charset="0"/>
                <a:cs typeface="Arial" charset="0"/>
              </a:rPr>
              <a:t>SoftwareSerial.h</a:t>
            </a:r>
            <a:r>
              <a:rPr kumimoji="0" lang="en-US" b="0" i="0" u="none" strike="noStrike" cap="none" normalizeH="0" baseline="0" dirty="0" smtClean="0">
                <a:ln>
                  <a:noFill/>
                </a:ln>
                <a:solidFill>
                  <a:schemeClr val="tx1"/>
                </a:solidFill>
                <a:effectLst/>
                <a:latin typeface="Arial" charset="0"/>
                <a:cs typeface="Arial" charset="0"/>
              </a:rPr>
              <a:t>&gt;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int</a:t>
            </a:r>
            <a:r>
              <a:rPr kumimoji="0" lang="en-US" b="0" i="0" u="none" strike="noStrike" cap="none" normalizeH="0" baseline="0" dirty="0" smtClean="0">
                <a:ln>
                  <a:noFill/>
                </a:ln>
                <a:solidFill>
                  <a:schemeClr val="tx1"/>
                </a:solidFill>
                <a:effectLst/>
                <a:latin typeface="Arial" charset="0"/>
                <a:cs typeface="Arial" charset="0"/>
              </a:rPr>
              <a:t> m1 = A0, m2 = A1, m3 = A2, m4 = A3;</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int</a:t>
            </a:r>
            <a:r>
              <a:rPr kumimoji="0" lang="en-US" b="0" i="0" u="none" strike="noStrike" cap="none" normalizeH="0" baseline="0" dirty="0" smtClean="0">
                <a:ln>
                  <a:noFill/>
                </a:ln>
                <a:solidFill>
                  <a:schemeClr val="tx1"/>
                </a:solidFill>
                <a:effectLst/>
                <a:latin typeface="Arial" charset="0"/>
                <a:cs typeface="Arial" charset="0"/>
              </a:rPr>
              <a:t> relay1 = 2, relay2 = 3, relay3 = 4;</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SoftwareSerial</a:t>
            </a: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mySerial</a:t>
            </a:r>
            <a:r>
              <a:rPr kumimoji="0" lang="en-US" b="0" i="0" u="none" strike="noStrike" cap="none" normalizeH="0" baseline="0" dirty="0" smtClean="0">
                <a:ln>
                  <a:noFill/>
                </a:ln>
                <a:solidFill>
                  <a:schemeClr val="tx1"/>
                </a:solidFill>
                <a:effectLst/>
                <a:latin typeface="Arial" charset="0"/>
                <a:cs typeface="Arial" charset="0"/>
              </a:rPr>
              <a:t>(5, 6);</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void setup() {</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Serial.begin</a:t>
            </a:r>
            <a:r>
              <a:rPr kumimoji="0" lang="en-US" b="0" i="0" u="none" strike="noStrike" cap="none" normalizeH="0" baseline="0" dirty="0" smtClean="0">
                <a:ln>
                  <a:noFill/>
                </a:ln>
                <a:solidFill>
                  <a:schemeClr val="tx1"/>
                </a:solidFill>
                <a:effectLst/>
                <a:latin typeface="Arial" charset="0"/>
                <a:cs typeface="Arial" charset="0"/>
              </a:rPr>
              <a:t>(9600);</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mySerial.begin</a:t>
            </a:r>
            <a:r>
              <a:rPr kumimoji="0" lang="en-US" b="0" i="0" u="none" strike="noStrike" cap="none" normalizeH="0" baseline="0" dirty="0" smtClean="0">
                <a:ln>
                  <a:noFill/>
                </a:ln>
                <a:solidFill>
                  <a:schemeClr val="tx1"/>
                </a:solidFill>
                <a:effectLst/>
                <a:latin typeface="Arial" charset="0"/>
                <a:cs typeface="Arial" charset="0"/>
              </a:rPr>
              <a:t>(9600);</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(m1,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(m2,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(m3,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(m4, OUTPUT);</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(relay1,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(relay2,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(relay3,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a:t>
            </a:r>
            <a:endParaRPr kumimoji="0" lang="en-US"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23</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50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forward()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backward()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Stop()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endParaRPr kumimoji="0" lang="en-US" sz="1600" b="0" i="0" u="none" strike="noStrike" cap="none" normalizeH="0" baseline="0" dirty="0">
              <a:ln>
                <a:noFill/>
              </a:ln>
              <a:solidFill>
                <a:schemeClr val="tx1"/>
              </a:solidFill>
              <a:effectLst/>
              <a:latin typeface="Arial" charset="0"/>
              <a:cs typeface="Arial" charset="0"/>
            </a:endParaRPr>
          </a:p>
        </p:txBody>
      </p:sp>
      <p:sp>
        <p:nvSpPr>
          <p:cNvPr id="13" name="Rectangle 12"/>
          <p:cNvSpPr/>
          <p:nvPr/>
        </p:nvSpPr>
        <p:spPr>
          <a:xfrm>
            <a:off x="0" y="1066800"/>
            <a:ext cx="4419600" cy="461665"/>
          </a:xfrm>
          <a:prstGeom prst="rect">
            <a:avLst/>
          </a:prstGeom>
        </p:spPr>
        <p:txBody>
          <a:bodyPr wrap="square">
            <a:spAutoFit/>
          </a:bodyPr>
          <a:lstStyle/>
          <a:p>
            <a:r>
              <a:rPr lang="en-US" sz="2400" b="1" dirty="0" smtClean="0"/>
              <a:t>Motor Control System</a:t>
            </a:r>
            <a:endParaRPr lang="en-US" sz="2400" b="1" dirty="0"/>
          </a:p>
        </p:txBody>
      </p:sp>
    </p:spTree>
    <p:extLst>
      <p:ext uri="{BB962C8B-B14F-4D97-AF65-F5344CB8AC3E}">
        <p14:creationId xmlns="" xmlns:p14="http://schemas.microsoft.com/office/powerpoint/2010/main" val="1592579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24</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pump1() {        // High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(relay1,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delay(6000);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pump2() {        // Low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(relay2,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delay(2000);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pump3() {        // Medium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(relay3,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delay(4000);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endParaRPr kumimoji="0" lang="en-US" sz="1600" b="0" i="0" u="none" strike="noStrike" cap="none" normalizeH="0" baseline="0" dirty="0">
              <a:ln>
                <a:noFill/>
              </a:ln>
              <a:solidFill>
                <a:schemeClr val="tx1"/>
              </a:solidFill>
              <a:effectLst/>
              <a:latin typeface="Arial" charset="0"/>
              <a:cs typeface="Arial" charset="0"/>
            </a:endParaRPr>
          </a:p>
        </p:txBody>
      </p:sp>
      <p:sp>
        <p:nvSpPr>
          <p:cNvPr id="13" name="Rectangle 12"/>
          <p:cNvSpPr/>
          <p:nvPr/>
        </p:nvSpPr>
        <p:spPr>
          <a:xfrm>
            <a:off x="0" y="1143000"/>
            <a:ext cx="6377543" cy="523220"/>
          </a:xfrm>
          <a:prstGeom prst="rect">
            <a:avLst/>
          </a:prstGeom>
        </p:spPr>
        <p:txBody>
          <a:bodyPr wrap="square">
            <a:spAutoFit/>
          </a:bodyPr>
          <a:lstStyle/>
          <a:p>
            <a:r>
              <a:rPr lang="en-US" sz="2800" b="1" dirty="0" smtClean="0"/>
              <a:t>Fertilizer Pump Control</a:t>
            </a:r>
            <a:endParaRPr lang="en-US" sz="2800" b="1" dirty="0"/>
          </a:p>
        </p:txBody>
      </p:sp>
    </p:spTree>
    <p:extLst>
      <p:ext uri="{BB962C8B-B14F-4D97-AF65-F5344CB8AC3E}">
        <p14:creationId xmlns="" xmlns:p14="http://schemas.microsoft.com/office/powerpoint/2010/main" val="1592579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25</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8477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r>
              <a:rPr lang="en-IN" sz="1400" dirty="0"/>
              <a:t>from </a:t>
            </a:r>
            <a:r>
              <a:rPr lang="en-IN" sz="1400" dirty="0" err="1"/>
              <a:t>ultralytics</a:t>
            </a:r>
            <a:r>
              <a:rPr lang="en-IN" sz="1400" dirty="0"/>
              <a:t> import YOLO</a:t>
            </a:r>
            <a:endParaRPr lang="en-US" sz="1400" b="1" dirty="0"/>
          </a:p>
          <a:p>
            <a:r>
              <a:rPr lang="en-IN" sz="1400" dirty="0"/>
              <a:t>import cv2</a:t>
            </a:r>
            <a:endParaRPr lang="en-US" sz="1400" b="1" dirty="0"/>
          </a:p>
          <a:p>
            <a:r>
              <a:rPr lang="en-IN" sz="1400" dirty="0"/>
              <a:t>import serial</a:t>
            </a:r>
            <a:endParaRPr lang="en-US" sz="1400" b="1" dirty="0"/>
          </a:p>
          <a:p>
            <a:r>
              <a:rPr lang="en-IN" sz="1400" dirty="0"/>
              <a:t>import time</a:t>
            </a:r>
            <a:endParaRPr lang="en-US" sz="1400" b="1" dirty="0"/>
          </a:p>
          <a:p>
            <a:r>
              <a:rPr lang="en-IN" sz="1400" dirty="0" smtClean="0"/>
              <a:t> </a:t>
            </a:r>
            <a:r>
              <a:rPr lang="en-IN" sz="1400" dirty="0"/>
              <a:t>model = YOLO("/home/pi/Desktop/</a:t>
            </a:r>
            <a:r>
              <a:rPr lang="en-IN" sz="1400" dirty="0" err="1"/>
              <a:t>tamota</a:t>
            </a:r>
            <a:r>
              <a:rPr lang="en-IN" sz="1400" dirty="0"/>
              <a:t> disease/student dataset/runs/detect/train/weights/best.pt")</a:t>
            </a:r>
            <a:endParaRPr lang="en-US" sz="1400" b="1" dirty="0"/>
          </a:p>
          <a:p>
            <a:r>
              <a:rPr lang="en-IN" sz="1400" b="1" dirty="0"/>
              <a:t> </a:t>
            </a:r>
            <a:r>
              <a:rPr lang="en-IN" sz="1400" dirty="0" smtClean="0"/>
              <a:t># </a:t>
            </a:r>
            <a:r>
              <a:rPr lang="en-IN" sz="1400" dirty="0"/>
              <a:t>YOLO Detection</a:t>
            </a:r>
            <a:endParaRPr lang="en-US" sz="1400" dirty="0"/>
          </a:p>
          <a:p>
            <a:pPr lvl="0"/>
            <a:r>
              <a:rPr lang="en-IN" sz="1400" dirty="0"/>
              <a:t>                results=model(frame, conf=0.30)</a:t>
            </a:r>
            <a:endParaRPr lang="en-US" sz="1400" dirty="0"/>
          </a:p>
          <a:p>
            <a:pPr lvl="0"/>
            <a:r>
              <a:rPr lang="en-IN" sz="1400" dirty="0"/>
              <a:t>                </a:t>
            </a:r>
            <a:r>
              <a:rPr lang="en-IN" sz="1400" dirty="0" err="1"/>
              <a:t>annotated_frame</a:t>
            </a:r>
            <a:r>
              <a:rPr lang="en-IN" sz="1400" dirty="0"/>
              <a:t>=results[0].plot()</a:t>
            </a:r>
            <a:endParaRPr lang="en-US" sz="1400" dirty="0"/>
          </a:p>
          <a:p>
            <a:pPr lvl="0"/>
            <a:r>
              <a:rPr lang="en-IN" sz="1400" dirty="0"/>
              <a:t> </a:t>
            </a:r>
            <a:endParaRPr lang="en-US" sz="1400" dirty="0"/>
          </a:p>
          <a:p>
            <a:pPr lvl="0"/>
            <a:r>
              <a:rPr lang="en-IN" sz="1400" dirty="0"/>
              <a:t>             </a:t>
            </a:r>
            <a:r>
              <a:rPr lang="en-IN" sz="1400" dirty="0" smtClean="0"/>
              <a:t>   </a:t>
            </a:r>
            <a:r>
              <a:rPr lang="en-IN" sz="1400" dirty="0"/>
              <a:t># Get first detected disease</a:t>
            </a:r>
            <a:endParaRPr lang="en-US" sz="1400" dirty="0"/>
          </a:p>
          <a:p>
            <a:pPr lvl="0"/>
            <a:r>
              <a:rPr lang="en-IN" sz="1400" dirty="0"/>
              <a:t>                </a:t>
            </a:r>
            <a:r>
              <a:rPr lang="en-IN" sz="1400" dirty="0" err="1"/>
              <a:t>iflen</a:t>
            </a:r>
            <a:r>
              <a:rPr lang="en-IN" sz="1400" dirty="0"/>
              <a:t>(results[0].boxes) &gt;0:</a:t>
            </a:r>
            <a:endParaRPr lang="en-US" sz="1400" dirty="0"/>
          </a:p>
          <a:p>
            <a:pPr lvl="0"/>
            <a:r>
              <a:rPr lang="en-IN" sz="1400" dirty="0"/>
              <a:t>                    box=results[0].boxes[0]</a:t>
            </a:r>
            <a:endParaRPr lang="en-US" sz="1400" dirty="0"/>
          </a:p>
          <a:p>
            <a:pPr lvl="0"/>
            <a:r>
              <a:rPr lang="en-IN" sz="1400" dirty="0"/>
              <a:t>                    </a:t>
            </a:r>
            <a:r>
              <a:rPr lang="en-IN" sz="1400" dirty="0" err="1"/>
              <a:t>cls</a:t>
            </a:r>
            <a:r>
              <a:rPr lang="en-IN" sz="1400" dirty="0"/>
              <a:t>=</a:t>
            </a:r>
            <a:r>
              <a:rPr lang="en-IN" sz="1400" dirty="0" err="1"/>
              <a:t>int</a:t>
            </a:r>
            <a:r>
              <a:rPr lang="en-IN" sz="1400" dirty="0"/>
              <a:t>(box.cls)</a:t>
            </a:r>
            <a:endParaRPr lang="en-US" sz="1400" dirty="0"/>
          </a:p>
          <a:p>
            <a:pPr lvl="0"/>
            <a:r>
              <a:rPr lang="en-IN" sz="1400" dirty="0"/>
              <a:t>                    </a:t>
            </a:r>
            <a:r>
              <a:rPr lang="en-IN" sz="1400" dirty="0" err="1"/>
              <a:t>detected_label</a:t>
            </a:r>
            <a:r>
              <a:rPr lang="en-IN" sz="1400" dirty="0"/>
              <a:t>=</a:t>
            </a:r>
            <a:r>
              <a:rPr lang="en-IN" sz="1400" dirty="0" err="1"/>
              <a:t>model.names</a:t>
            </a:r>
            <a:r>
              <a:rPr lang="en-IN" sz="1400" dirty="0"/>
              <a:t>[</a:t>
            </a:r>
            <a:r>
              <a:rPr lang="en-IN" sz="1400" dirty="0" err="1"/>
              <a:t>cls</a:t>
            </a:r>
            <a:r>
              <a:rPr lang="en-IN" sz="1400" dirty="0"/>
              <a:t>]</a:t>
            </a:r>
            <a:endParaRPr lang="en-US" sz="1400" dirty="0"/>
          </a:p>
          <a:p>
            <a:pPr lvl="0"/>
            <a:r>
              <a:rPr lang="en-IN" sz="1400" dirty="0"/>
              <a:t> </a:t>
            </a:r>
            <a:endParaRPr lang="en-US" sz="1400" dirty="0"/>
          </a:p>
          <a:p>
            <a:pPr lvl="0"/>
            <a:r>
              <a:rPr lang="en-IN" sz="1400" dirty="0"/>
              <a:t>                cv2.imshow("Tomato Disease Detection", </a:t>
            </a:r>
            <a:r>
              <a:rPr lang="en-IN" sz="1400" dirty="0" err="1"/>
              <a:t>annotated_frame</a:t>
            </a:r>
            <a:r>
              <a:rPr lang="en-IN" sz="1400" dirty="0"/>
              <a:t>)</a:t>
            </a:r>
            <a:endParaRPr lang="en-US" sz="1400" dirty="0"/>
          </a:p>
          <a:p>
            <a:pPr lvl="0"/>
            <a:r>
              <a:rPr lang="en-IN" sz="1400" dirty="0"/>
              <a:t> </a:t>
            </a:r>
            <a:endParaRPr lang="en-US" sz="1400" dirty="0"/>
          </a:p>
          <a:p>
            <a:pPr lvl="0"/>
            <a:r>
              <a:rPr lang="en-IN" sz="1400" dirty="0"/>
              <a:t>                ifcv2.waitKey(1) &amp;0xFF==</a:t>
            </a:r>
            <a:r>
              <a:rPr lang="en-IN" sz="1400" dirty="0" err="1"/>
              <a:t>ord</a:t>
            </a:r>
            <a:r>
              <a:rPr lang="en-IN" sz="1400" dirty="0"/>
              <a:t>('q'):</a:t>
            </a:r>
            <a:endParaRPr lang="en-US" sz="1400" dirty="0"/>
          </a:p>
          <a:p>
            <a:pPr lvl="0"/>
            <a:r>
              <a:rPr lang="en-IN" sz="1400" dirty="0"/>
              <a:t>                    break</a:t>
            </a:r>
            <a:endParaRPr lang="en-US" sz="1400" dirty="0"/>
          </a:p>
          <a:p>
            <a:pPr lvl="0"/>
            <a:r>
              <a:rPr lang="en-IN" sz="1400" dirty="0"/>
              <a:t> </a:t>
            </a:r>
            <a:endParaRPr lang="en-US" sz="1400" dirty="0"/>
          </a:p>
          <a:p>
            <a:pPr lvl="0"/>
            <a:r>
              <a:rPr lang="en-IN" sz="1400" dirty="0"/>
              <a:t>            </a:t>
            </a:r>
            <a:r>
              <a:rPr lang="en-IN" sz="1400" dirty="0" smtClean="0"/>
              <a:t>  </a:t>
            </a:r>
            <a:r>
              <a:rPr lang="en-IN" sz="1400" dirty="0" err="1" smtClean="0"/>
              <a:t>cap.release</a:t>
            </a:r>
            <a:r>
              <a:rPr lang="en-IN" sz="1400" dirty="0"/>
              <a:t>()</a:t>
            </a:r>
            <a:endParaRPr lang="en-US" sz="1400" dirty="0"/>
          </a:p>
          <a:p>
            <a:pPr lvl="0"/>
            <a:r>
              <a:rPr lang="en-IN" sz="1600" dirty="0"/>
              <a:t>            cv2.destroyAllWindows()</a:t>
            </a:r>
            <a:endParaRPr lang="en-US" sz="1600" dirty="0"/>
          </a:p>
          <a:p>
            <a:pPr lvl="0"/>
            <a:r>
              <a:rPr lang="en-IN" sz="1600" dirty="0"/>
              <a:t> </a:t>
            </a:r>
            <a:endParaRPr lang="en-US" sz="1600" dirty="0"/>
          </a:p>
          <a:p>
            <a:pPr lvl="0"/>
            <a:r>
              <a:rPr lang="en-IN" sz="1600" dirty="0"/>
              <a:t>            print("Camera OFF")</a:t>
            </a:r>
            <a:endParaRPr lang="en-US" sz="1600" dirty="0"/>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p:txBody>
      </p:sp>
      <p:sp>
        <p:nvSpPr>
          <p:cNvPr id="13" name="Rectangle 12"/>
          <p:cNvSpPr/>
          <p:nvPr/>
        </p:nvSpPr>
        <p:spPr>
          <a:xfrm>
            <a:off x="0" y="914400"/>
            <a:ext cx="6377543" cy="523220"/>
          </a:xfrm>
          <a:prstGeom prst="rect">
            <a:avLst/>
          </a:prstGeom>
        </p:spPr>
        <p:txBody>
          <a:bodyPr wrap="square">
            <a:spAutoFit/>
          </a:bodyPr>
          <a:lstStyle/>
          <a:p>
            <a:r>
              <a:rPr lang="en-IN" sz="2800" b="1" dirty="0"/>
              <a:t>Disease Detection using YOLOv8</a:t>
            </a:r>
            <a:endParaRPr lang="en-US" sz="2800" b="1" dirty="0"/>
          </a:p>
        </p:txBody>
      </p:sp>
    </p:spTree>
    <p:extLst>
      <p:ext uri="{BB962C8B-B14F-4D97-AF65-F5344CB8AC3E}">
        <p14:creationId xmlns="" xmlns:p14="http://schemas.microsoft.com/office/powerpoint/2010/main" val="1592579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0"/>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Results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26</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7" name="TextBox 6">
            <a:extLst>
              <a:ext uri="{FF2B5EF4-FFF2-40B4-BE49-F238E27FC236}">
                <a16:creationId xmlns:a16="http://schemas.microsoft.com/office/drawing/2014/main" xmlns=""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a16="http://schemas.microsoft.com/office/drawing/2014/main" xmlns=""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a16="http://schemas.microsoft.com/office/drawing/2014/main" xmlns=""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
        <p:nvSpPr>
          <p:cNvPr id="9218" name="AutoShape 2"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0" name="AutoShape 4"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2" name="AutoShape 6"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6" name="Picture 15" descr="WhatsApp Image 2026-04-01 at 8.23.10 PM.jpeg"/>
          <p:cNvPicPr>
            <a:picLocks noChangeAspect="1"/>
          </p:cNvPicPr>
          <p:nvPr/>
        </p:nvPicPr>
        <p:blipFill>
          <a:blip r:embed="rId3" cstate="print"/>
          <a:stretch>
            <a:fillRect/>
          </a:stretch>
        </p:blipFill>
        <p:spPr>
          <a:xfrm>
            <a:off x="7696200" y="838200"/>
            <a:ext cx="4495800" cy="5715000"/>
          </a:xfrm>
          <a:prstGeom prst="rect">
            <a:avLst/>
          </a:prstGeom>
        </p:spPr>
      </p:pic>
      <p:pic>
        <p:nvPicPr>
          <p:cNvPr id="17" name="Picture 16" descr="WhatsApp Image 2026-04-01 at 8.23.14 PM.jpeg"/>
          <p:cNvPicPr>
            <a:picLocks noChangeAspect="1"/>
          </p:cNvPicPr>
          <p:nvPr/>
        </p:nvPicPr>
        <p:blipFill>
          <a:blip r:embed="rId4"/>
          <a:stretch>
            <a:fillRect/>
          </a:stretch>
        </p:blipFill>
        <p:spPr>
          <a:xfrm>
            <a:off x="0" y="838200"/>
            <a:ext cx="5181600" cy="5791200"/>
          </a:xfrm>
          <a:prstGeom prst="rect">
            <a:avLst/>
          </a:prstGeom>
        </p:spPr>
      </p:pic>
      <p:pic>
        <p:nvPicPr>
          <p:cNvPr id="18" name="Picture 17" descr="WhatsApp Image 2026-04-07 at 6.29.11 PM.jpeg"/>
          <p:cNvPicPr>
            <a:picLocks noChangeAspect="1"/>
          </p:cNvPicPr>
          <p:nvPr/>
        </p:nvPicPr>
        <p:blipFill>
          <a:blip r:embed="rId5"/>
          <a:stretch>
            <a:fillRect/>
          </a:stretch>
        </p:blipFill>
        <p:spPr>
          <a:xfrm>
            <a:off x="4191001" y="838200"/>
            <a:ext cx="3809999" cy="5791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Applications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27</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118138" y="1122410"/>
            <a:ext cx="12050214"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Precision Agriculture</a:t>
            </a:r>
            <a:r>
              <a:rPr lang="en-US" sz="2400" dirty="0">
                <a:latin typeface="Times New Roman" panose="02020603050405020304" pitchFamily="18" charset="0"/>
                <a:cs typeface="Times New Roman" panose="02020603050405020304" pitchFamily="18" charset="0"/>
              </a:rPr>
              <a:t> – Automatically applies the right amount of fertilizer based on plant disease severity, improving crop health and yield.</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Reduction of Fertilizer Wastage</a:t>
            </a:r>
            <a:r>
              <a:rPr lang="en-US" sz="2400" dirty="0">
                <a:latin typeface="Times New Roman" panose="02020603050405020304" pitchFamily="18" charset="0"/>
                <a:cs typeface="Times New Roman" panose="02020603050405020304" pitchFamily="18" charset="0"/>
              </a:rPr>
              <a:t> – Prevents overuse of fertilizers by spraying only where and when needed, saving cost and resources.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Smart Farming Automation</a:t>
            </a:r>
            <a:r>
              <a:rPr lang="en-US" sz="2400" dirty="0">
                <a:latin typeface="Times New Roman" panose="02020603050405020304" pitchFamily="18" charset="0"/>
                <a:cs typeface="Times New Roman" panose="02020603050405020304" pitchFamily="18" charset="0"/>
              </a:rPr>
              <a:t> – Reduces manual labor by automating disease detection, fertilizer spraying, and robot movement in agricultural fields.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Sustainable and Eco-friendly Farming</a:t>
            </a:r>
            <a:r>
              <a:rPr lang="en-US" sz="2400" dirty="0">
                <a:latin typeface="Times New Roman" panose="02020603050405020304" pitchFamily="18" charset="0"/>
                <a:cs typeface="Times New Roman" panose="02020603050405020304" pitchFamily="18" charset="0"/>
              </a:rPr>
              <a:t> – Uses solar power and optimized fertilizer usage to promote environmentally friendly agricultural practices.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Remote Monitoring and Control</a:t>
            </a:r>
            <a:r>
              <a:rPr lang="en-US" sz="2400" dirty="0">
                <a:latin typeface="Times New Roman" panose="02020603050405020304" pitchFamily="18" charset="0"/>
                <a:cs typeface="Times New Roman" panose="02020603050405020304" pitchFamily="18" charset="0"/>
              </a:rPr>
              <a:t> – Allows farmers to wirelessly monitor and control the fertilizer spraying system via Bluetooth for easy operation and decision-making.</a:t>
            </a:r>
          </a:p>
          <a:p>
            <a:pPr marL="285750" indent="-285750"/>
            <a:endParaRPr lang="en-IN" sz="2400" dirty="0"/>
          </a:p>
        </p:txBody>
      </p:sp>
      <p:sp>
        <p:nvSpPr>
          <p:cNvPr id="7" name="TextBox 6">
            <a:extLst>
              <a:ext uri="{FF2B5EF4-FFF2-40B4-BE49-F238E27FC236}">
                <a16:creationId xmlns:a16="http://schemas.microsoft.com/office/drawing/2014/main" xmlns=""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a16="http://schemas.microsoft.com/office/drawing/2014/main" xmlns=""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a16="http://schemas.microsoft.com/office/drawing/2014/main" xmlns=""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smtClean="0"/>
              <a:t>Future Scope</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28</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0" y="1020041"/>
            <a:ext cx="12050214" cy="5262979"/>
          </a:xfrm>
          <a:prstGeom prst="rect">
            <a:avLst/>
          </a:prstGeom>
          <a:noFill/>
        </p:spPr>
        <p:txBody>
          <a:bodyPr wrap="square" rtlCol="0">
            <a:spAutoFit/>
          </a:bodyPr>
          <a:lstStyle/>
          <a:p>
            <a:r>
              <a:rPr lang="en-US" sz="2400" dirty="0" smtClean="0"/>
              <a:t>The proposed Smart Fertilizer Spraying System can be further improved by increasing the dataset size to enhance the accuracy of disease detection. Advanced data augmentation and GPU-based training can also be used to improve the performance of the YOLOv8 model.</a:t>
            </a:r>
          </a:p>
          <a:p>
            <a:endParaRPr lang="en-US" sz="2400" dirty="0" smtClean="0"/>
          </a:p>
          <a:p>
            <a:r>
              <a:rPr lang="en-US" sz="2400" dirty="0" smtClean="0"/>
              <a:t>In the future, the system can be expanded to support </a:t>
            </a:r>
            <a:r>
              <a:rPr lang="en-US" sz="2400" b="1" dirty="0" smtClean="0"/>
              <a:t>multiple crop disease detection</a:t>
            </a:r>
            <a:r>
              <a:rPr lang="en-US" sz="2400" dirty="0" smtClean="0"/>
              <a:t>, making it useful for different types of agricultural plants. Integration with </a:t>
            </a:r>
            <a:r>
              <a:rPr lang="en-US" sz="2400" b="1" dirty="0" err="1" smtClean="0"/>
              <a:t>IoT</a:t>
            </a:r>
            <a:r>
              <a:rPr lang="en-US" sz="2400" b="1" dirty="0" smtClean="0"/>
              <a:t>-based cloud systems</a:t>
            </a:r>
            <a:r>
              <a:rPr lang="en-US" sz="2400" dirty="0" smtClean="0"/>
              <a:t> can enable remote monitoring and data analysis for farmers.</a:t>
            </a:r>
          </a:p>
          <a:p>
            <a:endParaRPr lang="en-US" sz="2400" dirty="0" smtClean="0"/>
          </a:p>
          <a:p>
            <a:r>
              <a:rPr lang="en-US" sz="2400" dirty="0" smtClean="0"/>
              <a:t>Additionally, features such as </a:t>
            </a:r>
            <a:r>
              <a:rPr lang="en-US" sz="2400" b="1" dirty="0" smtClean="0"/>
              <a:t>GPS-based navigation, autonomous field movement, and soil condition monitoring</a:t>
            </a:r>
            <a:r>
              <a:rPr lang="en-US" sz="2400" dirty="0" smtClean="0"/>
              <a:t> can be added to make the system more efficient. These improvements can transform the system into a </a:t>
            </a:r>
            <a:r>
              <a:rPr lang="en-US" sz="2400" b="1" dirty="0" smtClean="0"/>
              <a:t>complete smart farming solution for sustainable agriculture</a:t>
            </a:r>
            <a:r>
              <a:rPr lang="en-US" sz="2400" dirty="0" smtClean="0"/>
              <a:t>.</a:t>
            </a:r>
          </a:p>
          <a:p>
            <a:pPr marL="285750" indent="-285750"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Conclusion</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29</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0" y="1020041"/>
            <a:ext cx="12050214" cy="5632311"/>
          </a:xfrm>
          <a:prstGeom prst="rect">
            <a:avLst/>
          </a:prstGeom>
          <a:noFill/>
        </p:spPr>
        <p:txBody>
          <a:bodyPr wrap="square" rtlCol="0">
            <a:spAutoFit/>
          </a:bodyPr>
          <a:lstStyle/>
          <a:p>
            <a:pPr marL="285750" indent="-285750" algn="just"/>
            <a:r>
              <a:rPr lang="en-US" sz="2400" dirty="0">
                <a:latin typeface="Times New Roman" panose="02020603050405020304" pitchFamily="18" charset="0"/>
                <a:cs typeface="Times New Roman" panose="02020603050405020304" pitchFamily="18" charset="0"/>
              </a:rPr>
              <a:t>The Smart Fertilizer Spraying System with Plant Disease Severity Analysis presents</a:t>
            </a:r>
          </a:p>
          <a:p>
            <a:pPr marL="285750" indent="-285750" algn="just"/>
            <a:r>
              <a:rPr lang="en-US" sz="2400" dirty="0">
                <a:latin typeface="Times New Roman" panose="02020603050405020304" pitchFamily="18" charset="0"/>
                <a:cs typeface="Times New Roman" panose="02020603050405020304" pitchFamily="18" charset="0"/>
              </a:rPr>
              <a:t>an effective and innovative solution for modern precision agriculture. By</a:t>
            </a:r>
          </a:p>
          <a:p>
            <a:pPr marL="285750" indent="-285750" algn="just"/>
            <a:r>
              <a:rPr lang="en-US" sz="2400" dirty="0">
                <a:latin typeface="Times New Roman" panose="02020603050405020304" pitchFamily="18" charset="0"/>
                <a:cs typeface="Times New Roman" panose="02020603050405020304" pitchFamily="18" charset="0"/>
              </a:rPr>
              <a:t>integrating image-based plant disease severity detection with automated fertilizer</a:t>
            </a:r>
          </a:p>
          <a:p>
            <a:pPr marL="285750" indent="-285750" algn="just"/>
            <a:r>
              <a:rPr lang="en-US" sz="2400" dirty="0">
                <a:latin typeface="Times New Roman" panose="02020603050405020304" pitchFamily="18" charset="0"/>
                <a:cs typeface="Times New Roman" panose="02020603050405020304" pitchFamily="18" charset="0"/>
              </a:rPr>
              <a:t>spraying, the system ensures accurate and need-based application of fertilizers,</a:t>
            </a:r>
          </a:p>
          <a:p>
            <a:pPr marL="285750" indent="-285750" algn="just"/>
            <a:r>
              <a:rPr lang="en-US" sz="2400" dirty="0">
                <a:latin typeface="Times New Roman" panose="02020603050405020304" pitchFamily="18" charset="0"/>
                <a:cs typeface="Times New Roman" panose="02020603050405020304" pitchFamily="18" charset="0"/>
              </a:rPr>
              <a:t>thereby reducing wastage and improving crop health. The coordinated operation of</a:t>
            </a:r>
          </a:p>
          <a:p>
            <a:pPr marL="285750" indent="-285750" algn="just"/>
            <a:r>
              <a:rPr lang="en-US" sz="2400" dirty="0">
                <a:latin typeface="Times New Roman" panose="02020603050405020304" pitchFamily="18" charset="0"/>
                <a:cs typeface="Times New Roman" panose="02020603050405020304" pitchFamily="18" charset="0"/>
              </a:rPr>
              <a:t>the Raspberry Pi for image processing and the </a:t>
            </a:r>
            <a:r>
              <a:rPr lang="en-US" sz="2400" dirty="0" err="1">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 microcontroller for</a:t>
            </a:r>
          </a:p>
          <a:p>
            <a:pPr marL="285750" indent="-285750" algn="just"/>
            <a:r>
              <a:rPr lang="en-US" sz="2400" dirty="0">
                <a:latin typeface="Times New Roman" panose="02020603050405020304" pitchFamily="18" charset="0"/>
                <a:cs typeface="Times New Roman" panose="02020603050405020304" pitchFamily="18" charset="0"/>
              </a:rPr>
              <a:t>hardware control enables efficient robot movement and reliable system</a:t>
            </a:r>
          </a:p>
          <a:p>
            <a:pPr marL="285750" indent="-285750" algn="just"/>
            <a:r>
              <a:rPr lang="en-US" sz="2400" dirty="0">
                <a:latin typeface="Times New Roman" panose="02020603050405020304" pitchFamily="18" charset="0"/>
                <a:cs typeface="Times New Roman" panose="02020603050405020304" pitchFamily="18" charset="0"/>
              </a:rPr>
              <a:t>performance. </a:t>
            </a:r>
          </a:p>
          <a:p>
            <a:pPr marL="285750" indent="-285750" algn="just"/>
            <a:endParaRPr lang="en-US" sz="2400" dirty="0">
              <a:latin typeface="Times New Roman" panose="02020603050405020304" pitchFamily="18" charset="0"/>
              <a:cs typeface="Times New Roman" panose="02020603050405020304" pitchFamily="18" charset="0"/>
            </a:endParaRPr>
          </a:p>
          <a:p>
            <a:pPr marL="285750" indent="-285750" algn="just"/>
            <a:r>
              <a:rPr lang="en-US" sz="2400" dirty="0">
                <a:latin typeface="Times New Roman" panose="02020603050405020304" pitchFamily="18" charset="0"/>
                <a:cs typeface="Times New Roman" panose="02020603050405020304" pitchFamily="18" charset="0"/>
              </a:rPr>
              <a:t>The use of solar-assisted power enhances sustainability, while</a:t>
            </a:r>
          </a:p>
          <a:p>
            <a:pPr marL="285750" indent="-285750" algn="just"/>
            <a:r>
              <a:rPr lang="en-US" sz="2400" dirty="0">
                <a:latin typeface="Times New Roman" panose="02020603050405020304" pitchFamily="18" charset="0"/>
                <a:cs typeface="Times New Roman" panose="02020603050405020304" pitchFamily="18" charset="0"/>
              </a:rPr>
              <a:t>Bluetooth connectivity provides convenient wireless monitoring and control.</a:t>
            </a:r>
          </a:p>
          <a:p>
            <a:pPr marL="285750" indent="-285750" algn="just"/>
            <a:r>
              <a:rPr lang="en-US" sz="2400" dirty="0">
                <a:latin typeface="Times New Roman" panose="02020603050405020304" pitchFamily="18" charset="0"/>
                <a:cs typeface="Times New Roman" panose="02020603050405020304" pitchFamily="18" charset="0"/>
              </a:rPr>
              <a:t>Overall, this system minimizes human intervention, optimizes resource utilization,</a:t>
            </a:r>
          </a:p>
          <a:p>
            <a:pPr marL="285750" indent="-285750" algn="just"/>
            <a:r>
              <a:rPr lang="en-US" sz="2400" dirty="0">
                <a:latin typeface="Times New Roman" panose="02020603050405020304" pitchFamily="18" charset="0"/>
                <a:cs typeface="Times New Roman" panose="02020603050405020304" pitchFamily="18" charset="0"/>
              </a:rPr>
              <a:t>and supports eco-friendly farming practices, making it a promising approach for</a:t>
            </a:r>
          </a:p>
          <a:p>
            <a:pPr marL="285750" indent="-285750" algn="just"/>
            <a:r>
              <a:rPr lang="en-US" sz="2400" dirty="0">
                <a:latin typeface="Times New Roman" panose="02020603050405020304" pitchFamily="18" charset="0"/>
                <a:cs typeface="Times New Roman" panose="02020603050405020304" pitchFamily="18" charset="0"/>
              </a:rPr>
              <a:t>improving agricultural productivity and sustainability in real-world farming</a:t>
            </a:r>
          </a:p>
          <a:p>
            <a:pPr marL="285750" indent="-285750" algn="just"/>
            <a:r>
              <a:rPr lang="en-US" sz="2400" dirty="0">
                <a:latin typeface="Times New Roman" panose="02020603050405020304" pitchFamily="18" charset="0"/>
                <a:cs typeface="Times New Roman" panose="02020603050405020304" pitchFamily="18" charset="0"/>
              </a:rPr>
              <a:t>environments.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Reference</a:t>
            </a: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30</a:t>
            </a:fld>
            <a:endParaRPr spc="-25" dirty="0"/>
          </a:p>
        </p:txBody>
      </p:sp>
      <p:sp>
        <p:nvSpPr>
          <p:cNvPr id="13" name="object 9">
            <a:extLst>
              <a:ext uri="{FF2B5EF4-FFF2-40B4-BE49-F238E27FC236}">
                <a16:creationId xmlns=""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 xmlns:a16="http://schemas.microsoft.com/office/drawing/2014/main" id="{E98567D7-0835-E777-904C-4B43CBA57B04}"/>
              </a:ext>
            </a:extLst>
          </p:cNvPr>
          <p:cNvSpPr txBox="1"/>
          <p:nvPr/>
        </p:nvSpPr>
        <p:spPr>
          <a:xfrm>
            <a:off x="141784" y="1295400"/>
            <a:ext cx="12050214" cy="489364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Prakash M. </a:t>
            </a:r>
            <a:r>
              <a:rPr lang="en-IN" sz="2400" dirty="0" err="1">
                <a:latin typeface="Times New Roman" panose="02020603050405020304" pitchFamily="18" charset="0"/>
                <a:cs typeface="Times New Roman" panose="02020603050405020304" pitchFamily="18" charset="0"/>
              </a:rPr>
              <a:t>Manikar</a:t>
            </a:r>
            <a:r>
              <a:rPr lang="en-IN" sz="2400" dirty="0">
                <a:latin typeface="Times New Roman" panose="02020603050405020304" pitchFamily="18" charset="0"/>
                <a:cs typeface="Times New Roman" panose="02020603050405020304" pitchFamily="18" charset="0"/>
              </a:rPr>
              <a:t>, Shreekant Ghorpade, Mayur Adawadkar, "Plant Leaf Disease Detection and Classification Using Image Processing Techniques," International Engineering Journal, Volume 2, Issue 4, 2015.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 Prof. Bhavana Patil, Mr. Hemant Panchal, Mr. SHUBHAM Yadav, Mr. Arvind Singh, Mr. Dinesh Patil, "Plant Monitoring Using Image Processing, Raspberry PI and IOT," Journal of Engineering and Technology, Volume 4, Issue 10, 2017</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 Navin V. </a:t>
            </a:r>
            <a:r>
              <a:rPr lang="en-IN" sz="2400" dirty="0" err="1">
                <a:latin typeface="Times New Roman" panose="02020603050405020304" pitchFamily="18" charset="0"/>
                <a:cs typeface="Times New Roman" panose="02020603050405020304" pitchFamily="18" charset="0"/>
              </a:rPr>
              <a:t>Dumare</a:t>
            </a:r>
            <a:r>
              <a:rPr lang="en-IN" sz="2400" dirty="0">
                <a:latin typeface="Times New Roman" panose="02020603050405020304" pitchFamily="18" charset="0"/>
                <a:cs typeface="Times New Roman" panose="02020603050405020304" pitchFamily="18" charset="0"/>
              </a:rPr>
              <a:t>, Prof. S. S. </a:t>
            </a:r>
            <a:r>
              <a:rPr lang="en-IN" sz="2400" dirty="0" err="1">
                <a:latin typeface="Times New Roman" panose="02020603050405020304" pitchFamily="18" charset="0"/>
                <a:cs typeface="Times New Roman" panose="02020603050405020304" pitchFamily="18" charset="0"/>
              </a:rPr>
              <a:t>Mungona</a:t>
            </a:r>
            <a:r>
              <a:rPr lang="en-IN" sz="2400" dirty="0">
                <a:latin typeface="Times New Roman" panose="02020603050405020304" pitchFamily="18" charset="0"/>
                <a:cs typeface="Times New Roman" panose="02020603050405020304" pitchFamily="18" charset="0"/>
              </a:rPr>
              <a:t>, "Identification of Cotton Leaf Diseases Using Raspberry PI," Volume 5, Issue 5, 2017, International Journal on Recent and Technology Trends in Computing and Communication.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Prathamesh. K. </a:t>
            </a:r>
            <a:r>
              <a:rPr lang="en-IN" sz="2400" dirty="0" err="1">
                <a:latin typeface="Times New Roman" panose="02020603050405020304" pitchFamily="18" charset="0"/>
                <a:cs typeface="Times New Roman" panose="02020603050405020304" pitchFamily="18" charset="0"/>
              </a:rPr>
              <a:t>Kharde</a:t>
            </a:r>
            <a:r>
              <a:rPr lang="en-IN" sz="2400" dirty="0">
                <a:latin typeface="Times New Roman" panose="02020603050405020304" pitchFamily="18" charset="0"/>
                <a:cs typeface="Times New Roman" panose="02020603050405020304" pitchFamily="18" charset="0"/>
              </a:rPr>
              <a:t>, Hemangi. H. Kulkarni, "A Special Method for the Detection of Grape Leaf Diseases," International Journal of Scientific Research, Volume 2, Issue 4, 2016.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Jayaprakash Sethupathy, Veni S, International Journal of Engineering and Technology, Volume 8, No 5, 2016, "Open CV Based Disease Detection of Mango Leaves." </a:t>
            </a:r>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4831" y="220980"/>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t>	Dashboard</a:t>
            </a:r>
            <a:endParaRPr spc="-10" dirty="0"/>
          </a:p>
        </p:txBody>
      </p:sp>
      <p:sp>
        <p:nvSpPr>
          <p:cNvPr id="13" name="object 13"/>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31</a:t>
            </a:fld>
            <a:endParaRPr spc="-25" dirty="0"/>
          </a:p>
        </p:txBody>
      </p:sp>
      <p:sp>
        <p:nvSpPr>
          <p:cNvPr id="17" name="object 9">
            <a:extLst>
              <a:ext uri="{FF2B5EF4-FFF2-40B4-BE49-F238E27FC236}">
                <a16:creationId xmlns="" xmlns:a16="http://schemas.microsoft.com/office/drawing/2014/main" id="{D6CEC1F6-617C-1215-8F71-FD4FF09C0AD7}"/>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1" name="Picture 10" descr="Screenshot (6).png"/>
          <p:cNvPicPr>
            <a:picLocks noChangeAspect="1"/>
          </p:cNvPicPr>
          <p:nvPr/>
        </p:nvPicPr>
        <p:blipFill>
          <a:blip r:embed="rId3"/>
          <a:stretch>
            <a:fillRect/>
          </a:stretch>
        </p:blipFill>
        <p:spPr>
          <a:xfrm>
            <a:off x="304800" y="1066800"/>
            <a:ext cx="11049000" cy="5218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7168"/>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32</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33</a:t>
            </a:fld>
            <a:endParaRPr spc="-25" dirty="0"/>
          </a:p>
        </p:txBody>
      </p:sp>
      <p:sp>
        <p:nvSpPr>
          <p:cNvPr id="3" name="object 3"/>
          <p:cNvSpPr txBox="1">
            <a:spLocks noGrp="1"/>
          </p:cNvSpPr>
          <p:nvPr>
            <p:ph type="title"/>
          </p:nvPr>
        </p:nvSpPr>
        <p:spPr>
          <a:xfrm>
            <a:off x="2826638" y="2249889"/>
            <a:ext cx="3140710" cy="3156585"/>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a:latin typeface="Times New Roman"/>
              <a:cs typeface="Times New Roman"/>
            </a:endParaRPr>
          </a:p>
        </p:txBody>
      </p:sp>
      <p:sp>
        <p:nvSpPr>
          <p:cNvPr id="8" name="object 9">
            <a:extLst>
              <a:ext uri="{FF2B5EF4-FFF2-40B4-BE49-F238E27FC236}">
                <a16:creationId xmlns=""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1113</TotalTime>
  <Words>3767</Words>
  <Application>Microsoft Office PowerPoint</Application>
  <PresentationFormat>Custom</PresentationFormat>
  <Paragraphs>449</Paragraphs>
  <Slides>33</Slides>
  <Notes>23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  Smart Fertilizer Spraying System Using Plant Disease Severity Analysis</vt:lpstr>
      <vt:lpstr>Contents</vt:lpstr>
      <vt:lpstr>Abstract</vt:lpstr>
      <vt:lpstr>Introduction</vt:lpstr>
      <vt:lpstr>Problem statement                </vt:lpstr>
      <vt:lpstr>Objectives Of Project</vt:lpstr>
      <vt:lpstr>Literature Survey</vt:lpstr>
      <vt:lpstr>Literature Survey</vt:lpstr>
      <vt:lpstr>Existing System</vt:lpstr>
      <vt:lpstr>Proposed System</vt:lpstr>
      <vt:lpstr>Planning</vt:lpstr>
      <vt:lpstr>Planning</vt:lpstr>
      <vt:lpstr>Requirements</vt:lpstr>
      <vt:lpstr>Components</vt:lpstr>
      <vt:lpstr>Data Flow Diagram</vt:lpstr>
      <vt:lpstr>Design</vt:lpstr>
      <vt:lpstr>Block Diagram</vt:lpstr>
      <vt:lpstr>Block Diagram</vt:lpstr>
      <vt:lpstr>Methodology</vt:lpstr>
      <vt:lpstr>Implementation details</vt:lpstr>
      <vt:lpstr>Data Preprocessing Techniques</vt:lpstr>
      <vt:lpstr>Code</vt:lpstr>
      <vt:lpstr>Code</vt:lpstr>
      <vt:lpstr>Code</vt:lpstr>
      <vt:lpstr>Code</vt:lpstr>
      <vt:lpstr>Results</vt:lpstr>
      <vt:lpstr>Applications</vt:lpstr>
      <vt:lpstr>Future Scope</vt:lpstr>
      <vt:lpstr>Conclusion</vt:lpstr>
      <vt:lpstr>Reference</vt:lpstr>
      <vt:lpstr>Git Hub Dashboard</vt:lpstr>
      <vt:lpstr>Any Queries?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COMPREHENSIVE REAL-TIME CHILD MONITORING FOR                                  IMPROVED SAFETY AND OVERSIGHT</dc:title>
  <dc:creator>Sreeja Ganne</dc:creator>
  <cp:lastModifiedBy>Smile</cp:lastModifiedBy>
  <cp:revision>23</cp:revision>
  <dcterms:created xsi:type="dcterms:W3CDTF">2025-09-12T04:18:11Z</dcterms:created>
  <dcterms:modified xsi:type="dcterms:W3CDTF">2026-04-07T13:08:03Z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